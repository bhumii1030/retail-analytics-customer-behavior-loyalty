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Bold" charset="1" panose="020F0702030404030204"/>
      <p:regular r:id="rId18"/>
    </p:embeddedFont>
    <p:embeddedFont>
      <p:font typeface="Calibri (MS)" charset="1" panose="020F0502020204030204"/>
      <p:regular r:id="rId19"/>
    </p:embeddedFont>
    <p:embeddedFont>
      <p:font typeface="Arial" charset="1" panose="020B06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png" Type="http://schemas.openxmlformats.org/officeDocument/2006/relationships/image"/><Relationship Id="rId16" Target="../media/image22.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11" Target="../media/image64.svg" Type="http://schemas.openxmlformats.org/officeDocument/2006/relationships/image"/><Relationship Id="rId12" Target="../media/image65.png" Type="http://schemas.openxmlformats.org/officeDocument/2006/relationships/image"/><Relationship Id="rId13" Target="../media/image66.png" Type="http://schemas.openxmlformats.org/officeDocument/2006/relationships/image"/><Relationship Id="rId14" Target="../media/image67.svg" Type="http://schemas.openxmlformats.org/officeDocument/2006/relationships/image"/><Relationship Id="rId2" Target="../media/image57.png" Type="http://schemas.openxmlformats.org/officeDocument/2006/relationships/image"/><Relationship Id="rId3" Target="../media/image5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9.png" Type="http://schemas.openxmlformats.org/officeDocument/2006/relationships/image"/><Relationship Id="rId7" Target="../media/image60.svg" Type="http://schemas.openxmlformats.org/officeDocument/2006/relationships/image"/><Relationship Id="rId8" Target="../media/image61.png" Type="http://schemas.openxmlformats.org/officeDocument/2006/relationships/image"/><Relationship Id="rId9" Target="../media/image6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png" Type="http://schemas.openxmlformats.org/officeDocument/2006/relationships/image"/><Relationship Id="rId14" Target="../media/image78.png" Type="http://schemas.openxmlformats.org/officeDocument/2006/relationships/image"/><Relationship Id="rId15" Target="../media/image79.pn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2.png" Type="http://schemas.openxmlformats.org/officeDocument/2006/relationships/image"/><Relationship Id="rId3"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sp>
        <p:nvSpPr>
          <p:cNvPr name="Freeform 2" id="2"/>
          <p:cNvSpPr/>
          <p:nvPr/>
        </p:nvSpPr>
        <p:spPr>
          <a:xfrm flipH="false" flipV="false" rot="0">
            <a:off x="-1306397" y="-554958"/>
            <a:ext cx="20047591" cy="11396915"/>
          </a:xfrm>
          <a:custGeom>
            <a:avLst/>
            <a:gdLst/>
            <a:ahLst/>
            <a:cxnLst/>
            <a:rect r="r" b="b" t="t" l="l"/>
            <a:pathLst>
              <a:path h="11396915" w="20047591">
                <a:moveTo>
                  <a:pt x="0" y="0"/>
                </a:moveTo>
                <a:lnTo>
                  <a:pt x="20047591" y="0"/>
                </a:lnTo>
                <a:lnTo>
                  <a:pt x="20047591" y="11396916"/>
                </a:lnTo>
                <a:lnTo>
                  <a:pt x="0" y="11396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75049" y="2097800"/>
            <a:ext cx="11192145" cy="4776020"/>
          </a:xfrm>
          <a:prstGeom prst="rect">
            <a:avLst/>
          </a:prstGeom>
        </p:spPr>
        <p:txBody>
          <a:bodyPr anchor="t" rtlCol="false" tIns="0" lIns="0" bIns="0" rIns="0">
            <a:spAutoFit/>
          </a:bodyPr>
          <a:lstStyle/>
          <a:p>
            <a:pPr algn="l">
              <a:lnSpc>
                <a:spcPts val="9753"/>
              </a:lnSpc>
            </a:pPr>
            <a:r>
              <a:rPr lang="en-US" b="true" sz="8120">
                <a:solidFill>
                  <a:srgbClr val="FFFFFF"/>
                </a:solidFill>
                <a:latin typeface="Calibri (MS) Bold"/>
                <a:ea typeface="Calibri (MS) Bold"/>
                <a:cs typeface="Calibri (MS) Bold"/>
                <a:sym typeface="Calibri (MS) Bold"/>
              </a:rPr>
              <a:t>Retail Consumer Behavior </a:t>
            </a:r>
            <a:r>
              <a:rPr lang="en-US" b="true" sz="8120">
                <a:solidFill>
                  <a:srgbClr val="14B8A6"/>
                </a:solidFill>
                <a:latin typeface="Calibri (MS) Bold"/>
                <a:ea typeface="Calibri (MS) Bold"/>
                <a:cs typeface="Calibri (MS) Bold"/>
                <a:sym typeface="Calibri (MS) Bold"/>
              </a:rPr>
              <a:t>&amp; Loyalty Analytics</a:t>
            </a:r>
          </a:p>
          <a:p>
            <a:pPr algn="l">
              <a:lnSpc>
                <a:spcPts val="3823"/>
              </a:lnSpc>
            </a:pPr>
            <a:r>
              <a:rPr lang="en-US" sz="3183">
                <a:solidFill>
                  <a:srgbClr val="CBD5E1"/>
                </a:solidFill>
                <a:latin typeface="Calibri (MS)"/>
                <a:ea typeface="Calibri (MS)"/>
                <a:cs typeface="Calibri (MS)"/>
                <a:sym typeface="Calibri (MS)"/>
              </a:rPr>
              <a:t>A comprehensive data-driven study of customer segments, purchase behavior, and strategic growth opportunities</a:t>
            </a:r>
          </a:p>
        </p:txBody>
      </p:sp>
      <p:sp>
        <p:nvSpPr>
          <p:cNvPr name="TextBox 4" id="4"/>
          <p:cNvSpPr txBox="true"/>
          <p:nvPr/>
        </p:nvSpPr>
        <p:spPr>
          <a:xfrm rot="0">
            <a:off x="1075049" y="6721420"/>
            <a:ext cx="7690723" cy="722504"/>
          </a:xfrm>
          <a:prstGeom prst="rect">
            <a:avLst/>
          </a:prstGeom>
        </p:spPr>
        <p:txBody>
          <a:bodyPr anchor="t" rtlCol="false" tIns="0" lIns="0" bIns="0" rIns="0">
            <a:spAutoFit/>
          </a:bodyPr>
          <a:lstStyle/>
          <a:p>
            <a:pPr algn="l">
              <a:lnSpc>
                <a:spcPts val="5326"/>
              </a:lnSpc>
            </a:pPr>
            <a:r>
              <a:rPr lang="en-US" sz="3804">
                <a:solidFill>
                  <a:srgbClr val="FFFFFF"/>
                </a:solidFill>
                <a:latin typeface="Calibri (MS)"/>
                <a:ea typeface="Calibri (MS)"/>
                <a:cs typeface="Calibri (MS)"/>
                <a:sym typeface="Calibri (MS)"/>
              </a:rPr>
              <a:t>Presented by –Bhumika and Deepanjali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5DAF5"/>
        </a:solidFill>
      </p:bgPr>
    </p:bg>
    <p:spTree>
      <p:nvGrpSpPr>
        <p:cNvPr id="1" name=""/>
        <p:cNvGrpSpPr/>
        <p:nvPr/>
      </p:nvGrpSpPr>
      <p:grpSpPr>
        <a:xfrm>
          <a:off x="0" y="0"/>
          <a:ext cx="0" cy="0"/>
          <a:chOff x="0" y="0"/>
          <a:chExt cx="0" cy="0"/>
        </a:xfrm>
      </p:grpSpPr>
      <p:sp>
        <p:nvSpPr>
          <p:cNvPr name="Freeform 2" id="2"/>
          <p:cNvSpPr/>
          <p:nvPr/>
        </p:nvSpPr>
        <p:spPr>
          <a:xfrm flipH="false" flipV="false" rot="0">
            <a:off x="-60674" y="-139713"/>
            <a:ext cx="18541994" cy="2048008"/>
          </a:xfrm>
          <a:custGeom>
            <a:avLst/>
            <a:gdLst/>
            <a:ahLst/>
            <a:cxnLst/>
            <a:rect r="r" b="b" t="t" l="l"/>
            <a:pathLst>
              <a:path h="2048008" w="18541994">
                <a:moveTo>
                  <a:pt x="0" y="0"/>
                </a:moveTo>
                <a:lnTo>
                  <a:pt x="18541993" y="0"/>
                </a:lnTo>
                <a:lnTo>
                  <a:pt x="18541993" y="2048009"/>
                </a:lnTo>
                <a:lnTo>
                  <a:pt x="0" y="2048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1639" y="4632446"/>
            <a:ext cx="8337556" cy="2012956"/>
          </a:xfrm>
          <a:custGeom>
            <a:avLst/>
            <a:gdLst/>
            <a:ahLst/>
            <a:cxnLst/>
            <a:rect r="r" b="b" t="t" l="l"/>
            <a:pathLst>
              <a:path h="2012956" w="8337556">
                <a:moveTo>
                  <a:pt x="0" y="0"/>
                </a:moveTo>
                <a:lnTo>
                  <a:pt x="8337557" y="0"/>
                </a:lnTo>
                <a:lnTo>
                  <a:pt x="8337557" y="2012956"/>
                </a:lnTo>
                <a:lnTo>
                  <a:pt x="0" y="2012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080415" y="4618491"/>
            <a:ext cx="8333114" cy="2016491"/>
          </a:xfrm>
          <a:custGeom>
            <a:avLst/>
            <a:gdLst/>
            <a:ahLst/>
            <a:cxnLst/>
            <a:rect r="r" b="b" t="t" l="l"/>
            <a:pathLst>
              <a:path h="2016491" w="8333114">
                <a:moveTo>
                  <a:pt x="0" y="0"/>
                </a:moveTo>
                <a:lnTo>
                  <a:pt x="8333114" y="0"/>
                </a:lnTo>
                <a:lnTo>
                  <a:pt x="8333114" y="2016491"/>
                </a:lnTo>
                <a:lnTo>
                  <a:pt x="0" y="2016491"/>
                </a:lnTo>
                <a:lnTo>
                  <a:pt x="0" y="0"/>
                </a:lnTo>
                <a:close/>
              </a:path>
            </a:pathLst>
          </a:custGeom>
          <a:blipFill>
            <a:blip r:embed="rId6"/>
            <a:stretch>
              <a:fillRect l="0" t="0" r="0" b="0"/>
            </a:stretch>
          </a:blipFill>
          <a:ln cap="sq">
            <a:noFill/>
            <a:prstDash val="solid"/>
            <a:miter/>
          </a:ln>
        </p:spPr>
      </p:sp>
      <p:sp>
        <p:nvSpPr>
          <p:cNvPr name="Freeform 5" id="5"/>
          <p:cNvSpPr/>
          <p:nvPr/>
        </p:nvSpPr>
        <p:spPr>
          <a:xfrm flipH="false" flipV="false" rot="0">
            <a:off x="9109196" y="6727831"/>
            <a:ext cx="8318506" cy="2012956"/>
          </a:xfrm>
          <a:custGeom>
            <a:avLst/>
            <a:gdLst/>
            <a:ahLst/>
            <a:cxnLst/>
            <a:rect r="r" b="b" t="t" l="l"/>
            <a:pathLst>
              <a:path h="2012956" w="8318506">
                <a:moveTo>
                  <a:pt x="0" y="0"/>
                </a:moveTo>
                <a:lnTo>
                  <a:pt x="8318506" y="0"/>
                </a:lnTo>
                <a:lnTo>
                  <a:pt x="8318506" y="2012957"/>
                </a:lnTo>
                <a:lnTo>
                  <a:pt x="0" y="2012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6" id="6"/>
          <p:cNvSpPr txBox="true"/>
          <p:nvPr/>
        </p:nvSpPr>
        <p:spPr>
          <a:xfrm rot="0">
            <a:off x="732149" y="261518"/>
            <a:ext cx="5022075" cy="917181"/>
          </a:xfrm>
          <a:prstGeom prst="rect">
            <a:avLst/>
          </a:prstGeom>
        </p:spPr>
        <p:txBody>
          <a:bodyPr anchor="t" rtlCol="false" tIns="0" lIns="0" bIns="0" rIns="0">
            <a:spAutoFit/>
          </a:bodyPr>
          <a:lstStyle/>
          <a:p>
            <a:pPr algn="l">
              <a:lnSpc>
                <a:spcPts val="6733"/>
              </a:lnSpc>
            </a:pPr>
            <a:r>
              <a:rPr lang="en-US" b="true" sz="4809">
                <a:solidFill>
                  <a:srgbClr val="FFFFFF"/>
                </a:solidFill>
                <a:latin typeface="Calibri (MS) Bold"/>
                <a:ea typeface="Calibri (MS) Bold"/>
                <a:cs typeface="Calibri (MS) Bold"/>
                <a:sym typeface="Calibri (MS) Bold"/>
              </a:rPr>
              <a:t>Problem Statement</a:t>
            </a:r>
          </a:p>
        </p:txBody>
      </p:sp>
      <p:sp>
        <p:nvSpPr>
          <p:cNvPr name="TextBox 7" id="7"/>
          <p:cNvSpPr txBox="true"/>
          <p:nvPr/>
        </p:nvSpPr>
        <p:spPr>
          <a:xfrm rot="0">
            <a:off x="1517916" y="5124040"/>
            <a:ext cx="6925151" cy="629158"/>
          </a:xfrm>
          <a:prstGeom prst="rect">
            <a:avLst/>
          </a:prstGeom>
        </p:spPr>
        <p:txBody>
          <a:bodyPr anchor="t" rtlCol="false" tIns="0" lIns="0" bIns="0" rIns="0">
            <a:spAutoFit/>
          </a:bodyPr>
          <a:lstStyle/>
          <a:p>
            <a:pPr algn="l">
              <a:lnSpc>
                <a:spcPts val="4696"/>
              </a:lnSpc>
            </a:pPr>
            <a:r>
              <a:rPr lang="en-US" sz="3354" spc="26">
                <a:solidFill>
                  <a:srgbClr val="1E293B"/>
                </a:solidFill>
                <a:latin typeface="Calibri (MS)"/>
                <a:ea typeface="Calibri (MS)"/>
                <a:cs typeface="Calibri (MS)"/>
                <a:sym typeface="Calibri (MS)"/>
              </a:rPr>
              <a:t>Who are our most valuable customers?</a:t>
            </a:r>
          </a:p>
        </p:txBody>
      </p:sp>
      <p:sp>
        <p:nvSpPr>
          <p:cNvPr name="TextBox 8" id="8"/>
          <p:cNvSpPr txBox="true"/>
          <p:nvPr/>
        </p:nvSpPr>
        <p:spPr>
          <a:xfrm rot="0">
            <a:off x="9745732" y="4981005"/>
            <a:ext cx="6834037" cy="1158113"/>
          </a:xfrm>
          <a:prstGeom prst="rect">
            <a:avLst/>
          </a:prstGeom>
        </p:spPr>
        <p:txBody>
          <a:bodyPr anchor="t" rtlCol="false" tIns="0" lIns="0" bIns="0" rIns="0">
            <a:spAutoFit/>
          </a:bodyPr>
          <a:lstStyle/>
          <a:p>
            <a:pPr algn="l">
              <a:lnSpc>
                <a:spcPts val="4416"/>
              </a:lnSpc>
            </a:pPr>
            <a:r>
              <a:rPr lang="en-US" sz="3154" spc="28">
                <a:solidFill>
                  <a:srgbClr val="1E293B"/>
                </a:solidFill>
                <a:latin typeface="Calibri (MS)"/>
                <a:ea typeface="Calibri (MS)"/>
                <a:cs typeface="Calibri (MS)"/>
                <a:sym typeface="Calibri (MS)"/>
              </a:rPr>
              <a:t>What drives loyalty vs. one-time purchases?</a:t>
            </a:r>
          </a:p>
        </p:txBody>
      </p:sp>
      <p:sp>
        <p:nvSpPr>
          <p:cNvPr name="TextBox 9" id="9"/>
          <p:cNvSpPr txBox="true"/>
          <p:nvPr/>
        </p:nvSpPr>
        <p:spPr>
          <a:xfrm rot="0">
            <a:off x="9422463" y="7062543"/>
            <a:ext cx="8713470" cy="1219708"/>
          </a:xfrm>
          <a:prstGeom prst="rect">
            <a:avLst/>
          </a:prstGeom>
        </p:spPr>
        <p:txBody>
          <a:bodyPr anchor="t" rtlCol="false" tIns="0" lIns="0" bIns="0" rIns="0">
            <a:spAutoFit/>
          </a:bodyPr>
          <a:lstStyle/>
          <a:p>
            <a:pPr algn="l">
              <a:lnSpc>
                <a:spcPts val="4696"/>
              </a:lnSpc>
            </a:pPr>
            <a:r>
              <a:rPr lang="en-US" sz="3354" spc="26">
                <a:solidFill>
                  <a:srgbClr val="1E293B"/>
                </a:solidFill>
                <a:latin typeface="Calibri (MS)"/>
                <a:ea typeface="Calibri (MS)"/>
                <a:cs typeface="Calibri (MS)"/>
                <a:sym typeface="Calibri (MS)"/>
              </a:rPr>
              <a:t>Which products and seasons drive the most revenue?</a:t>
            </a:r>
          </a:p>
        </p:txBody>
      </p:sp>
      <p:sp>
        <p:nvSpPr>
          <p:cNvPr name="TextBox 10" id="10"/>
          <p:cNvSpPr txBox="true"/>
          <p:nvPr/>
        </p:nvSpPr>
        <p:spPr>
          <a:xfrm rot="0">
            <a:off x="1007116" y="2500598"/>
            <a:ext cx="16406412" cy="1245619"/>
          </a:xfrm>
          <a:prstGeom prst="rect">
            <a:avLst/>
          </a:prstGeom>
        </p:spPr>
        <p:txBody>
          <a:bodyPr anchor="t" rtlCol="false" tIns="0" lIns="0" bIns="0" rIns="0">
            <a:spAutoFit/>
          </a:bodyPr>
          <a:lstStyle/>
          <a:p>
            <a:pPr algn="l">
              <a:lnSpc>
                <a:spcPts val="3157"/>
              </a:lnSpc>
            </a:pPr>
            <a:r>
              <a:rPr lang="en-US" b="true" sz="2554" spc="17">
                <a:solidFill>
                  <a:srgbClr val="1E293B"/>
                </a:solidFill>
                <a:latin typeface="Calibri (MS) Bold"/>
                <a:ea typeface="Calibri (MS) Bold"/>
                <a:cs typeface="Calibri (MS) Bold"/>
                <a:sym typeface="Calibri (MS) Bold"/>
              </a:rPr>
              <a:t>A leading omnichannel retail company possesses extensive transaction data but lacks a structured analytical framework to convert it into business decisions. Key gaps include inability to identify valuable customer segments, unclear loyalty drivers, and no data-backed promotional strategy.</a:t>
            </a:r>
          </a:p>
        </p:txBody>
      </p:sp>
      <p:sp>
        <p:nvSpPr>
          <p:cNvPr name="TextBox 11" id="11"/>
          <p:cNvSpPr txBox="true"/>
          <p:nvPr/>
        </p:nvSpPr>
        <p:spPr>
          <a:xfrm rot="0">
            <a:off x="9574530" y="6956107"/>
            <a:ext cx="342405" cy="440398"/>
          </a:xfrm>
          <a:prstGeom prst="rect">
            <a:avLst/>
          </a:prstGeom>
        </p:spPr>
        <p:txBody>
          <a:bodyPr anchor="t" rtlCol="false" tIns="0" lIns="0" bIns="0" rIns="0">
            <a:spAutoFit/>
          </a:bodyPr>
          <a:lstStyle/>
          <a:p>
            <a:pPr algn="l">
              <a:lnSpc>
                <a:spcPts val="3156"/>
              </a:lnSpc>
            </a:pPr>
            <a:r>
              <a:rPr lang="en-US" b="true" sz="2254">
                <a:solidFill>
                  <a:srgbClr val="14B8A6"/>
                </a:solidFill>
                <a:latin typeface="Calibri (MS) Bold"/>
                <a:ea typeface="Calibri (MS) Bold"/>
                <a:cs typeface="Calibri (MS) Bold"/>
                <a:sym typeface="Calibri (MS) Bold"/>
              </a:rPr>
              <a:t>Q4</a:t>
            </a:r>
          </a:p>
        </p:txBody>
      </p:sp>
      <p:sp>
        <p:nvSpPr>
          <p:cNvPr name="Freeform 12" id="12"/>
          <p:cNvSpPr/>
          <p:nvPr/>
        </p:nvSpPr>
        <p:spPr>
          <a:xfrm flipH="false" flipV="false" rot="0">
            <a:off x="815978" y="6727831"/>
            <a:ext cx="8337556" cy="2012956"/>
          </a:xfrm>
          <a:custGeom>
            <a:avLst/>
            <a:gdLst/>
            <a:ahLst/>
            <a:cxnLst/>
            <a:rect r="r" b="b" t="t" l="l"/>
            <a:pathLst>
              <a:path h="2012956" w="8337556">
                <a:moveTo>
                  <a:pt x="0" y="0"/>
                </a:moveTo>
                <a:lnTo>
                  <a:pt x="8337557" y="0"/>
                </a:lnTo>
                <a:lnTo>
                  <a:pt x="8337557" y="2012957"/>
                </a:lnTo>
                <a:lnTo>
                  <a:pt x="0" y="2012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815978" y="7100106"/>
            <a:ext cx="7680059" cy="2178559"/>
          </a:xfrm>
          <a:prstGeom prst="rect">
            <a:avLst/>
          </a:prstGeom>
        </p:spPr>
        <p:txBody>
          <a:bodyPr anchor="t" rtlCol="false" tIns="0" lIns="0" bIns="0" rIns="0">
            <a:spAutoFit/>
          </a:bodyPr>
          <a:lstStyle/>
          <a:p>
            <a:pPr algn="ctr">
              <a:lnSpc>
                <a:spcPts val="4346"/>
              </a:lnSpc>
            </a:pPr>
            <a:r>
              <a:rPr lang="en-US" sz="3104" spc="34">
                <a:solidFill>
                  <a:srgbClr val="000000"/>
                </a:solidFill>
                <a:latin typeface="Calibri (MS)"/>
                <a:ea typeface="Calibri (MS)"/>
                <a:cs typeface="Calibri (MS)"/>
                <a:sym typeface="Calibri (MS)"/>
              </a:rPr>
              <a:t>Do discounts build loyalty or just attract bargain hunters ?</a:t>
            </a:r>
          </a:p>
          <a:p>
            <a:pPr algn="ctr">
              <a:lnSpc>
                <a:spcPts val="4346"/>
              </a:lnSpc>
            </a:pPr>
          </a:p>
          <a:p>
            <a:pPr algn="ctr">
              <a:lnSpc>
                <a:spcPts val="434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5DAF5"/>
        </a:solidFill>
      </p:bgPr>
    </p:bg>
    <p:spTree>
      <p:nvGrpSpPr>
        <p:cNvPr id="1" name=""/>
        <p:cNvGrpSpPr/>
        <p:nvPr/>
      </p:nvGrpSpPr>
      <p:grpSpPr>
        <a:xfrm>
          <a:off x="0" y="0"/>
          <a:ext cx="0" cy="0"/>
          <a:chOff x="0" y="0"/>
          <a:chExt cx="0" cy="0"/>
        </a:xfrm>
      </p:grpSpPr>
      <p:sp>
        <p:nvSpPr>
          <p:cNvPr name="Freeform 2" id="2"/>
          <p:cNvSpPr/>
          <p:nvPr/>
        </p:nvSpPr>
        <p:spPr>
          <a:xfrm flipH="false" flipV="false" rot="0">
            <a:off x="-32833" y="-295542"/>
            <a:ext cx="18541994" cy="2048008"/>
          </a:xfrm>
          <a:custGeom>
            <a:avLst/>
            <a:gdLst/>
            <a:ahLst/>
            <a:cxnLst/>
            <a:rect r="r" b="b" t="t" l="l"/>
            <a:pathLst>
              <a:path h="2048008" w="18541994">
                <a:moveTo>
                  <a:pt x="0" y="0"/>
                </a:moveTo>
                <a:lnTo>
                  <a:pt x="18541994" y="0"/>
                </a:lnTo>
                <a:lnTo>
                  <a:pt x="18541994" y="2048009"/>
                </a:lnTo>
                <a:lnTo>
                  <a:pt x="0" y="2048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2149" y="261518"/>
            <a:ext cx="5450776" cy="917181"/>
          </a:xfrm>
          <a:prstGeom prst="rect">
            <a:avLst/>
          </a:prstGeom>
        </p:spPr>
        <p:txBody>
          <a:bodyPr anchor="t" rtlCol="false" tIns="0" lIns="0" bIns="0" rIns="0">
            <a:spAutoFit/>
          </a:bodyPr>
          <a:lstStyle/>
          <a:p>
            <a:pPr algn="l">
              <a:lnSpc>
                <a:spcPts val="6733"/>
              </a:lnSpc>
            </a:pPr>
            <a:r>
              <a:rPr lang="en-US" b="true" sz="4809">
                <a:solidFill>
                  <a:srgbClr val="FFFFFF"/>
                </a:solidFill>
                <a:latin typeface="Calibri (MS) Bold"/>
                <a:ea typeface="Calibri (MS) Bold"/>
                <a:cs typeface="Calibri (MS) Bold"/>
                <a:sym typeface="Calibri (MS) Bold"/>
              </a:rPr>
              <a:t>Project Methodology</a:t>
            </a:r>
          </a:p>
        </p:txBody>
      </p:sp>
      <p:grpSp>
        <p:nvGrpSpPr>
          <p:cNvPr name="Group 4" id="4"/>
          <p:cNvGrpSpPr/>
          <p:nvPr/>
        </p:nvGrpSpPr>
        <p:grpSpPr>
          <a:xfrm rot="0">
            <a:off x="732149" y="2126910"/>
            <a:ext cx="3086100" cy="7131390"/>
            <a:chOff x="0" y="0"/>
            <a:chExt cx="812800" cy="1878226"/>
          </a:xfrm>
        </p:grpSpPr>
        <p:sp>
          <p:nvSpPr>
            <p:cNvPr name="Freeform 5" id="5"/>
            <p:cNvSpPr/>
            <p:nvPr/>
          </p:nvSpPr>
          <p:spPr>
            <a:xfrm flipH="false" flipV="false" rot="0">
              <a:off x="0" y="0"/>
              <a:ext cx="812800" cy="1878226"/>
            </a:xfrm>
            <a:custGeom>
              <a:avLst/>
              <a:gdLst/>
              <a:ahLst/>
              <a:cxnLst/>
              <a:rect r="r" b="b" t="t" l="l"/>
              <a:pathLst>
                <a:path h="1878226" w="812800">
                  <a:moveTo>
                    <a:pt x="0" y="0"/>
                  </a:moveTo>
                  <a:lnTo>
                    <a:pt x="812800" y="0"/>
                  </a:lnTo>
                  <a:lnTo>
                    <a:pt x="812800" y="1878226"/>
                  </a:lnTo>
                  <a:lnTo>
                    <a:pt x="0" y="1878226"/>
                  </a:lnTo>
                  <a:close/>
                </a:path>
              </a:pathLst>
            </a:custGeom>
            <a:solidFill>
              <a:srgbClr val="0D9488"/>
            </a:solidFill>
          </p:spPr>
        </p:sp>
        <p:sp>
          <p:nvSpPr>
            <p:cNvPr name="TextBox 6" id="6"/>
            <p:cNvSpPr txBox="true"/>
            <p:nvPr/>
          </p:nvSpPr>
          <p:spPr>
            <a:xfrm>
              <a:off x="0" y="-85725"/>
              <a:ext cx="812800" cy="1963951"/>
            </a:xfrm>
            <a:prstGeom prst="rect">
              <a:avLst/>
            </a:prstGeom>
          </p:spPr>
          <p:txBody>
            <a:bodyPr anchor="ctr" rtlCol="false" tIns="50800" lIns="50800" bIns="50800" rIns="50800"/>
            <a:lstStyle/>
            <a:p>
              <a:pPr algn="ctr">
                <a:lnSpc>
                  <a:spcPts val="2946"/>
                </a:lnSpc>
              </a:pPr>
            </a:p>
          </p:txBody>
        </p:sp>
      </p:grpSp>
      <p:sp>
        <p:nvSpPr>
          <p:cNvPr name="TextBox 7" id="7"/>
          <p:cNvSpPr txBox="true"/>
          <p:nvPr/>
        </p:nvSpPr>
        <p:spPr>
          <a:xfrm rot="0">
            <a:off x="732149" y="2036696"/>
            <a:ext cx="3086100" cy="7052184"/>
          </a:xfrm>
          <a:prstGeom prst="rect">
            <a:avLst/>
          </a:prstGeom>
        </p:spPr>
        <p:txBody>
          <a:bodyPr anchor="t" rtlCol="false" tIns="0" lIns="0" bIns="0" rIns="0">
            <a:spAutoFit/>
          </a:bodyPr>
          <a:lstStyle/>
          <a:p>
            <a:pPr algn="ctr">
              <a:lnSpc>
                <a:spcPts val="7146"/>
              </a:lnSpc>
            </a:pPr>
            <a:r>
              <a:rPr lang="en-US" b="true" sz="5104" spc="56">
                <a:solidFill>
                  <a:srgbClr val="FFFFFF"/>
                </a:solidFill>
                <a:latin typeface="Calibri (MS) Bold"/>
                <a:ea typeface="Calibri (MS) Bold"/>
                <a:cs typeface="Calibri (MS) Bold"/>
                <a:sym typeface="Calibri (MS) Bold"/>
              </a:rPr>
              <a:t>01</a:t>
            </a:r>
          </a:p>
          <a:p>
            <a:pPr algn="ctr">
              <a:lnSpc>
                <a:spcPts val="5186"/>
              </a:lnSpc>
            </a:pPr>
            <a:r>
              <a:rPr lang="en-US" b="true" sz="3704" spc="11">
                <a:solidFill>
                  <a:srgbClr val="000000"/>
                </a:solidFill>
                <a:latin typeface="Calibri (MS) Bold"/>
                <a:ea typeface="Calibri (MS) Bold"/>
                <a:cs typeface="Calibri (MS) Bold"/>
                <a:sym typeface="Calibri (MS) Bold"/>
              </a:rPr>
              <a:t>Raw Data</a:t>
            </a:r>
          </a:p>
          <a:p>
            <a:pPr algn="ctr">
              <a:lnSpc>
                <a:spcPts val="5186"/>
              </a:lnSpc>
            </a:pPr>
            <a:r>
              <a:rPr lang="en-US" sz="3704">
                <a:solidFill>
                  <a:srgbClr val="000000"/>
                </a:solidFill>
                <a:latin typeface="Calibri (MS)"/>
                <a:ea typeface="Calibri (MS)"/>
                <a:cs typeface="Calibri (MS)"/>
                <a:sym typeface="Calibri (MS)"/>
              </a:rPr>
              <a:t>Dataset</a:t>
            </a:r>
          </a:p>
          <a:p>
            <a:pPr algn="ctr">
              <a:lnSpc>
                <a:spcPts val="5186"/>
              </a:lnSpc>
            </a:pPr>
          </a:p>
          <a:p>
            <a:pPr algn="ctr">
              <a:lnSpc>
                <a:spcPts val="5186"/>
              </a:lnSpc>
            </a:pPr>
          </a:p>
          <a:p>
            <a:pPr algn="l" marL="627184" indent="-313592" lvl="1">
              <a:lnSpc>
                <a:spcPts val="4066"/>
              </a:lnSpc>
              <a:buFont typeface="Arial"/>
              <a:buChar char="•"/>
            </a:pPr>
            <a:r>
              <a:rPr lang="en-US" sz="2904">
                <a:solidFill>
                  <a:srgbClr val="000000"/>
                </a:solidFill>
                <a:latin typeface="Calibri (MS)"/>
                <a:ea typeface="Calibri (MS)"/>
                <a:cs typeface="Calibri (MS)"/>
                <a:sym typeface="Calibri (MS)"/>
              </a:rPr>
              <a:t>18 original columns</a:t>
            </a:r>
          </a:p>
          <a:p>
            <a:pPr algn="l" marL="627184" indent="-313592" lvl="1">
              <a:lnSpc>
                <a:spcPts val="4066"/>
              </a:lnSpc>
              <a:buFont typeface="Arial"/>
              <a:buChar char="•"/>
            </a:pPr>
            <a:r>
              <a:rPr lang="en-US" sz="2904">
                <a:solidFill>
                  <a:srgbClr val="000000"/>
                </a:solidFill>
                <a:latin typeface="Calibri (MS)"/>
                <a:ea typeface="Calibri (MS)"/>
                <a:cs typeface="Calibri (MS)"/>
                <a:sym typeface="Calibri (MS)"/>
              </a:rPr>
              <a:t>Consumer shopping data</a:t>
            </a:r>
          </a:p>
          <a:p>
            <a:pPr algn="l" marL="627184" indent="-313592" lvl="1">
              <a:lnSpc>
                <a:spcPts val="4066"/>
              </a:lnSpc>
              <a:buFont typeface="Arial"/>
              <a:buChar char="•"/>
            </a:pPr>
            <a:r>
              <a:rPr lang="en-US" sz="2904" spc="2">
                <a:solidFill>
                  <a:srgbClr val="000000"/>
                </a:solidFill>
                <a:latin typeface="Calibri (MS)"/>
                <a:ea typeface="Calibri (MS)"/>
                <a:cs typeface="Calibri (MS)"/>
                <a:sym typeface="Calibri (MS)"/>
              </a:rPr>
              <a:t>3,900 transactions</a:t>
            </a:r>
          </a:p>
          <a:p>
            <a:pPr algn="ctr">
              <a:lnSpc>
                <a:spcPts val="2946"/>
              </a:lnSpc>
              <a:spcBef>
                <a:spcPct val="0"/>
              </a:spcBef>
            </a:pPr>
          </a:p>
        </p:txBody>
      </p:sp>
      <p:grpSp>
        <p:nvGrpSpPr>
          <p:cNvPr name="Group 8" id="8"/>
          <p:cNvGrpSpPr/>
          <p:nvPr/>
        </p:nvGrpSpPr>
        <p:grpSpPr>
          <a:xfrm rot="0">
            <a:off x="4063422" y="2126910"/>
            <a:ext cx="3086100" cy="7131390"/>
            <a:chOff x="0" y="0"/>
            <a:chExt cx="812800" cy="1878226"/>
          </a:xfrm>
        </p:grpSpPr>
        <p:sp>
          <p:nvSpPr>
            <p:cNvPr name="Freeform 9" id="9"/>
            <p:cNvSpPr/>
            <p:nvPr/>
          </p:nvSpPr>
          <p:spPr>
            <a:xfrm flipH="false" flipV="false" rot="0">
              <a:off x="0" y="0"/>
              <a:ext cx="812800" cy="1878226"/>
            </a:xfrm>
            <a:custGeom>
              <a:avLst/>
              <a:gdLst/>
              <a:ahLst/>
              <a:cxnLst/>
              <a:rect r="r" b="b" t="t" l="l"/>
              <a:pathLst>
                <a:path h="1878226" w="812800">
                  <a:moveTo>
                    <a:pt x="0" y="0"/>
                  </a:moveTo>
                  <a:lnTo>
                    <a:pt x="812800" y="0"/>
                  </a:lnTo>
                  <a:lnTo>
                    <a:pt x="812800" y="1878226"/>
                  </a:lnTo>
                  <a:lnTo>
                    <a:pt x="0" y="1878226"/>
                  </a:lnTo>
                  <a:close/>
                </a:path>
              </a:pathLst>
            </a:custGeom>
            <a:solidFill>
              <a:srgbClr val="0D9488"/>
            </a:solidFill>
          </p:spPr>
        </p:sp>
        <p:sp>
          <p:nvSpPr>
            <p:cNvPr name="TextBox 10" id="10"/>
            <p:cNvSpPr txBox="true"/>
            <p:nvPr/>
          </p:nvSpPr>
          <p:spPr>
            <a:xfrm>
              <a:off x="0" y="-85725"/>
              <a:ext cx="812800" cy="1963951"/>
            </a:xfrm>
            <a:prstGeom prst="rect">
              <a:avLst/>
            </a:prstGeom>
          </p:spPr>
          <p:txBody>
            <a:bodyPr anchor="ctr" rtlCol="false" tIns="50800" lIns="50800" bIns="50800" rIns="50800"/>
            <a:lstStyle/>
            <a:p>
              <a:pPr algn="ctr">
                <a:lnSpc>
                  <a:spcPts val="2946"/>
                </a:lnSpc>
              </a:pPr>
            </a:p>
          </p:txBody>
        </p:sp>
      </p:grpSp>
      <p:sp>
        <p:nvSpPr>
          <p:cNvPr name="TextBox 11" id="11"/>
          <p:cNvSpPr txBox="true"/>
          <p:nvPr/>
        </p:nvSpPr>
        <p:spPr>
          <a:xfrm rot="0">
            <a:off x="4063422" y="1898310"/>
            <a:ext cx="3086100" cy="8152005"/>
          </a:xfrm>
          <a:prstGeom prst="rect">
            <a:avLst/>
          </a:prstGeom>
        </p:spPr>
        <p:txBody>
          <a:bodyPr anchor="t" rtlCol="false" tIns="0" lIns="0" bIns="0" rIns="0">
            <a:spAutoFit/>
          </a:bodyPr>
          <a:lstStyle/>
          <a:p>
            <a:pPr algn="ctr">
              <a:lnSpc>
                <a:spcPts val="7706"/>
              </a:lnSpc>
            </a:pPr>
            <a:r>
              <a:rPr lang="en-US" b="true" sz="5504" spc="60">
                <a:solidFill>
                  <a:srgbClr val="FFFFFF"/>
                </a:solidFill>
                <a:latin typeface="Calibri (MS) Bold"/>
                <a:ea typeface="Calibri (MS) Bold"/>
                <a:cs typeface="Calibri (MS) Bold"/>
                <a:sym typeface="Calibri (MS) Bold"/>
              </a:rPr>
              <a:t>02</a:t>
            </a:r>
          </a:p>
          <a:p>
            <a:pPr algn="ctr">
              <a:lnSpc>
                <a:spcPts val="4626"/>
              </a:lnSpc>
            </a:pPr>
            <a:r>
              <a:rPr lang="en-US" b="true" sz="3304" spc="36">
                <a:solidFill>
                  <a:srgbClr val="000000"/>
                </a:solidFill>
                <a:latin typeface="Calibri (MS) Bold"/>
                <a:ea typeface="Calibri (MS) Bold"/>
                <a:cs typeface="Calibri (MS) Bold"/>
                <a:sym typeface="Calibri (MS) Bold"/>
              </a:rPr>
              <a:t>Python Cleaning</a:t>
            </a:r>
          </a:p>
          <a:p>
            <a:pPr algn="ctr">
              <a:lnSpc>
                <a:spcPts val="4479"/>
              </a:lnSpc>
            </a:pPr>
            <a:r>
              <a:rPr lang="en-US" sz="3199" spc="35">
                <a:solidFill>
                  <a:srgbClr val="000000"/>
                </a:solidFill>
                <a:latin typeface="Calibri (MS)"/>
                <a:ea typeface="Calibri (MS)"/>
                <a:cs typeface="Calibri (MS)"/>
                <a:sym typeface="Calibri (MS)"/>
              </a:rPr>
              <a:t>Kaggle Notebook</a:t>
            </a:r>
          </a:p>
          <a:p>
            <a:pPr algn="ctr">
              <a:lnSpc>
                <a:spcPts val="4479"/>
              </a:lnSpc>
            </a:pPr>
          </a:p>
          <a:p>
            <a:pPr algn="ctr">
              <a:lnSpc>
                <a:spcPts val="4479"/>
              </a:lnSpc>
            </a:pPr>
          </a:p>
          <a:p>
            <a:pPr algn="l" marL="604521" indent="-302261" lvl="1">
              <a:lnSpc>
                <a:spcPts val="3920"/>
              </a:lnSpc>
              <a:buFont typeface="Arial"/>
              <a:buChar char="•"/>
            </a:pPr>
            <a:r>
              <a:rPr lang="en-US" sz="2800" spc="30">
                <a:solidFill>
                  <a:srgbClr val="000000"/>
                </a:solidFill>
                <a:latin typeface="Calibri (MS)"/>
                <a:ea typeface="Calibri (MS)"/>
                <a:cs typeface="Calibri (MS)"/>
                <a:sym typeface="Calibri (MS)"/>
              </a:rPr>
              <a:t>Removed</a:t>
            </a:r>
          </a:p>
          <a:p>
            <a:pPr algn="l" marL="604521" indent="-302261" lvl="1">
              <a:lnSpc>
                <a:spcPts val="3920"/>
              </a:lnSpc>
              <a:buFont typeface="Arial"/>
              <a:buChar char="•"/>
            </a:pPr>
            <a:r>
              <a:rPr lang="en-US" sz="2800" spc="30">
                <a:solidFill>
                  <a:srgbClr val="000000"/>
                </a:solidFill>
                <a:latin typeface="Calibri (MS)"/>
                <a:ea typeface="Calibri (MS)"/>
                <a:cs typeface="Calibri (MS)"/>
                <a:sym typeface="Calibri (MS)"/>
              </a:rPr>
              <a:t>duplicates &amp; nulls</a:t>
            </a:r>
          </a:p>
          <a:p>
            <a:pPr algn="l" marL="604521" indent="-302261" lvl="1">
              <a:lnSpc>
                <a:spcPts val="3920"/>
              </a:lnSpc>
              <a:buFont typeface="Arial"/>
              <a:buChar char="•"/>
            </a:pPr>
            <a:r>
              <a:rPr lang="en-US" sz="2800" spc="30">
                <a:solidFill>
                  <a:srgbClr val="000000"/>
                </a:solidFill>
                <a:latin typeface="Calibri (MS)"/>
                <a:ea typeface="Calibri (MS)"/>
                <a:cs typeface="Calibri (MS)"/>
                <a:sym typeface="Calibri (MS)"/>
              </a:rPr>
              <a:t>Feature engineering: +8 columns</a:t>
            </a:r>
          </a:p>
          <a:p>
            <a:pPr algn="l" marL="604521" indent="-302261" lvl="1">
              <a:lnSpc>
                <a:spcPts val="3920"/>
              </a:lnSpc>
              <a:buFont typeface="Arial"/>
              <a:buChar char="•"/>
            </a:pPr>
            <a:r>
              <a:rPr lang="en-US" sz="2800" spc="30">
                <a:solidFill>
                  <a:srgbClr val="000000"/>
                </a:solidFill>
                <a:latin typeface="Calibri (MS)"/>
                <a:ea typeface="Calibri (MS)"/>
                <a:cs typeface="Calibri (MS)"/>
                <a:sym typeface="Calibri (MS)"/>
              </a:rPr>
              <a:t>Standardised</a:t>
            </a:r>
            <a:r>
              <a:rPr lang="en-US" sz="2800" spc="30">
                <a:solidFill>
                  <a:srgbClr val="000000"/>
                </a:solidFill>
                <a:latin typeface="Calibri (MS)"/>
                <a:ea typeface="Calibri (MS)"/>
                <a:cs typeface="Calibri (MS)"/>
                <a:sym typeface="Calibri (MS)"/>
              </a:rPr>
              <a:t> text columns</a:t>
            </a:r>
          </a:p>
          <a:p>
            <a:pPr algn="ctr">
              <a:lnSpc>
                <a:spcPts val="7146"/>
              </a:lnSpc>
              <a:spcBef>
                <a:spcPct val="0"/>
              </a:spcBef>
            </a:pPr>
          </a:p>
        </p:txBody>
      </p:sp>
      <p:grpSp>
        <p:nvGrpSpPr>
          <p:cNvPr name="Group 12" id="12"/>
          <p:cNvGrpSpPr/>
          <p:nvPr/>
        </p:nvGrpSpPr>
        <p:grpSpPr>
          <a:xfrm rot="0">
            <a:off x="7600950" y="2101868"/>
            <a:ext cx="3086100" cy="7131390"/>
            <a:chOff x="0" y="0"/>
            <a:chExt cx="812800" cy="1878226"/>
          </a:xfrm>
        </p:grpSpPr>
        <p:sp>
          <p:nvSpPr>
            <p:cNvPr name="Freeform 13" id="13"/>
            <p:cNvSpPr/>
            <p:nvPr/>
          </p:nvSpPr>
          <p:spPr>
            <a:xfrm flipH="false" flipV="false" rot="0">
              <a:off x="0" y="0"/>
              <a:ext cx="812800" cy="1878226"/>
            </a:xfrm>
            <a:custGeom>
              <a:avLst/>
              <a:gdLst/>
              <a:ahLst/>
              <a:cxnLst/>
              <a:rect r="r" b="b" t="t" l="l"/>
              <a:pathLst>
                <a:path h="1878226" w="812800">
                  <a:moveTo>
                    <a:pt x="0" y="0"/>
                  </a:moveTo>
                  <a:lnTo>
                    <a:pt x="812800" y="0"/>
                  </a:lnTo>
                  <a:lnTo>
                    <a:pt x="812800" y="1878226"/>
                  </a:lnTo>
                  <a:lnTo>
                    <a:pt x="0" y="1878226"/>
                  </a:lnTo>
                  <a:close/>
                </a:path>
              </a:pathLst>
            </a:custGeom>
            <a:solidFill>
              <a:srgbClr val="0D9488"/>
            </a:solidFill>
          </p:spPr>
        </p:sp>
        <p:sp>
          <p:nvSpPr>
            <p:cNvPr name="TextBox 14" id="14"/>
            <p:cNvSpPr txBox="true"/>
            <p:nvPr/>
          </p:nvSpPr>
          <p:spPr>
            <a:xfrm>
              <a:off x="0" y="-85725"/>
              <a:ext cx="812800" cy="1963951"/>
            </a:xfrm>
            <a:prstGeom prst="rect">
              <a:avLst/>
            </a:prstGeom>
          </p:spPr>
          <p:txBody>
            <a:bodyPr anchor="ctr" rtlCol="false" tIns="50800" lIns="50800" bIns="50800" rIns="50800"/>
            <a:lstStyle/>
            <a:p>
              <a:pPr algn="ctr">
                <a:lnSpc>
                  <a:spcPts val="2946"/>
                </a:lnSpc>
              </a:pPr>
            </a:p>
          </p:txBody>
        </p:sp>
      </p:grpSp>
      <p:sp>
        <p:nvSpPr>
          <p:cNvPr name="TextBox 15" id="15"/>
          <p:cNvSpPr txBox="true"/>
          <p:nvPr/>
        </p:nvSpPr>
        <p:spPr>
          <a:xfrm rot="0">
            <a:off x="7600950" y="1873268"/>
            <a:ext cx="3086100" cy="7365875"/>
          </a:xfrm>
          <a:prstGeom prst="rect">
            <a:avLst/>
          </a:prstGeom>
        </p:spPr>
        <p:txBody>
          <a:bodyPr anchor="t" rtlCol="false" tIns="0" lIns="0" bIns="0" rIns="0">
            <a:spAutoFit/>
          </a:bodyPr>
          <a:lstStyle/>
          <a:p>
            <a:pPr algn="ctr">
              <a:lnSpc>
                <a:spcPts val="7706"/>
              </a:lnSpc>
            </a:pPr>
            <a:r>
              <a:rPr lang="en-US" b="true" sz="5504" spc="60">
                <a:solidFill>
                  <a:srgbClr val="FFFFFF"/>
                </a:solidFill>
                <a:latin typeface="Calibri (MS) Bold"/>
                <a:ea typeface="Calibri (MS) Bold"/>
                <a:cs typeface="Calibri (MS) Bold"/>
                <a:sym typeface="Calibri (MS) Bold"/>
              </a:rPr>
              <a:t>03</a:t>
            </a:r>
          </a:p>
          <a:p>
            <a:pPr algn="ctr">
              <a:lnSpc>
                <a:spcPts val="4906"/>
              </a:lnSpc>
            </a:pPr>
            <a:r>
              <a:rPr lang="en-US" b="true" sz="3504" spc="38">
                <a:solidFill>
                  <a:srgbClr val="000000"/>
                </a:solidFill>
                <a:latin typeface="Calibri (MS) Bold"/>
                <a:ea typeface="Calibri (MS) Bold"/>
                <a:cs typeface="Calibri (MS) Bold"/>
                <a:sym typeface="Calibri (MS) Bold"/>
              </a:rPr>
              <a:t>MySQL Analysis</a:t>
            </a:r>
          </a:p>
          <a:p>
            <a:pPr algn="ctr">
              <a:lnSpc>
                <a:spcPts val="4066"/>
              </a:lnSpc>
            </a:pPr>
            <a:r>
              <a:rPr lang="en-US" sz="2904" spc="31">
                <a:solidFill>
                  <a:srgbClr val="000000"/>
                </a:solidFill>
                <a:latin typeface="Calibri (MS)"/>
                <a:ea typeface="Calibri (MS)"/>
                <a:cs typeface="Calibri (MS)"/>
                <a:sym typeface="Calibri (MS)"/>
              </a:rPr>
              <a:t>MySQL Workbench</a:t>
            </a:r>
          </a:p>
          <a:p>
            <a:pPr algn="ctr">
              <a:lnSpc>
                <a:spcPts val="4066"/>
              </a:lnSpc>
            </a:pPr>
          </a:p>
          <a:p>
            <a:pPr algn="ctr">
              <a:lnSpc>
                <a:spcPts val="4906"/>
              </a:lnSpc>
            </a:pPr>
          </a:p>
          <a:p>
            <a:pPr algn="l" marL="627184" indent="-313592" lvl="1">
              <a:lnSpc>
                <a:spcPts val="4066"/>
              </a:lnSpc>
              <a:buFont typeface="Arial"/>
              <a:buChar char="•"/>
            </a:pPr>
            <a:r>
              <a:rPr lang="en-US" sz="2904" spc="31">
                <a:solidFill>
                  <a:srgbClr val="000000"/>
                </a:solidFill>
                <a:latin typeface="Calibri (MS)"/>
                <a:ea typeface="Calibri (MS)"/>
                <a:cs typeface="Calibri (MS)"/>
                <a:sym typeface="Calibri (MS)"/>
              </a:rPr>
              <a:t>Exported insights to CSV</a:t>
            </a:r>
          </a:p>
          <a:p>
            <a:pPr algn="l" marL="627184" indent="-313592" lvl="1">
              <a:lnSpc>
                <a:spcPts val="4066"/>
              </a:lnSpc>
              <a:buFont typeface="Arial"/>
              <a:buChar char="•"/>
            </a:pPr>
            <a:r>
              <a:rPr lang="en-US" sz="2904" spc="31">
                <a:solidFill>
                  <a:srgbClr val="000000"/>
                </a:solidFill>
                <a:latin typeface="Calibri (MS)"/>
                <a:ea typeface="Calibri (MS)"/>
                <a:cs typeface="Calibri (MS)"/>
                <a:sym typeface="Calibri (MS)"/>
              </a:rPr>
              <a:t>25 analytical queries</a:t>
            </a:r>
          </a:p>
          <a:p>
            <a:pPr algn="l" marL="627184" indent="-313592" lvl="1">
              <a:lnSpc>
                <a:spcPts val="4066"/>
              </a:lnSpc>
              <a:buFont typeface="Arial"/>
              <a:buChar char="•"/>
            </a:pPr>
            <a:r>
              <a:rPr lang="en-US" sz="2904" spc="31">
                <a:solidFill>
                  <a:srgbClr val="000000"/>
                </a:solidFill>
                <a:latin typeface="Calibri (MS)"/>
                <a:ea typeface="Calibri (MS)"/>
                <a:cs typeface="Calibri (MS)"/>
                <a:sym typeface="Calibri (MS)"/>
              </a:rPr>
              <a:t>10 business dimensions</a:t>
            </a:r>
          </a:p>
          <a:p>
            <a:pPr algn="ctr">
              <a:lnSpc>
                <a:spcPts val="7706"/>
              </a:lnSpc>
              <a:spcBef>
                <a:spcPct val="0"/>
              </a:spcBef>
            </a:pPr>
          </a:p>
        </p:txBody>
      </p:sp>
      <p:grpSp>
        <p:nvGrpSpPr>
          <p:cNvPr name="Group 16" id="16"/>
          <p:cNvGrpSpPr/>
          <p:nvPr/>
        </p:nvGrpSpPr>
        <p:grpSpPr>
          <a:xfrm rot="0">
            <a:off x="11144250" y="2057781"/>
            <a:ext cx="3086100" cy="7175476"/>
            <a:chOff x="0" y="0"/>
            <a:chExt cx="812800" cy="1889837"/>
          </a:xfrm>
        </p:grpSpPr>
        <p:sp>
          <p:nvSpPr>
            <p:cNvPr name="Freeform 17" id="17"/>
            <p:cNvSpPr/>
            <p:nvPr/>
          </p:nvSpPr>
          <p:spPr>
            <a:xfrm flipH="false" flipV="false" rot="0">
              <a:off x="0" y="0"/>
              <a:ext cx="812800" cy="1889837"/>
            </a:xfrm>
            <a:custGeom>
              <a:avLst/>
              <a:gdLst/>
              <a:ahLst/>
              <a:cxnLst/>
              <a:rect r="r" b="b" t="t" l="l"/>
              <a:pathLst>
                <a:path h="1889837" w="812800">
                  <a:moveTo>
                    <a:pt x="0" y="0"/>
                  </a:moveTo>
                  <a:lnTo>
                    <a:pt x="812800" y="0"/>
                  </a:lnTo>
                  <a:lnTo>
                    <a:pt x="812800" y="1889837"/>
                  </a:lnTo>
                  <a:lnTo>
                    <a:pt x="0" y="1889837"/>
                  </a:lnTo>
                  <a:close/>
                </a:path>
              </a:pathLst>
            </a:custGeom>
            <a:solidFill>
              <a:srgbClr val="0D9488"/>
            </a:solidFill>
          </p:spPr>
        </p:sp>
        <p:sp>
          <p:nvSpPr>
            <p:cNvPr name="TextBox 18" id="18"/>
            <p:cNvSpPr txBox="true"/>
            <p:nvPr/>
          </p:nvSpPr>
          <p:spPr>
            <a:xfrm>
              <a:off x="0" y="-85725"/>
              <a:ext cx="812800" cy="1975562"/>
            </a:xfrm>
            <a:prstGeom prst="rect">
              <a:avLst/>
            </a:prstGeom>
          </p:spPr>
          <p:txBody>
            <a:bodyPr anchor="ctr" rtlCol="false" tIns="50800" lIns="50800" bIns="50800" rIns="50800"/>
            <a:lstStyle/>
            <a:p>
              <a:pPr algn="ctr">
                <a:lnSpc>
                  <a:spcPts val="2946"/>
                </a:lnSpc>
              </a:pPr>
            </a:p>
          </p:txBody>
        </p:sp>
      </p:grpSp>
      <p:grpSp>
        <p:nvGrpSpPr>
          <p:cNvPr name="Group 19" id="19"/>
          <p:cNvGrpSpPr/>
          <p:nvPr/>
        </p:nvGrpSpPr>
        <p:grpSpPr>
          <a:xfrm rot="0">
            <a:off x="14687550" y="2057781"/>
            <a:ext cx="3253126" cy="7175476"/>
            <a:chOff x="0" y="0"/>
            <a:chExt cx="856790" cy="1889837"/>
          </a:xfrm>
        </p:grpSpPr>
        <p:sp>
          <p:nvSpPr>
            <p:cNvPr name="Freeform 20" id="20"/>
            <p:cNvSpPr/>
            <p:nvPr/>
          </p:nvSpPr>
          <p:spPr>
            <a:xfrm flipH="false" flipV="false" rot="0">
              <a:off x="0" y="0"/>
              <a:ext cx="856790" cy="1889837"/>
            </a:xfrm>
            <a:custGeom>
              <a:avLst/>
              <a:gdLst/>
              <a:ahLst/>
              <a:cxnLst/>
              <a:rect r="r" b="b" t="t" l="l"/>
              <a:pathLst>
                <a:path h="1889837" w="856790">
                  <a:moveTo>
                    <a:pt x="0" y="0"/>
                  </a:moveTo>
                  <a:lnTo>
                    <a:pt x="856790" y="0"/>
                  </a:lnTo>
                  <a:lnTo>
                    <a:pt x="856790" y="1889837"/>
                  </a:lnTo>
                  <a:lnTo>
                    <a:pt x="0" y="1889837"/>
                  </a:lnTo>
                  <a:close/>
                </a:path>
              </a:pathLst>
            </a:custGeom>
            <a:solidFill>
              <a:srgbClr val="0D9488"/>
            </a:solidFill>
          </p:spPr>
        </p:sp>
        <p:sp>
          <p:nvSpPr>
            <p:cNvPr name="TextBox 21" id="21"/>
            <p:cNvSpPr txBox="true"/>
            <p:nvPr/>
          </p:nvSpPr>
          <p:spPr>
            <a:xfrm>
              <a:off x="0" y="-85725"/>
              <a:ext cx="856790" cy="1975562"/>
            </a:xfrm>
            <a:prstGeom prst="rect">
              <a:avLst/>
            </a:prstGeom>
          </p:spPr>
          <p:txBody>
            <a:bodyPr anchor="ctr" rtlCol="false" tIns="50800" lIns="50800" bIns="50800" rIns="50800"/>
            <a:lstStyle/>
            <a:p>
              <a:pPr algn="ctr">
                <a:lnSpc>
                  <a:spcPts val="2946"/>
                </a:lnSpc>
              </a:pPr>
            </a:p>
          </p:txBody>
        </p:sp>
      </p:grpSp>
      <p:sp>
        <p:nvSpPr>
          <p:cNvPr name="TextBox 22" id="22"/>
          <p:cNvSpPr txBox="true"/>
          <p:nvPr/>
        </p:nvSpPr>
        <p:spPr>
          <a:xfrm rot="0">
            <a:off x="11144250" y="1865133"/>
            <a:ext cx="3086100" cy="7632575"/>
          </a:xfrm>
          <a:prstGeom prst="rect">
            <a:avLst/>
          </a:prstGeom>
        </p:spPr>
        <p:txBody>
          <a:bodyPr anchor="t" rtlCol="false" tIns="0" lIns="0" bIns="0" rIns="0">
            <a:spAutoFit/>
          </a:bodyPr>
          <a:lstStyle/>
          <a:p>
            <a:pPr algn="ctr">
              <a:lnSpc>
                <a:spcPts val="7706"/>
              </a:lnSpc>
            </a:pPr>
            <a:r>
              <a:rPr lang="en-US" b="true" sz="5504" spc="60">
                <a:solidFill>
                  <a:srgbClr val="FFFFFF"/>
                </a:solidFill>
                <a:latin typeface="Calibri (MS) Bold"/>
                <a:ea typeface="Calibri (MS) Bold"/>
                <a:cs typeface="Calibri (MS) Bold"/>
                <a:sym typeface="Calibri (MS) Bold"/>
              </a:rPr>
              <a:t>04</a:t>
            </a:r>
          </a:p>
          <a:p>
            <a:pPr algn="ctr">
              <a:lnSpc>
                <a:spcPts val="6306"/>
              </a:lnSpc>
            </a:pPr>
            <a:r>
              <a:rPr lang="en-US" b="true" sz="4504" spc="49">
                <a:solidFill>
                  <a:srgbClr val="000000"/>
                </a:solidFill>
                <a:latin typeface="Calibri (MS) Bold"/>
                <a:ea typeface="Calibri (MS) Bold"/>
                <a:cs typeface="Calibri (MS) Bold"/>
                <a:sym typeface="Calibri (MS) Bold"/>
              </a:rPr>
              <a:t>Power BI</a:t>
            </a:r>
          </a:p>
          <a:p>
            <a:pPr algn="ctr">
              <a:lnSpc>
                <a:spcPts val="4346"/>
              </a:lnSpc>
            </a:pPr>
            <a:r>
              <a:rPr lang="en-US" sz="3104" spc="34">
                <a:solidFill>
                  <a:srgbClr val="000000"/>
                </a:solidFill>
                <a:latin typeface="Calibri (MS)"/>
                <a:ea typeface="Calibri (MS)"/>
                <a:cs typeface="Calibri (MS)"/>
                <a:sym typeface="Calibri (MS)"/>
              </a:rPr>
              <a:t>3-Page Dashboard</a:t>
            </a:r>
          </a:p>
          <a:p>
            <a:pPr algn="ctr">
              <a:lnSpc>
                <a:spcPts val="4346"/>
              </a:lnSpc>
            </a:pPr>
          </a:p>
          <a:p>
            <a:pPr algn="ctr">
              <a:lnSpc>
                <a:spcPts val="4346"/>
              </a:lnSpc>
            </a:pPr>
          </a:p>
          <a:p>
            <a:pPr algn="l" marL="670363" indent="-335182" lvl="1">
              <a:lnSpc>
                <a:spcPts val="4346"/>
              </a:lnSpc>
              <a:buFont typeface="Arial"/>
              <a:buChar char="•"/>
            </a:pPr>
            <a:r>
              <a:rPr lang="en-US" sz="3104" spc="34">
                <a:solidFill>
                  <a:srgbClr val="000000"/>
                </a:solidFill>
                <a:latin typeface="Calibri (MS)"/>
                <a:ea typeface="Calibri (MS)"/>
                <a:cs typeface="Calibri (MS)"/>
                <a:sym typeface="Calibri (MS)"/>
              </a:rPr>
              <a:t>Interactive slicers</a:t>
            </a:r>
          </a:p>
          <a:p>
            <a:pPr algn="l" marL="670363" indent="-335182" lvl="1">
              <a:lnSpc>
                <a:spcPts val="4346"/>
              </a:lnSpc>
              <a:buFont typeface="Arial"/>
              <a:buChar char="•"/>
            </a:pPr>
            <a:r>
              <a:rPr lang="en-US" sz="3104" spc="34">
                <a:solidFill>
                  <a:srgbClr val="000000"/>
                </a:solidFill>
                <a:latin typeface="Calibri (MS)"/>
                <a:ea typeface="Calibri (MS)"/>
                <a:cs typeface="Calibri (MS)"/>
                <a:sym typeface="Calibri (MS)"/>
              </a:rPr>
              <a:t>Navigation buttons</a:t>
            </a:r>
          </a:p>
          <a:p>
            <a:pPr algn="l" marL="670363" indent="-335182" lvl="1">
              <a:lnSpc>
                <a:spcPts val="4346"/>
              </a:lnSpc>
              <a:buFont typeface="Arial"/>
              <a:buChar char="•"/>
            </a:pPr>
            <a:r>
              <a:rPr lang="en-US" sz="3104" spc="34">
                <a:solidFill>
                  <a:srgbClr val="000000"/>
                </a:solidFill>
                <a:latin typeface="Calibri (MS)"/>
                <a:ea typeface="Calibri (MS)"/>
                <a:cs typeface="Calibri (MS)"/>
                <a:sym typeface="Calibri (MS)"/>
              </a:rPr>
              <a:t>KPI cards + 15+ visuals</a:t>
            </a:r>
          </a:p>
          <a:p>
            <a:pPr algn="ctr">
              <a:lnSpc>
                <a:spcPts val="7706"/>
              </a:lnSpc>
              <a:spcBef>
                <a:spcPct val="0"/>
              </a:spcBef>
            </a:pPr>
          </a:p>
        </p:txBody>
      </p:sp>
      <p:sp>
        <p:nvSpPr>
          <p:cNvPr name="TextBox 23" id="23"/>
          <p:cNvSpPr txBox="true"/>
          <p:nvPr/>
        </p:nvSpPr>
        <p:spPr>
          <a:xfrm rot="0">
            <a:off x="14687550" y="1829181"/>
            <a:ext cx="3253126" cy="7213475"/>
          </a:xfrm>
          <a:prstGeom prst="rect">
            <a:avLst/>
          </a:prstGeom>
        </p:spPr>
        <p:txBody>
          <a:bodyPr anchor="t" rtlCol="false" tIns="0" lIns="0" bIns="0" rIns="0">
            <a:spAutoFit/>
          </a:bodyPr>
          <a:lstStyle/>
          <a:p>
            <a:pPr algn="ctr">
              <a:lnSpc>
                <a:spcPts val="7706"/>
              </a:lnSpc>
            </a:pPr>
            <a:r>
              <a:rPr lang="en-US" b="true" sz="5504" spc="60">
                <a:solidFill>
                  <a:srgbClr val="FFFFFF"/>
                </a:solidFill>
                <a:latin typeface="Calibri (MS) Bold"/>
                <a:ea typeface="Calibri (MS) Bold"/>
                <a:cs typeface="Calibri (MS) Bold"/>
                <a:sym typeface="Calibri (MS) Bold"/>
              </a:rPr>
              <a:t>05</a:t>
            </a:r>
          </a:p>
          <a:p>
            <a:pPr algn="ctr">
              <a:lnSpc>
                <a:spcPts val="4626"/>
              </a:lnSpc>
            </a:pPr>
            <a:r>
              <a:rPr lang="en-US" b="true" sz="3304" spc="36">
                <a:solidFill>
                  <a:srgbClr val="000000"/>
                </a:solidFill>
                <a:latin typeface="Calibri (MS) Bold"/>
                <a:ea typeface="Calibri (MS) Bold"/>
                <a:cs typeface="Calibri (MS) Bold"/>
                <a:sym typeface="Calibri (MS) Bold"/>
              </a:rPr>
              <a:t>Insights &amp; Report</a:t>
            </a:r>
          </a:p>
          <a:p>
            <a:pPr algn="ctr">
              <a:lnSpc>
                <a:spcPts val="4346"/>
              </a:lnSpc>
            </a:pPr>
            <a:r>
              <a:rPr lang="en-US" sz="3104" spc="34">
                <a:solidFill>
                  <a:srgbClr val="000000"/>
                </a:solidFill>
                <a:latin typeface="Calibri (MS)"/>
                <a:ea typeface="Calibri (MS)"/>
                <a:cs typeface="Calibri (MS)"/>
                <a:sym typeface="Calibri (MS)"/>
              </a:rPr>
              <a:t>This Presentation</a:t>
            </a:r>
          </a:p>
          <a:p>
            <a:pPr algn="ctr">
              <a:lnSpc>
                <a:spcPts val="4346"/>
              </a:lnSpc>
            </a:pPr>
          </a:p>
          <a:p>
            <a:pPr algn="ctr">
              <a:lnSpc>
                <a:spcPts val="4346"/>
              </a:lnSpc>
            </a:pPr>
          </a:p>
          <a:p>
            <a:pPr algn="ctr">
              <a:lnSpc>
                <a:spcPts val="4346"/>
              </a:lnSpc>
            </a:pPr>
          </a:p>
          <a:p>
            <a:pPr algn="l" marL="713542" indent="-356771" lvl="1">
              <a:lnSpc>
                <a:spcPts val="4032"/>
              </a:lnSpc>
              <a:buFont typeface="Arial"/>
              <a:buChar char="•"/>
            </a:pPr>
            <a:r>
              <a:rPr lang="en-US" sz="3304" spc="36">
                <a:solidFill>
                  <a:srgbClr val="000000"/>
                </a:solidFill>
                <a:latin typeface="Calibri (MS)"/>
                <a:ea typeface="Calibri (MS)"/>
                <a:cs typeface="Calibri (MS)"/>
                <a:sym typeface="Calibri (MS)"/>
              </a:rPr>
              <a:t>5 key findings</a:t>
            </a:r>
          </a:p>
          <a:p>
            <a:pPr algn="l" marL="713542" indent="-356771" lvl="1">
              <a:lnSpc>
                <a:spcPts val="4032"/>
              </a:lnSpc>
              <a:buFont typeface="Arial"/>
              <a:buChar char="•"/>
            </a:pPr>
            <a:r>
              <a:rPr lang="en-US" sz="3304" spc="36">
                <a:solidFill>
                  <a:srgbClr val="000000"/>
                </a:solidFill>
                <a:latin typeface="Calibri (MS)"/>
                <a:ea typeface="Calibri (MS)"/>
                <a:cs typeface="Calibri (MS)"/>
                <a:sym typeface="Calibri (MS)"/>
              </a:rPr>
              <a:t>5 strategic </a:t>
            </a:r>
          </a:p>
          <a:p>
            <a:pPr algn="l">
              <a:lnSpc>
                <a:spcPts val="4032"/>
              </a:lnSpc>
            </a:pPr>
            <a:r>
              <a:rPr lang="en-US" sz="3304" spc="36">
                <a:solidFill>
                  <a:srgbClr val="000000"/>
                </a:solidFill>
                <a:latin typeface="Calibri (MS)"/>
                <a:ea typeface="Calibri (MS)"/>
                <a:cs typeface="Calibri (MS)"/>
                <a:sym typeface="Calibri (MS)"/>
              </a:rPr>
              <a:t>recommendations</a:t>
            </a:r>
          </a:p>
          <a:p>
            <a:pPr algn="l" marL="713542" indent="-356771" lvl="1">
              <a:lnSpc>
                <a:spcPts val="4032"/>
              </a:lnSpc>
              <a:buFont typeface="Arial"/>
              <a:buChar char="•"/>
            </a:pPr>
            <a:r>
              <a:rPr lang="en-US" sz="3304" spc="36">
                <a:solidFill>
                  <a:srgbClr val="000000"/>
                </a:solidFill>
                <a:latin typeface="Calibri (MS)"/>
                <a:ea typeface="Calibri (MS)"/>
                <a:cs typeface="Calibri (MS)"/>
                <a:sym typeface="Calibri (MS)"/>
              </a:rPr>
              <a:t>Executive summary</a:t>
            </a:r>
          </a:p>
          <a:p>
            <a:pPr algn="ctr">
              <a:lnSpc>
                <a:spcPts val="770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5DAF5"/>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31" y="1889246"/>
            <a:ext cx="4127506" cy="2279656"/>
          </a:xfrm>
          <a:custGeom>
            <a:avLst/>
            <a:gdLst/>
            <a:ahLst/>
            <a:cxnLst/>
            <a:rect r="r" b="b" t="t" l="l"/>
            <a:pathLst>
              <a:path h="2279656" w="4127506">
                <a:moveTo>
                  <a:pt x="0" y="0"/>
                </a:moveTo>
                <a:lnTo>
                  <a:pt x="4127507" y="0"/>
                </a:lnTo>
                <a:lnTo>
                  <a:pt x="4127507" y="2279656"/>
                </a:lnTo>
                <a:lnTo>
                  <a:pt x="0" y="22796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803896" y="1889246"/>
            <a:ext cx="4127506" cy="2279656"/>
          </a:xfrm>
          <a:custGeom>
            <a:avLst/>
            <a:gdLst/>
            <a:ahLst/>
            <a:cxnLst/>
            <a:rect r="r" b="b" t="t" l="l"/>
            <a:pathLst>
              <a:path h="2279656" w="4127506">
                <a:moveTo>
                  <a:pt x="0" y="0"/>
                </a:moveTo>
                <a:lnTo>
                  <a:pt x="4127506" y="0"/>
                </a:lnTo>
                <a:lnTo>
                  <a:pt x="4127506" y="2279656"/>
                </a:lnTo>
                <a:lnTo>
                  <a:pt x="0" y="22796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013946" y="1889246"/>
            <a:ext cx="4127506" cy="2279656"/>
          </a:xfrm>
          <a:custGeom>
            <a:avLst/>
            <a:gdLst/>
            <a:ahLst/>
            <a:cxnLst/>
            <a:rect r="r" b="b" t="t" l="l"/>
            <a:pathLst>
              <a:path h="2279656" w="4127506">
                <a:moveTo>
                  <a:pt x="0" y="0"/>
                </a:moveTo>
                <a:lnTo>
                  <a:pt x="4127506" y="0"/>
                </a:lnTo>
                <a:lnTo>
                  <a:pt x="4127506" y="2279656"/>
                </a:lnTo>
                <a:lnTo>
                  <a:pt x="0" y="2279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223996" y="1889246"/>
            <a:ext cx="4108456" cy="2279656"/>
          </a:xfrm>
          <a:custGeom>
            <a:avLst/>
            <a:gdLst/>
            <a:ahLst/>
            <a:cxnLst/>
            <a:rect r="r" b="b" t="t" l="l"/>
            <a:pathLst>
              <a:path h="2279656" w="4108456">
                <a:moveTo>
                  <a:pt x="0" y="0"/>
                </a:moveTo>
                <a:lnTo>
                  <a:pt x="4108456" y="0"/>
                </a:lnTo>
                <a:lnTo>
                  <a:pt x="4108456" y="2279656"/>
                </a:lnTo>
                <a:lnTo>
                  <a:pt x="0" y="22796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93731" y="4251331"/>
            <a:ext cx="8337556" cy="5594356"/>
          </a:xfrm>
          <a:custGeom>
            <a:avLst/>
            <a:gdLst/>
            <a:ahLst/>
            <a:cxnLst/>
            <a:rect r="r" b="b" t="t" l="l"/>
            <a:pathLst>
              <a:path h="5594356" w="8337556">
                <a:moveTo>
                  <a:pt x="0" y="0"/>
                </a:moveTo>
                <a:lnTo>
                  <a:pt x="8337557" y="0"/>
                </a:lnTo>
                <a:lnTo>
                  <a:pt x="8337557" y="5594357"/>
                </a:lnTo>
                <a:lnTo>
                  <a:pt x="0" y="55943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 id="8"/>
          <p:cNvGrpSpPr/>
          <p:nvPr/>
        </p:nvGrpSpPr>
        <p:grpSpPr>
          <a:xfrm rot="0">
            <a:off x="438150" y="1847717"/>
            <a:ext cx="17307058" cy="8144008"/>
            <a:chOff x="0" y="0"/>
            <a:chExt cx="11538039" cy="5429339"/>
          </a:xfrm>
        </p:grpSpPr>
        <p:sp>
          <p:nvSpPr>
            <p:cNvPr name="Freeform 9" id="9"/>
            <p:cNvSpPr/>
            <p:nvPr/>
          </p:nvSpPr>
          <p:spPr>
            <a:xfrm flipH="false" flipV="false" rot="0">
              <a:off x="0" y="0"/>
              <a:ext cx="11538077" cy="5429377"/>
            </a:xfrm>
            <a:custGeom>
              <a:avLst/>
              <a:gdLst/>
              <a:ahLst/>
              <a:cxnLst/>
              <a:rect r="r" b="b" t="t" l="l"/>
              <a:pathLst>
                <a:path h="5429377" w="11538077">
                  <a:moveTo>
                    <a:pt x="0" y="0"/>
                  </a:moveTo>
                  <a:lnTo>
                    <a:pt x="11538077" y="0"/>
                  </a:lnTo>
                  <a:lnTo>
                    <a:pt x="11538077" y="5429377"/>
                  </a:lnTo>
                  <a:lnTo>
                    <a:pt x="0" y="5429377"/>
                  </a:lnTo>
                  <a:lnTo>
                    <a:pt x="0" y="0"/>
                  </a:lnTo>
                  <a:close/>
                </a:path>
              </a:pathLst>
            </a:custGeom>
            <a:blipFill>
              <a:blip r:embed="rId14"/>
              <a:stretch>
                <a:fillRect l="0" t="0" r="0" b="0"/>
              </a:stretch>
            </a:blipFill>
          </p:spPr>
        </p:sp>
      </p:grpSp>
      <p:sp>
        <p:nvSpPr>
          <p:cNvPr name="Freeform 10" id="10"/>
          <p:cNvSpPr/>
          <p:nvPr/>
        </p:nvSpPr>
        <p:spPr>
          <a:xfrm flipH="false" flipV="false" rot="0">
            <a:off x="9405242" y="4251331"/>
            <a:ext cx="8337556" cy="5594356"/>
          </a:xfrm>
          <a:custGeom>
            <a:avLst/>
            <a:gdLst/>
            <a:ahLst/>
            <a:cxnLst/>
            <a:rect r="r" b="b" t="t" l="l"/>
            <a:pathLst>
              <a:path h="5594356" w="8337556">
                <a:moveTo>
                  <a:pt x="0" y="0"/>
                </a:moveTo>
                <a:lnTo>
                  <a:pt x="8337557" y="0"/>
                </a:lnTo>
                <a:lnTo>
                  <a:pt x="8337557" y="5594357"/>
                </a:lnTo>
                <a:lnTo>
                  <a:pt x="0" y="559435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0">
            <a:off x="732149" y="261518"/>
            <a:ext cx="10487177" cy="917181"/>
          </a:xfrm>
          <a:prstGeom prst="rect">
            <a:avLst/>
          </a:prstGeom>
        </p:spPr>
        <p:txBody>
          <a:bodyPr anchor="t" rtlCol="false" tIns="0" lIns="0" bIns="0" rIns="0">
            <a:spAutoFit/>
          </a:bodyPr>
          <a:lstStyle/>
          <a:p>
            <a:pPr algn="l">
              <a:lnSpc>
                <a:spcPts val="6733"/>
              </a:lnSpc>
            </a:pPr>
            <a:r>
              <a:rPr lang="en-US" b="true" sz="4809">
                <a:solidFill>
                  <a:srgbClr val="FFFFFF"/>
                </a:solidFill>
                <a:latin typeface="Calibri (MS) Bold"/>
                <a:ea typeface="Calibri (MS) Bold"/>
                <a:cs typeface="Calibri (MS) Bold"/>
                <a:sym typeface="Calibri (MS) Bold"/>
              </a:rPr>
              <a:t>Dataset Overview &amp; Feature Engineering</a:t>
            </a:r>
          </a:p>
        </p:txBody>
      </p:sp>
      <p:sp>
        <p:nvSpPr>
          <p:cNvPr name="TextBox 12" id="12"/>
          <p:cNvSpPr txBox="true"/>
          <p:nvPr/>
        </p:nvSpPr>
        <p:spPr>
          <a:xfrm rot="0">
            <a:off x="1666246" y="2465070"/>
            <a:ext cx="2008842" cy="1183824"/>
          </a:xfrm>
          <a:prstGeom prst="rect">
            <a:avLst/>
          </a:prstGeom>
        </p:spPr>
        <p:txBody>
          <a:bodyPr anchor="t" rtlCol="false" tIns="0" lIns="0" bIns="0" rIns="0">
            <a:spAutoFit/>
          </a:bodyPr>
          <a:lstStyle/>
          <a:p>
            <a:pPr algn="ctr">
              <a:lnSpc>
                <a:spcPts val="2629"/>
              </a:lnSpc>
            </a:pPr>
            <a:r>
              <a:rPr lang="en-US" b="true" sz="5259">
                <a:solidFill>
                  <a:srgbClr val="FFFFFF"/>
                </a:solidFill>
                <a:latin typeface="Calibri (MS) Bold"/>
                <a:ea typeface="Calibri (MS) Bold"/>
                <a:cs typeface="Calibri (MS) Bold"/>
                <a:sym typeface="Calibri (MS) Bold"/>
              </a:rPr>
              <a:t>3,900</a:t>
            </a:r>
          </a:p>
          <a:p>
            <a:pPr algn="ctr">
              <a:lnSpc>
                <a:spcPts val="5262"/>
              </a:lnSpc>
            </a:pPr>
            <a:r>
              <a:rPr lang="en-US" sz="2104">
                <a:solidFill>
                  <a:srgbClr val="FFFFFF"/>
                </a:solidFill>
                <a:latin typeface="Calibri (MS)"/>
                <a:ea typeface="Calibri (MS)"/>
                <a:cs typeface="Calibri (MS)"/>
                <a:sym typeface="Calibri (MS)"/>
              </a:rPr>
              <a:t>Total Transactions</a:t>
            </a:r>
          </a:p>
        </p:txBody>
      </p:sp>
      <p:sp>
        <p:nvSpPr>
          <p:cNvPr name="TextBox 13" id="13"/>
          <p:cNvSpPr txBox="true"/>
          <p:nvPr/>
        </p:nvSpPr>
        <p:spPr>
          <a:xfrm rot="0">
            <a:off x="5416048" y="2017395"/>
            <a:ext cx="2944139" cy="1631499"/>
          </a:xfrm>
          <a:prstGeom prst="rect">
            <a:avLst/>
          </a:prstGeom>
        </p:spPr>
        <p:txBody>
          <a:bodyPr anchor="t" rtlCol="false" tIns="0" lIns="0" bIns="0" rIns="0">
            <a:spAutoFit/>
          </a:bodyPr>
          <a:lstStyle/>
          <a:p>
            <a:pPr algn="ctr">
              <a:lnSpc>
                <a:spcPts val="7363"/>
              </a:lnSpc>
            </a:pPr>
            <a:r>
              <a:rPr lang="en-US" b="true" sz="5259" spc="31">
                <a:solidFill>
                  <a:srgbClr val="FFFFFF"/>
                </a:solidFill>
                <a:latin typeface="Calibri (MS) Bold"/>
                <a:ea typeface="Calibri (MS) Bold"/>
                <a:cs typeface="Calibri (MS) Bold"/>
                <a:sym typeface="Calibri (MS) Bold"/>
              </a:rPr>
              <a:t>26</a:t>
            </a:r>
          </a:p>
          <a:p>
            <a:pPr algn="ctr">
              <a:lnSpc>
                <a:spcPts val="2946"/>
              </a:lnSpc>
            </a:pPr>
            <a:r>
              <a:rPr lang="en-US" sz="2104">
                <a:solidFill>
                  <a:srgbClr val="FFFFFF"/>
                </a:solidFill>
                <a:latin typeface="Calibri (MS)"/>
                <a:ea typeface="Calibri (MS)"/>
                <a:cs typeface="Calibri (MS)"/>
                <a:sym typeface="Calibri (MS)"/>
              </a:rPr>
              <a:t>Columns After Engineering</a:t>
            </a:r>
          </a:p>
        </p:txBody>
      </p:sp>
      <p:sp>
        <p:nvSpPr>
          <p:cNvPr name="TextBox 14" id="14"/>
          <p:cNvSpPr txBox="true"/>
          <p:nvPr/>
        </p:nvSpPr>
        <p:spPr>
          <a:xfrm rot="0">
            <a:off x="6349041" y="3244082"/>
            <a:ext cx="61627" cy="407918"/>
          </a:xfrm>
          <a:prstGeom prst="rect">
            <a:avLst/>
          </a:prstGeom>
        </p:spPr>
        <p:txBody>
          <a:bodyPr anchor="t" rtlCol="false" tIns="0" lIns="0" bIns="0" rIns="0">
            <a:spAutoFit/>
          </a:bodyPr>
          <a:lstStyle/>
          <a:p>
            <a:pPr algn="l">
              <a:lnSpc>
                <a:spcPts val="2946"/>
              </a:lnSpc>
            </a:pPr>
            <a:r>
              <a:rPr lang="en-US" sz="2104">
                <a:solidFill>
                  <a:srgbClr val="FFFFFF"/>
                </a:solidFill>
                <a:latin typeface="Calibri (MS)"/>
                <a:ea typeface="Calibri (MS)"/>
                <a:cs typeface="Calibri (MS)"/>
                <a:sym typeface="Calibri (MS)"/>
              </a:rPr>
              <a:t> </a:t>
            </a:r>
          </a:p>
        </p:txBody>
      </p:sp>
      <p:sp>
        <p:nvSpPr>
          <p:cNvPr name="TextBox 15" id="15"/>
          <p:cNvSpPr txBox="true"/>
          <p:nvPr/>
        </p:nvSpPr>
        <p:spPr>
          <a:xfrm rot="0">
            <a:off x="10227316" y="2465070"/>
            <a:ext cx="1731378" cy="1183824"/>
          </a:xfrm>
          <a:prstGeom prst="rect">
            <a:avLst/>
          </a:prstGeom>
        </p:spPr>
        <p:txBody>
          <a:bodyPr anchor="t" rtlCol="false" tIns="0" lIns="0" bIns="0" rIns="0">
            <a:spAutoFit/>
          </a:bodyPr>
          <a:lstStyle/>
          <a:p>
            <a:pPr algn="ctr">
              <a:lnSpc>
                <a:spcPts val="2629"/>
              </a:lnSpc>
            </a:pPr>
            <a:r>
              <a:rPr lang="en-US" b="true" sz="5259">
                <a:solidFill>
                  <a:srgbClr val="FFFFFF"/>
                </a:solidFill>
                <a:latin typeface="Calibri (MS) Bold"/>
                <a:ea typeface="Calibri (MS) Bold"/>
                <a:cs typeface="Calibri (MS) Bold"/>
                <a:sym typeface="Calibri (MS) Bold"/>
              </a:rPr>
              <a:t>$233K</a:t>
            </a:r>
          </a:p>
          <a:p>
            <a:pPr algn="ctr">
              <a:lnSpc>
                <a:spcPts val="5262"/>
              </a:lnSpc>
            </a:pPr>
            <a:r>
              <a:rPr lang="en-US" sz="2104" spc="4">
                <a:solidFill>
                  <a:srgbClr val="FFFFFF"/>
                </a:solidFill>
                <a:latin typeface="Calibri (MS)"/>
                <a:ea typeface="Calibri (MS)"/>
                <a:cs typeface="Calibri (MS)"/>
                <a:sym typeface="Calibri (MS)"/>
              </a:rPr>
              <a:t>Total Revenue</a:t>
            </a:r>
          </a:p>
        </p:txBody>
      </p:sp>
      <p:sp>
        <p:nvSpPr>
          <p:cNvPr name="TextBox 16" id="16"/>
          <p:cNvSpPr txBox="true"/>
          <p:nvPr/>
        </p:nvSpPr>
        <p:spPr>
          <a:xfrm rot="0">
            <a:off x="14362938" y="2465070"/>
            <a:ext cx="1879244" cy="1183824"/>
          </a:xfrm>
          <a:prstGeom prst="rect">
            <a:avLst/>
          </a:prstGeom>
        </p:spPr>
        <p:txBody>
          <a:bodyPr anchor="t" rtlCol="false" tIns="0" lIns="0" bIns="0" rIns="0">
            <a:spAutoFit/>
          </a:bodyPr>
          <a:lstStyle/>
          <a:p>
            <a:pPr algn="l">
              <a:lnSpc>
                <a:spcPts val="2629"/>
              </a:lnSpc>
            </a:pPr>
            <a:r>
              <a:rPr lang="en-US" b="true" sz="5259">
                <a:solidFill>
                  <a:srgbClr val="FFFFFF"/>
                </a:solidFill>
                <a:latin typeface="Calibri (MS) Bold"/>
                <a:ea typeface="Calibri (MS) Bold"/>
                <a:cs typeface="Calibri (MS) Bold"/>
                <a:sym typeface="Calibri (MS) Bold"/>
              </a:rPr>
              <a:t>$59.76</a:t>
            </a:r>
          </a:p>
          <a:p>
            <a:pPr algn="l">
              <a:lnSpc>
                <a:spcPts val="5262"/>
              </a:lnSpc>
            </a:pPr>
            <a:r>
              <a:rPr lang="en-US" sz="2104" spc="2">
                <a:solidFill>
                  <a:srgbClr val="FFFFFF"/>
                </a:solidFill>
                <a:latin typeface="Calibri (MS)"/>
                <a:ea typeface="Calibri (MS)"/>
                <a:cs typeface="Calibri (MS)"/>
                <a:sym typeface="Calibri (MS)"/>
              </a:rPr>
              <a:t>Avg Order Value</a:t>
            </a:r>
          </a:p>
        </p:txBody>
      </p:sp>
      <p:sp>
        <p:nvSpPr>
          <p:cNvPr name="TextBox 17" id="17"/>
          <p:cNvSpPr txBox="true"/>
          <p:nvPr/>
        </p:nvSpPr>
        <p:spPr>
          <a:xfrm rot="0">
            <a:off x="10105396" y="5264525"/>
            <a:ext cx="1575816" cy="1025766"/>
          </a:xfrm>
          <a:prstGeom prst="rect">
            <a:avLst/>
          </a:prstGeom>
        </p:spPr>
        <p:txBody>
          <a:bodyPr anchor="t" rtlCol="false" tIns="0" lIns="0" bIns="0" rIns="0">
            <a:spAutoFit/>
          </a:bodyPr>
          <a:lstStyle/>
          <a:p>
            <a:pPr algn="l">
              <a:lnSpc>
                <a:spcPts val="4039"/>
              </a:lnSpc>
            </a:pPr>
            <a:r>
              <a:rPr lang="en-US" b="true" sz="2104">
                <a:solidFill>
                  <a:srgbClr val="0D9488"/>
                </a:solidFill>
                <a:latin typeface="Calibri (MS) Bold"/>
                <a:ea typeface="Calibri (MS) Bold"/>
                <a:cs typeface="Calibri (MS) Bold"/>
                <a:sym typeface="Calibri (MS) Bold"/>
              </a:rPr>
              <a:t>Age Group Repeat Buyer </a:t>
            </a:r>
          </a:p>
        </p:txBody>
      </p:sp>
      <p:sp>
        <p:nvSpPr>
          <p:cNvPr name="TextBox 18" id="18"/>
          <p:cNvSpPr txBox="true"/>
          <p:nvPr/>
        </p:nvSpPr>
        <p:spPr>
          <a:xfrm rot="0">
            <a:off x="13154158" y="5264525"/>
            <a:ext cx="4300728" cy="3078080"/>
          </a:xfrm>
          <a:prstGeom prst="rect">
            <a:avLst/>
          </a:prstGeom>
        </p:spPr>
        <p:txBody>
          <a:bodyPr anchor="t" rtlCol="false" tIns="0" lIns="0" bIns="0" rIns="0">
            <a:spAutoFit/>
          </a:bodyPr>
          <a:lstStyle/>
          <a:p>
            <a:pPr algn="l">
              <a:lnSpc>
                <a:spcPts val="4039"/>
              </a:lnSpc>
            </a:pPr>
            <a:r>
              <a:rPr lang="en-US" sz="2104">
                <a:solidFill>
                  <a:srgbClr val="1E293B"/>
                </a:solidFill>
                <a:latin typeface="Calibri (MS)"/>
                <a:ea typeface="Calibri (MS)"/>
                <a:cs typeface="Calibri (MS)"/>
                <a:sym typeface="Calibri (MS)"/>
              </a:rPr>
              <a:t>Under 18 , 18–25 , 26–35 , 36–50 , 50+ Yes/No flag from Previous Purchases New / Occasional / Regular / Loyal</a:t>
            </a:r>
          </a:p>
          <a:p>
            <a:pPr algn="l">
              <a:lnSpc>
                <a:spcPts val="4039"/>
              </a:lnSpc>
            </a:pPr>
            <a:r>
              <a:rPr lang="en-US" sz="2104">
                <a:solidFill>
                  <a:srgbClr val="1E293B"/>
                </a:solidFill>
                <a:latin typeface="Calibri (MS)"/>
                <a:ea typeface="Calibri (MS)"/>
                <a:cs typeface="Calibri (MS)"/>
                <a:sym typeface="Calibri (MS)"/>
              </a:rPr>
              <a:t>Low / Medium / High (quantile-based) Combined Discount + Promo flag Numeric visits per year</a:t>
            </a:r>
          </a:p>
        </p:txBody>
      </p:sp>
      <p:sp>
        <p:nvSpPr>
          <p:cNvPr name="TextBox 19" id="19"/>
          <p:cNvSpPr txBox="true"/>
          <p:nvPr/>
        </p:nvSpPr>
        <p:spPr>
          <a:xfrm rot="0">
            <a:off x="10105396" y="6400771"/>
            <a:ext cx="2721905" cy="366941"/>
          </a:xfrm>
          <a:prstGeom prst="rect">
            <a:avLst/>
          </a:prstGeom>
        </p:spPr>
        <p:txBody>
          <a:bodyPr anchor="t" rtlCol="false" tIns="0" lIns="0" bIns="0" rIns="0">
            <a:spAutoFit/>
          </a:bodyPr>
          <a:lstStyle/>
          <a:p>
            <a:pPr algn="l">
              <a:lnSpc>
                <a:spcPts val="2555"/>
              </a:lnSpc>
            </a:pPr>
            <a:r>
              <a:rPr lang="en-US" b="true" sz="2100" spc="2">
                <a:solidFill>
                  <a:srgbClr val="0D9488"/>
                </a:solidFill>
                <a:latin typeface="Calibri (MS) Bold"/>
                <a:ea typeface="Calibri (MS) Bold"/>
                <a:cs typeface="Calibri (MS) Bold"/>
                <a:sym typeface="Calibri (MS) Bold"/>
              </a:rPr>
              <a:t>Purchase Freq. Segment </a:t>
            </a:r>
          </a:p>
        </p:txBody>
      </p:sp>
      <p:sp>
        <p:nvSpPr>
          <p:cNvPr name="TextBox 20" id="20"/>
          <p:cNvSpPr txBox="true"/>
          <p:nvPr/>
        </p:nvSpPr>
        <p:spPr>
          <a:xfrm rot="0">
            <a:off x="10105396" y="6932752"/>
            <a:ext cx="3118599" cy="2337705"/>
          </a:xfrm>
          <a:prstGeom prst="rect">
            <a:avLst/>
          </a:prstGeom>
        </p:spPr>
        <p:txBody>
          <a:bodyPr anchor="t" rtlCol="false" tIns="0" lIns="0" bIns="0" rIns="0">
            <a:spAutoFit/>
          </a:bodyPr>
          <a:lstStyle/>
          <a:p>
            <a:pPr algn="l">
              <a:lnSpc>
                <a:spcPts val="2727"/>
              </a:lnSpc>
            </a:pPr>
            <a:r>
              <a:rPr lang="en-US" b="true" sz="2156">
                <a:solidFill>
                  <a:srgbClr val="0D9488"/>
                </a:solidFill>
                <a:latin typeface="Calibri (MS) Bold"/>
                <a:ea typeface="Calibri (MS) Bold"/>
                <a:cs typeface="Calibri (MS) Bold"/>
                <a:sym typeface="Calibri (MS) Bold"/>
              </a:rPr>
              <a:t>Purchase Value Segment </a:t>
            </a:r>
          </a:p>
          <a:p>
            <a:pPr algn="l">
              <a:lnSpc>
                <a:spcPts val="4398"/>
              </a:lnSpc>
            </a:pPr>
            <a:r>
              <a:rPr lang="en-US" b="true" sz="2156">
                <a:solidFill>
                  <a:srgbClr val="0D9488"/>
                </a:solidFill>
                <a:latin typeface="Calibri (MS) Bold"/>
                <a:ea typeface="Calibri (MS) Bold"/>
                <a:cs typeface="Calibri (MS) Bold"/>
                <a:sym typeface="Calibri (MS) Bold"/>
              </a:rPr>
              <a:t>Any Discount </a:t>
            </a:r>
          </a:p>
          <a:p>
            <a:pPr algn="l">
              <a:lnSpc>
                <a:spcPts val="4398"/>
              </a:lnSpc>
            </a:pPr>
            <a:r>
              <a:rPr lang="en-US" b="true" sz="2156">
                <a:solidFill>
                  <a:srgbClr val="0D9488"/>
                </a:solidFill>
                <a:latin typeface="Calibri (MS) Bold"/>
                <a:ea typeface="Calibri (MS) Bold"/>
                <a:cs typeface="Calibri (MS) Bold"/>
                <a:sym typeface="Calibri (MS) Bold"/>
              </a:rPr>
              <a:t> Annual Purchase Freq. </a:t>
            </a:r>
          </a:p>
          <a:p>
            <a:pPr algn="l">
              <a:lnSpc>
                <a:spcPts val="3730"/>
              </a:lnSpc>
            </a:pPr>
            <a:r>
              <a:rPr lang="en-US" b="true" sz="2156">
                <a:solidFill>
                  <a:srgbClr val="0D9488"/>
                </a:solidFill>
                <a:latin typeface="Calibri (MS) Bold"/>
                <a:ea typeface="Calibri (MS) Bold"/>
                <a:cs typeface="Calibri (MS) Bold"/>
                <a:sym typeface="Calibri (MS) Bold"/>
              </a:rPr>
              <a:t>Loyalty Score</a:t>
            </a:r>
          </a:p>
          <a:p>
            <a:pPr algn="l">
              <a:lnSpc>
                <a:spcPts val="3739"/>
              </a:lnSpc>
            </a:pPr>
            <a:r>
              <a:rPr lang="en-US" b="true" sz="2161">
                <a:solidFill>
                  <a:srgbClr val="0D9488"/>
                </a:solidFill>
                <a:latin typeface="Calibri (MS) Bold"/>
                <a:ea typeface="Calibri (MS) Bold"/>
                <a:cs typeface="Calibri (MS) Bold"/>
                <a:sym typeface="Calibri (MS) Bold"/>
              </a:rPr>
              <a:t>Est. Historical Spend </a:t>
            </a:r>
          </a:p>
        </p:txBody>
      </p:sp>
      <p:sp>
        <p:nvSpPr>
          <p:cNvPr name="TextBox 21" id="21"/>
          <p:cNvSpPr txBox="true"/>
          <p:nvPr/>
        </p:nvSpPr>
        <p:spPr>
          <a:xfrm rot="0">
            <a:off x="13686530" y="8448408"/>
            <a:ext cx="61474" cy="407137"/>
          </a:xfrm>
          <a:prstGeom prst="rect">
            <a:avLst/>
          </a:prstGeom>
        </p:spPr>
        <p:txBody>
          <a:bodyPr anchor="t" rtlCol="false" tIns="0" lIns="0" bIns="0" rIns="0">
            <a:spAutoFit/>
          </a:bodyPr>
          <a:lstStyle/>
          <a:p>
            <a:pPr algn="l">
              <a:lnSpc>
                <a:spcPts val="2940"/>
              </a:lnSpc>
            </a:pPr>
            <a:r>
              <a:rPr lang="en-US" sz="2100" spc="2">
                <a:solidFill>
                  <a:srgbClr val="1E293B"/>
                </a:solidFill>
                <a:latin typeface="Calibri (MS)"/>
                <a:ea typeface="Calibri (MS)"/>
                <a:cs typeface="Calibri (MS)"/>
                <a:sym typeface="Calibri (MS)"/>
              </a:rPr>
              <a:t> </a:t>
            </a:r>
          </a:p>
        </p:txBody>
      </p:sp>
      <p:sp>
        <p:nvSpPr>
          <p:cNvPr name="TextBox 22" id="22"/>
          <p:cNvSpPr txBox="true"/>
          <p:nvPr/>
        </p:nvSpPr>
        <p:spPr>
          <a:xfrm rot="0">
            <a:off x="3275324" y="4481036"/>
            <a:ext cx="3023445" cy="486308"/>
          </a:xfrm>
          <a:prstGeom prst="rect">
            <a:avLst/>
          </a:prstGeom>
        </p:spPr>
        <p:txBody>
          <a:bodyPr anchor="t" rtlCol="false" tIns="0" lIns="0" bIns="0" rIns="0">
            <a:spAutoFit/>
          </a:bodyPr>
          <a:lstStyle/>
          <a:p>
            <a:pPr algn="l">
              <a:lnSpc>
                <a:spcPts val="3576"/>
              </a:lnSpc>
            </a:pPr>
            <a:r>
              <a:rPr lang="en-US" b="true" sz="2554" spc="22">
                <a:solidFill>
                  <a:srgbClr val="FFFFFF"/>
                </a:solidFill>
                <a:latin typeface="Calibri (MS) Bold"/>
                <a:ea typeface="Calibri (MS) Bold"/>
                <a:cs typeface="Calibri (MS) Bold"/>
                <a:sym typeface="Calibri (MS) Bold"/>
              </a:rPr>
              <a:t>Original Columns (18)</a:t>
            </a:r>
          </a:p>
        </p:txBody>
      </p:sp>
      <p:sp>
        <p:nvSpPr>
          <p:cNvPr name="TextBox 23" id="23"/>
          <p:cNvSpPr txBox="true"/>
          <p:nvPr/>
        </p:nvSpPr>
        <p:spPr>
          <a:xfrm rot="0">
            <a:off x="11843518" y="4481036"/>
            <a:ext cx="3461004" cy="486308"/>
          </a:xfrm>
          <a:prstGeom prst="rect">
            <a:avLst/>
          </a:prstGeom>
        </p:spPr>
        <p:txBody>
          <a:bodyPr anchor="t" rtlCol="false" tIns="0" lIns="0" bIns="0" rIns="0">
            <a:spAutoFit/>
          </a:bodyPr>
          <a:lstStyle/>
          <a:p>
            <a:pPr algn="l">
              <a:lnSpc>
                <a:spcPts val="3576"/>
              </a:lnSpc>
            </a:pPr>
            <a:r>
              <a:rPr lang="en-US" b="true" sz="2554" spc="10">
                <a:solidFill>
                  <a:srgbClr val="FFFFFF"/>
                </a:solidFill>
                <a:latin typeface="Calibri (MS) Bold"/>
                <a:ea typeface="Calibri (MS) Bold"/>
                <a:cs typeface="Calibri (MS) Bold"/>
                <a:sym typeface="Calibri (MS) Bold"/>
              </a:rPr>
              <a:t>Engineered Features (+8)</a:t>
            </a:r>
          </a:p>
        </p:txBody>
      </p:sp>
      <p:sp>
        <p:nvSpPr>
          <p:cNvPr name="TextBox 24" id="24"/>
          <p:cNvSpPr txBox="true"/>
          <p:nvPr/>
        </p:nvSpPr>
        <p:spPr>
          <a:xfrm rot="0">
            <a:off x="1372876" y="5267135"/>
            <a:ext cx="4956067" cy="4117524"/>
          </a:xfrm>
          <a:prstGeom prst="rect">
            <a:avLst/>
          </a:prstGeom>
        </p:spPr>
        <p:txBody>
          <a:bodyPr anchor="t" rtlCol="false" tIns="0" lIns="0" bIns="0" rIns="0">
            <a:spAutoFit/>
          </a:bodyPr>
          <a:lstStyle/>
          <a:p>
            <a:pPr algn="l">
              <a:lnSpc>
                <a:spcPts val="4040"/>
              </a:lnSpc>
            </a:pPr>
            <a:r>
              <a:rPr lang="en-US" sz="2254">
                <a:solidFill>
                  <a:srgbClr val="1E293B"/>
                </a:solidFill>
                <a:latin typeface="Calibri (MS)"/>
                <a:ea typeface="Calibri (MS)"/>
                <a:cs typeface="Calibri (MS)"/>
                <a:sym typeface="Calibri (MS)"/>
              </a:rPr>
              <a:t>Customer ID · Age · Gender</a:t>
            </a:r>
          </a:p>
          <a:p>
            <a:pPr algn="l">
              <a:lnSpc>
                <a:spcPts val="4040"/>
              </a:lnSpc>
            </a:pPr>
            <a:r>
              <a:rPr lang="en-US" sz="2254">
                <a:solidFill>
                  <a:srgbClr val="1E293B"/>
                </a:solidFill>
                <a:latin typeface="Calibri (MS)"/>
                <a:ea typeface="Calibri (MS)"/>
                <a:cs typeface="Calibri (MS)"/>
                <a:sym typeface="Calibri (MS)"/>
              </a:rPr>
              <a:t>Item Purchased · Category</a:t>
            </a:r>
          </a:p>
          <a:p>
            <a:pPr algn="l">
              <a:lnSpc>
                <a:spcPts val="4040"/>
              </a:lnSpc>
            </a:pPr>
            <a:r>
              <a:rPr lang="en-US" sz="2254">
                <a:solidFill>
                  <a:srgbClr val="1E293B"/>
                </a:solidFill>
                <a:latin typeface="Calibri (MS)"/>
                <a:ea typeface="Calibri (MS)"/>
                <a:cs typeface="Calibri (MS)"/>
                <a:sym typeface="Calibri (MS)"/>
              </a:rPr>
              <a:t>Purchase Amount (USD)</a:t>
            </a:r>
          </a:p>
          <a:p>
            <a:pPr algn="l">
              <a:lnSpc>
                <a:spcPts val="4040"/>
              </a:lnSpc>
            </a:pPr>
            <a:r>
              <a:rPr lang="en-US" sz="2254">
                <a:solidFill>
                  <a:srgbClr val="1E293B"/>
                </a:solidFill>
                <a:latin typeface="Calibri (MS)"/>
                <a:ea typeface="Calibri (MS)"/>
                <a:cs typeface="Calibri (MS)"/>
                <a:sym typeface="Calibri (MS)"/>
              </a:rPr>
              <a:t>Location · Size · Color · Season</a:t>
            </a:r>
          </a:p>
          <a:p>
            <a:pPr algn="l">
              <a:lnSpc>
                <a:spcPts val="4040"/>
              </a:lnSpc>
            </a:pPr>
            <a:r>
              <a:rPr lang="en-US" sz="2254">
                <a:solidFill>
                  <a:srgbClr val="1E293B"/>
                </a:solidFill>
                <a:latin typeface="Calibri (MS)"/>
                <a:ea typeface="Calibri (MS)"/>
                <a:cs typeface="Calibri (MS)"/>
                <a:sym typeface="Calibri (MS)"/>
              </a:rPr>
              <a:t>Review Rating · Subscription Status Shipping Type · Discount Applied</a:t>
            </a:r>
          </a:p>
          <a:p>
            <a:pPr algn="l">
              <a:lnSpc>
                <a:spcPts val="4040"/>
              </a:lnSpc>
            </a:pPr>
            <a:r>
              <a:rPr lang="en-US" sz="2254">
                <a:solidFill>
                  <a:srgbClr val="1E293B"/>
                </a:solidFill>
                <a:latin typeface="Calibri (MS)"/>
                <a:ea typeface="Calibri (MS)"/>
                <a:cs typeface="Calibri (MS)"/>
                <a:sym typeface="Calibri (MS)"/>
              </a:rPr>
              <a:t>Promo Code Used · Previous Purchases Payment Method · Frequency of Purchases</a:t>
            </a:r>
          </a:p>
        </p:txBody>
      </p:sp>
      <p:sp>
        <p:nvSpPr>
          <p:cNvPr name="TextBox 25" id="25"/>
          <p:cNvSpPr txBox="true"/>
          <p:nvPr/>
        </p:nvSpPr>
        <p:spPr>
          <a:xfrm rot="0">
            <a:off x="13062823" y="8412680"/>
            <a:ext cx="4483398" cy="407137"/>
          </a:xfrm>
          <a:prstGeom prst="rect">
            <a:avLst/>
          </a:prstGeom>
        </p:spPr>
        <p:txBody>
          <a:bodyPr anchor="t" rtlCol="false" tIns="0" lIns="0" bIns="0" rIns="0">
            <a:spAutoFit/>
          </a:bodyPr>
          <a:lstStyle/>
          <a:p>
            <a:pPr algn="l">
              <a:lnSpc>
                <a:spcPts val="2940"/>
              </a:lnSpc>
            </a:pPr>
            <a:r>
              <a:rPr lang="en-US" sz="2100">
                <a:solidFill>
                  <a:srgbClr val="1E293B"/>
                </a:solidFill>
                <a:latin typeface="Calibri (MS)"/>
                <a:ea typeface="Calibri (MS)"/>
                <a:cs typeface="Calibri (MS)"/>
                <a:sym typeface="Calibri (MS)"/>
              </a:rPr>
              <a:t>Frequency</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purchase</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history</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composite</a:t>
            </a:r>
          </a:p>
        </p:txBody>
      </p:sp>
      <p:sp>
        <p:nvSpPr>
          <p:cNvPr name="TextBox 26" id="26"/>
          <p:cNvSpPr txBox="true"/>
          <p:nvPr/>
        </p:nvSpPr>
        <p:spPr>
          <a:xfrm rot="0">
            <a:off x="13154158" y="8863320"/>
            <a:ext cx="3922147" cy="407137"/>
          </a:xfrm>
          <a:prstGeom prst="rect">
            <a:avLst/>
          </a:prstGeom>
        </p:spPr>
        <p:txBody>
          <a:bodyPr anchor="t" rtlCol="false" tIns="0" lIns="0" bIns="0" rIns="0">
            <a:spAutoFit/>
          </a:bodyPr>
          <a:lstStyle/>
          <a:p>
            <a:pPr algn="l">
              <a:lnSpc>
                <a:spcPts val="2940"/>
              </a:lnSpc>
            </a:pPr>
            <a:r>
              <a:rPr lang="en-US" sz="2100">
                <a:solidFill>
                  <a:srgbClr val="1E293B"/>
                </a:solidFill>
                <a:latin typeface="Calibri (MS)"/>
                <a:ea typeface="Calibri (MS)"/>
                <a:cs typeface="Calibri (MS)"/>
                <a:sym typeface="Calibri (MS)"/>
              </a:rPr>
              <a:t>Purchase</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Amt</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Previous</a:t>
            </a:r>
            <a:r>
              <a:rPr lang="en-US" sz="2100">
                <a:solidFill>
                  <a:srgbClr val="FFFFFF"/>
                </a:solidFill>
                <a:latin typeface="Calibri (MS)"/>
                <a:ea typeface="Calibri (MS)"/>
                <a:cs typeface="Calibri (MS)"/>
                <a:sym typeface="Calibri (MS)"/>
              </a:rPr>
              <a:t> </a:t>
            </a:r>
            <a:r>
              <a:rPr lang="en-US" sz="2100">
                <a:solidFill>
                  <a:srgbClr val="1E293B"/>
                </a:solidFill>
                <a:latin typeface="Calibri (MS)"/>
                <a:ea typeface="Calibri (MS)"/>
                <a:cs typeface="Calibri (MS)"/>
                <a:sym typeface="Calibri (MS)"/>
              </a:rPr>
              <a:t>Purchases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31" y="1889246"/>
            <a:ext cx="5765806" cy="3937006"/>
          </a:xfrm>
          <a:custGeom>
            <a:avLst/>
            <a:gdLst/>
            <a:ahLst/>
            <a:cxnLst/>
            <a:rect r="r" b="b" t="t" l="l"/>
            <a:pathLst>
              <a:path h="3937006" w="5765806">
                <a:moveTo>
                  <a:pt x="0" y="0"/>
                </a:moveTo>
                <a:lnTo>
                  <a:pt x="5765807" y="0"/>
                </a:lnTo>
                <a:lnTo>
                  <a:pt x="5765807" y="3937006"/>
                </a:lnTo>
                <a:lnTo>
                  <a:pt x="0" y="3937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475743" y="1912306"/>
            <a:ext cx="11237595" cy="4100836"/>
          </a:xfrm>
          <a:custGeom>
            <a:avLst/>
            <a:gdLst/>
            <a:ahLst/>
            <a:cxnLst/>
            <a:rect r="r" b="b" t="t" l="l"/>
            <a:pathLst>
              <a:path h="4100836" w="11237595">
                <a:moveTo>
                  <a:pt x="0" y="0"/>
                </a:moveTo>
                <a:lnTo>
                  <a:pt x="11237595" y="0"/>
                </a:lnTo>
                <a:lnTo>
                  <a:pt x="11237595" y="4100836"/>
                </a:lnTo>
                <a:lnTo>
                  <a:pt x="0" y="41008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38150" y="1847602"/>
            <a:ext cx="5953258" cy="4124458"/>
            <a:chOff x="0" y="0"/>
            <a:chExt cx="3968839" cy="2749639"/>
          </a:xfrm>
        </p:grpSpPr>
        <p:sp>
          <p:nvSpPr>
            <p:cNvPr name="Freeform 6" id="6"/>
            <p:cNvSpPr/>
            <p:nvPr/>
          </p:nvSpPr>
          <p:spPr>
            <a:xfrm flipH="false" flipV="false" rot="0">
              <a:off x="0" y="0"/>
              <a:ext cx="3968877" cy="2749677"/>
            </a:xfrm>
            <a:custGeom>
              <a:avLst/>
              <a:gdLst/>
              <a:ahLst/>
              <a:cxnLst/>
              <a:rect r="r" b="b" t="t" l="l"/>
              <a:pathLst>
                <a:path h="2749677" w="3968877">
                  <a:moveTo>
                    <a:pt x="3854577" y="120904"/>
                  </a:moveTo>
                  <a:lnTo>
                    <a:pt x="3854577" y="2559304"/>
                  </a:lnTo>
                  <a:lnTo>
                    <a:pt x="196850" y="2559304"/>
                  </a:lnTo>
                  <a:lnTo>
                    <a:pt x="196850" y="120904"/>
                  </a:lnTo>
                  <a:close/>
                  <a:moveTo>
                    <a:pt x="0" y="0"/>
                  </a:moveTo>
                  <a:lnTo>
                    <a:pt x="0" y="2749677"/>
                  </a:lnTo>
                  <a:lnTo>
                    <a:pt x="3968877" y="2749677"/>
                  </a:lnTo>
                  <a:lnTo>
                    <a:pt x="3968877" y="0"/>
                  </a:lnTo>
                  <a:close/>
                </a:path>
              </a:pathLst>
            </a:custGeom>
            <a:blipFill>
              <a:blip r:embed="rId8"/>
              <a:stretch>
                <a:fillRect l="0" t="0" r="0" b="1"/>
              </a:stretch>
            </a:blipFill>
          </p:spPr>
        </p:sp>
      </p:grpSp>
      <p:sp>
        <p:nvSpPr>
          <p:cNvPr name="TextBox 7" id="7"/>
          <p:cNvSpPr txBox="true"/>
          <p:nvPr/>
        </p:nvSpPr>
        <p:spPr>
          <a:xfrm rot="0">
            <a:off x="732149" y="289636"/>
            <a:ext cx="7808843" cy="848297"/>
          </a:xfrm>
          <a:prstGeom prst="rect">
            <a:avLst/>
          </a:prstGeom>
        </p:spPr>
        <p:txBody>
          <a:bodyPr anchor="t" rtlCol="false" tIns="0" lIns="0" bIns="0" rIns="0">
            <a:spAutoFit/>
          </a:bodyPr>
          <a:lstStyle/>
          <a:p>
            <a:pPr algn="l">
              <a:lnSpc>
                <a:spcPts val="6103"/>
              </a:lnSpc>
            </a:pPr>
            <a:r>
              <a:rPr lang="en-US" b="true" sz="4359" spc="8">
                <a:solidFill>
                  <a:srgbClr val="FFFFFF"/>
                </a:solidFill>
                <a:latin typeface="Calibri (MS) Bold"/>
                <a:ea typeface="Calibri (MS) Bold"/>
                <a:cs typeface="Calibri (MS) Bold"/>
                <a:sym typeface="Calibri (MS) Bold"/>
              </a:rPr>
              <a:t>Finding 01 · Customer Segments</a:t>
            </a:r>
          </a:p>
        </p:txBody>
      </p:sp>
      <p:sp>
        <p:nvSpPr>
          <p:cNvPr name="TextBox 8" id="8"/>
          <p:cNvSpPr txBox="true"/>
          <p:nvPr/>
        </p:nvSpPr>
        <p:spPr>
          <a:xfrm rot="0">
            <a:off x="1189996" y="7546943"/>
            <a:ext cx="14874478" cy="605663"/>
          </a:xfrm>
          <a:prstGeom prst="rect">
            <a:avLst/>
          </a:prstGeom>
        </p:spPr>
        <p:txBody>
          <a:bodyPr anchor="t" rtlCol="false" tIns="0" lIns="0" bIns="0" rIns="0">
            <a:spAutoFit/>
          </a:bodyPr>
          <a:lstStyle/>
          <a:p>
            <a:pPr algn="l">
              <a:lnSpc>
                <a:spcPts val="4416"/>
              </a:lnSpc>
            </a:pPr>
            <a:r>
              <a:rPr lang="en-US" sz="3154">
                <a:solidFill>
                  <a:srgbClr val="1E293B"/>
                </a:solidFill>
                <a:latin typeface="Calibri (MS)"/>
                <a:ea typeface="Calibri (MS)"/>
                <a:cs typeface="Calibri (MS)"/>
                <a:sym typeface="Calibri (MS)"/>
              </a:rPr>
              <a:t>Younger customers (18–25) purchase frequently but spend significantly less per transaction</a:t>
            </a:r>
          </a:p>
        </p:txBody>
      </p:sp>
      <p:sp>
        <p:nvSpPr>
          <p:cNvPr name="TextBox 9" id="9"/>
          <p:cNvSpPr txBox="true"/>
          <p:nvPr/>
        </p:nvSpPr>
        <p:spPr>
          <a:xfrm rot="0">
            <a:off x="1189996" y="6319476"/>
            <a:ext cx="15895796" cy="605663"/>
          </a:xfrm>
          <a:prstGeom prst="rect">
            <a:avLst/>
          </a:prstGeom>
        </p:spPr>
        <p:txBody>
          <a:bodyPr anchor="t" rtlCol="false" tIns="0" lIns="0" bIns="0" rIns="0">
            <a:spAutoFit/>
          </a:bodyPr>
          <a:lstStyle/>
          <a:p>
            <a:pPr algn="l">
              <a:lnSpc>
                <a:spcPts val="4416"/>
              </a:lnSpc>
            </a:pPr>
            <a:r>
              <a:rPr lang="en-US" sz="3154">
                <a:solidFill>
                  <a:srgbClr val="1E293B"/>
                </a:solidFill>
                <a:latin typeface="Calibri (MS)"/>
                <a:ea typeface="Calibri (MS)"/>
                <a:cs typeface="Calibri (MS)"/>
                <a:sym typeface="Calibri (MS)"/>
              </a:rPr>
              <a:t>Male customers aged 50+ generate the highest revenue AND have the highest loyalty score (49.7)</a:t>
            </a:r>
          </a:p>
        </p:txBody>
      </p:sp>
      <p:sp>
        <p:nvSpPr>
          <p:cNvPr name="TextBox 10" id="10"/>
          <p:cNvSpPr txBox="true"/>
          <p:nvPr/>
        </p:nvSpPr>
        <p:spPr>
          <a:xfrm rot="0">
            <a:off x="14672310" y="523704"/>
            <a:ext cx="3018796" cy="468503"/>
          </a:xfrm>
          <a:prstGeom prst="rect">
            <a:avLst/>
          </a:prstGeom>
        </p:spPr>
        <p:txBody>
          <a:bodyPr anchor="t" rtlCol="false" tIns="0" lIns="0" bIns="0" rIns="0">
            <a:spAutoFit/>
          </a:bodyPr>
          <a:lstStyle/>
          <a:p>
            <a:pPr algn="l">
              <a:lnSpc>
                <a:spcPts val="3576"/>
              </a:lnSpc>
            </a:pPr>
            <a:r>
              <a:rPr lang="en-US" b="true" sz="2554">
                <a:solidFill>
                  <a:srgbClr val="FFFFFF"/>
                </a:solidFill>
                <a:latin typeface="Calibri (MS) Bold"/>
                <a:ea typeface="Calibri (MS) Bold"/>
                <a:cs typeface="Calibri (MS) Bold"/>
                <a:sym typeface="Calibri (MS) Bold"/>
              </a:rPr>
              <a:t>Demographics</a:t>
            </a:r>
          </a:p>
        </p:txBody>
      </p:sp>
      <p:sp>
        <p:nvSpPr>
          <p:cNvPr name="TextBox 11" id="11"/>
          <p:cNvSpPr txBox="true"/>
          <p:nvPr/>
        </p:nvSpPr>
        <p:spPr>
          <a:xfrm rot="0">
            <a:off x="1964779" y="3099511"/>
            <a:ext cx="2900001" cy="2174100"/>
          </a:xfrm>
          <a:prstGeom prst="rect">
            <a:avLst/>
          </a:prstGeom>
        </p:spPr>
        <p:txBody>
          <a:bodyPr anchor="t" rtlCol="false" tIns="0" lIns="0" bIns="0" rIns="0">
            <a:spAutoFit/>
          </a:bodyPr>
          <a:lstStyle/>
          <a:p>
            <a:pPr algn="ctr">
              <a:lnSpc>
                <a:spcPts val="5350"/>
              </a:lnSpc>
            </a:pPr>
            <a:r>
              <a:rPr lang="en-US" b="true" sz="10369">
                <a:solidFill>
                  <a:srgbClr val="14B8A6"/>
                </a:solidFill>
                <a:latin typeface="Calibri (MS) Bold"/>
                <a:ea typeface="Calibri (MS) Bold"/>
                <a:cs typeface="Calibri (MS) Bold"/>
                <a:sym typeface="Calibri (MS) Bold"/>
              </a:rPr>
              <a:t>50+</a:t>
            </a:r>
          </a:p>
          <a:p>
            <a:pPr algn="ctr">
              <a:lnSpc>
                <a:spcPts val="6387"/>
              </a:lnSpc>
            </a:pPr>
            <a:r>
              <a:rPr lang="en-US" sz="2554" spc="10">
                <a:solidFill>
                  <a:srgbClr val="FFFFFF"/>
                </a:solidFill>
                <a:latin typeface="Calibri (MS)"/>
                <a:ea typeface="Calibri (MS)"/>
                <a:cs typeface="Calibri (MS)"/>
                <a:sym typeface="Calibri (MS)"/>
              </a:rPr>
              <a:t>highest total revenue</a:t>
            </a:r>
          </a:p>
        </p:txBody>
      </p:sp>
      <p:sp>
        <p:nvSpPr>
          <p:cNvPr name="TextBox 12" id="12"/>
          <p:cNvSpPr txBox="true"/>
          <p:nvPr/>
        </p:nvSpPr>
        <p:spPr>
          <a:xfrm rot="0">
            <a:off x="8676132" y="4514240"/>
            <a:ext cx="572214" cy="316230"/>
          </a:xfrm>
          <a:prstGeom prst="rect">
            <a:avLst/>
          </a:prstGeom>
        </p:spPr>
        <p:txBody>
          <a:bodyPr anchor="t" rtlCol="false" tIns="0" lIns="0" bIns="0" rIns="0">
            <a:spAutoFit/>
          </a:bodyPr>
          <a:lstStyle/>
          <a:p>
            <a:pPr algn="l">
              <a:lnSpc>
                <a:spcPts val="2520"/>
              </a:lnSpc>
            </a:pPr>
            <a:r>
              <a:rPr lang="en-US" sz="1800">
                <a:solidFill>
                  <a:srgbClr val="1E293B"/>
                </a:solidFill>
                <a:latin typeface="Arial"/>
                <a:ea typeface="Arial"/>
                <a:cs typeface="Arial"/>
                <a:sym typeface="Arial"/>
              </a:rPr>
              <a:t>4,100</a:t>
            </a:r>
          </a:p>
        </p:txBody>
      </p:sp>
      <p:sp>
        <p:nvSpPr>
          <p:cNvPr name="TextBox 13" id="13"/>
          <p:cNvSpPr txBox="true"/>
          <p:nvPr/>
        </p:nvSpPr>
        <p:spPr>
          <a:xfrm rot="0">
            <a:off x="10464298" y="3770776"/>
            <a:ext cx="711651" cy="326746"/>
          </a:xfrm>
          <a:prstGeom prst="rect">
            <a:avLst/>
          </a:prstGeom>
        </p:spPr>
        <p:txBody>
          <a:bodyPr anchor="t" rtlCol="false" tIns="0" lIns="0" bIns="0" rIns="0">
            <a:spAutoFit/>
          </a:bodyPr>
          <a:lstStyle/>
          <a:p>
            <a:pPr algn="l">
              <a:lnSpc>
                <a:spcPts val="2520"/>
              </a:lnSpc>
            </a:pPr>
            <a:r>
              <a:rPr lang="en-US" sz="1800">
                <a:solidFill>
                  <a:srgbClr val="1E293B"/>
                </a:solidFill>
                <a:latin typeface="Arial"/>
                <a:ea typeface="Arial"/>
                <a:cs typeface="Arial"/>
                <a:sym typeface="Arial"/>
              </a:rPr>
              <a:t>30,200</a:t>
            </a:r>
          </a:p>
        </p:txBody>
      </p:sp>
      <p:sp>
        <p:nvSpPr>
          <p:cNvPr name="TextBox 14" id="14"/>
          <p:cNvSpPr txBox="true"/>
          <p:nvPr/>
        </p:nvSpPr>
        <p:spPr>
          <a:xfrm rot="0">
            <a:off x="16019012" y="2124342"/>
            <a:ext cx="711651" cy="326746"/>
          </a:xfrm>
          <a:prstGeom prst="rect">
            <a:avLst/>
          </a:prstGeom>
        </p:spPr>
        <p:txBody>
          <a:bodyPr anchor="t" rtlCol="false" tIns="0" lIns="0" bIns="0" rIns="0">
            <a:spAutoFit/>
          </a:bodyPr>
          <a:lstStyle/>
          <a:p>
            <a:pPr algn="l">
              <a:lnSpc>
                <a:spcPts val="2520"/>
              </a:lnSpc>
            </a:pPr>
            <a:r>
              <a:rPr lang="en-US" sz="1800">
                <a:solidFill>
                  <a:srgbClr val="1E293B"/>
                </a:solidFill>
                <a:latin typeface="Arial"/>
                <a:ea typeface="Arial"/>
                <a:cs typeface="Arial"/>
                <a:sym typeface="Arial"/>
              </a:rPr>
              <a:t>88,000</a:t>
            </a:r>
          </a:p>
        </p:txBody>
      </p:sp>
      <p:sp>
        <p:nvSpPr>
          <p:cNvPr name="TextBox 15" id="15"/>
          <p:cNvSpPr txBox="true"/>
          <p:nvPr/>
        </p:nvSpPr>
        <p:spPr>
          <a:xfrm rot="0">
            <a:off x="12315958" y="3362516"/>
            <a:ext cx="712451"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44,500</a:t>
            </a:r>
          </a:p>
        </p:txBody>
      </p:sp>
      <p:sp>
        <p:nvSpPr>
          <p:cNvPr name="TextBox 16" id="16"/>
          <p:cNvSpPr txBox="true"/>
          <p:nvPr/>
        </p:nvSpPr>
        <p:spPr>
          <a:xfrm rot="0">
            <a:off x="14167352" y="2735637"/>
            <a:ext cx="712451"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66,500</a:t>
            </a:r>
          </a:p>
        </p:txBody>
      </p:sp>
      <p:sp>
        <p:nvSpPr>
          <p:cNvPr name="TextBox 17" id="17"/>
          <p:cNvSpPr txBox="true"/>
          <p:nvPr/>
        </p:nvSpPr>
        <p:spPr>
          <a:xfrm rot="0">
            <a:off x="6755892" y="1860880"/>
            <a:ext cx="1048131" cy="3370726"/>
          </a:xfrm>
          <a:prstGeom prst="rect">
            <a:avLst/>
          </a:prstGeom>
        </p:spPr>
        <p:txBody>
          <a:bodyPr anchor="t" rtlCol="false" tIns="0" lIns="0" bIns="0" rIns="0">
            <a:spAutoFit/>
          </a:bodyPr>
          <a:lstStyle/>
          <a:p>
            <a:pPr algn="r">
              <a:lnSpc>
                <a:spcPts val="4485"/>
              </a:lnSpc>
            </a:pPr>
            <a:r>
              <a:rPr lang="en-US" sz="2404" spc="12">
                <a:solidFill>
                  <a:srgbClr val="64748B"/>
                </a:solidFill>
                <a:latin typeface="Arial"/>
                <a:ea typeface="Arial"/>
                <a:cs typeface="Arial"/>
                <a:sym typeface="Arial"/>
              </a:rPr>
              <a:t>100000 80000 60000 40000 20000 0</a:t>
            </a:r>
          </a:p>
        </p:txBody>
      </p:sp>
      <p:sp>
        <p:nvSpPr>
          <p:cNvPr name="TextBox 18" id="18"/>
          <p:cNvSpPr txBox="true"/>
          <p:nvPr/>
        </p:nvSpPr>
        <p:spPr>
          <a:xfrm rot="0">
            <a:off x="8335004" y="5178247"/>
            <a:ext cx="1278579" cy="417347"/>
          </a:xfrm>
          <a:prstGeom prst="rect">
            <a:avLst/>
          </a:prstGeom>
        </p:spPr>
        <p:txBody>
          <a:bodyPr anchor="t" rtlCol="false" tIns="0" lIns="0" bIns="0" rIns="0">
            <a:spAutoFit/>
          </a:bodyPr>
          <a:lstStyle/>
          <a:p>
            <a:pPr algn="l">
              <a:lnSpc>
                <a:spcPts val="3366"/>
              </a:lnSpc>
            </a:pPr>
            <a:r>
              <a:rPr lang="en-US" sz="2404">
                <a:solidFill>
                  <a:srgbClr val="64748B"/>
                </a:solidFill>
                <a:latin typeface="Arial"/>
                <a:ea typeface="Arial"/>
                <a:cs typeface="Arial"/>
                <a:sym typeface="Arial"/>
              </a:rPr>
              <a:t>Under 18</a:t>
            </a:r>
          </a:p>
        </p:txBody>
      </p:sp>
      <p:sp>
        <p:nvSpPr>
          <p:cNvPr name="TextBox 19" id="19"/>
          <p:cNvSpPr txBox="true"/>
          <p:nvPr/>
        </p:nvSpPr>
        <p:spPr>
          <a:xfrm rot="0">
            <a:off x="10389870" y="5197297"/>
            <a:ext cx="867556" cy="417347"/>
          </a:xfrm>
          <a:prstGeom prst="rect">
            <a:avLst/>
          </a:prstGeom>
        </p:spPr>
        <p:txBody>
          <a:bodyPr anchor="t" rtlCol="false" tIns="0" lIns="0" bIns="0" rIns="0">
            <a:spAutoFit/>
          </a:bodyPr>
          <a:lstStyle/>
          <a:p>
            <a:pPr algn="l">
              <a:lnSpc>
                <a:spcPts val="3366"/>
              </a:lnSpc>
            </a:pPr>
            <a:r>
              <a:rPr lang="en-US" sz="2404" spc="2">
                <a:solidFill>
                  <a:srgbClr val="64748B"/>
                </a:solidFill>
                <a:latin typeface="Arial"/>
                <a:ea typeface="Arial"/>
                <a:cs typeface="Arial"/>
                <a:sym typeface="Arial"/>
              </a:rPr>
              <a:t>18–25</a:t>
            </a:r>
          </a:p>
        </p:txBody>
      </p:sp>
      <p:sp>
        <p:nvSpPr>
          <p:cNvPr name="TextBox 20" id="20"/>
          <p:cNvSpPr txBox="true"/>
          <p:nvPr/>
        </p:nvSpPr>
        <p:spPr>
          <a:xfrm rot="0">
            <a:off x="12241530" y="5197297"/>
            <a:ext cx="867556" cy="417347"/>
          </a:xfrm>
          <a:prstGeom prst="rect">
            <a:avLst/>
          </a:prstGeom>
        </p:spPr>
        <p:txBody>
          <a:bodyPr anchor="t" rtlCol="false" tIns="0" lIns="0" bIns="0" rIns="0">
            <a:spAutoFit/>
          </a:bodyPr>
          <a:lstStyle/>
          <a:p>
            <a:pPr algn="l">
              <a:lnSpc>
                <a:spcPts val="3366"/>
              </a:lnSpc>
            </a:pPr>
            <a:r>
              <a:rPr lang="en-US" sz="2404" spc="2">
                <a:solidFill>
                  <a:srgbClr val="64748B"/>
                </a:solidFill>
                <a:latin typeface="Arial"/>
                <a:ea typeface="Arial"/>
                <a:cs typeface="Arial"/>
                <a:sym typeface="Arial"/>
              </a:rPr>
              <a:t>26–35</a:t>
            </a:r>
          </a:p>
        </p:txBody>
      </p:sp>
      <p:sp>
        <p:nvSpPr>
          <p:cNvPr name="TextBox 21" id="21"/>
          <p:cNvSpPr txBox="true"/>
          <p:nvPr/>
        </p:nvSpPr>
        <p:spPr>
          <a:xfrm rot="0">
            <a:off x="14093190" y="5197297"/>
            <a:ext cx="867556" cy="417347"/>
          </a:xfrm>
          <a:prstGeom prst="rect">
            <a:avLst/>
          </a:prstGeom>
        </p:spPr>
        <p:txBody>
          <a:bodyPr anchor="t" rtlCol="false" tIns="0" lIns="0" bIns="0" rIns="0">
            <a:spAutoFit/>
          </a:bodyPr>
          <a:lstStyle/>
          <a:p>
            <a:pPr algn="l">
              <a:lnSpc>
                <a:spcPts val="3366"/>
              </a:lnSpc>
            </a:pPr>
            <a:r>
              <a:rPr lang="en-US" sz="2404" spc="2">
                <a:solidFill>
                  <a:srgbClr val="64748B"/>
                </a:solidFill>
                <a:latin typeface="Arial"/>
                <a:ea typeface="Arial"/>
                <a:cs typeface="Arial"/>
                <a:sym typeface="Arial"/>
              </a:rPr>
              <a:t>36–50</a:t>
            </a:r>
          </a:p>
        </p:txBody>
      </p:sp>
      <p:sp>
        <p:nvSpPr>
          <p:cNvPr name="TextBox 22" id="22"/>
          <p:cNvSpPr txBox="true"/>
          <p:nvPr/>
        </p:nvSpPr>
        <p:spPr>
          <a:xfrm rot="0">
            <a:off x="16110452" y="5178247"/>
            <a:ext cx="531705" cy="417347"/>
          </a:xfrm>
          <a:prstGeom prst="rect">
            <a:avLst/>
          </a:prstGeom>
        </p:spPr>
        <p:txBody>
          <a:bodyPr anchor="t" rtlCol="false" tIns="0" lIns="0" bIns="0" rIns="0">
            <a:spAutoFit/>
          </a:bodyPr>
          <a:lstStyle/>
          <a:p>
            <a:pPr algn="l">
              <a:lnSpc>
                <a:spcPts val="3366"/>
              </a:lnSpc>
            </a:pPr>
            <a:r>
              <a:rPr lang="en-US" sz="2404" spc="12">
                <a:solidFill>
                  <a:srgbClr val="64748B"/>
                </a:solidFill>
                <a:latin typeface="Arial"/>
                <a:ea typeface="Arial"/>
                <a:cs typeface="Arial"/>
                <a:sym typeface="Arial"/>
              </a:rPr>
              <a:t>50+</a:t>
            </a:r>
          </a:p>
        </p:txBody>
      </p:sp>
      <p:sp>
        <p:nvSpPr>
          <p:cNvPr name="TextBox 23" id="23"/>
          <p:cNvSpPr txBox="true"/>
          <p:nvPr/>
        </p:nvSpPr>
        <p:spPr>
          <a:xfrm rot="0">
            <a:off x="1189996" y="8629014"/>
            <a:ext cx="6935391" cy="629286"/>
          </a:xfrm>
          <a:prstGeom prst="rect">
            <a:avLst/>
          </a:prstGeom>
        </p:spPr>
        <p:txBody>
          <a:bodyPr anchor="t" rtlCol="false" tIns="0" lIns="0" bIns="0" rIns="0">
            <a:spAutoFit/>
          </a:bodyPr>
          <a:lstStyle/>
          <a:p>
            <a:pPr algn="l">
              <a:lnSpc>
                <a:spcPts val="4689"/>
              </a:lnSpc>
            </a:pPr>
            <a:r>
              <a:rPr lang="en-US" sz="3349">
                <a:solidFill>
                  <a:srgbClr val="1E293B"/>
                </a:solidFill>
                <a:latin typeface="Calibri (MS)"/>
                <a:ea typeface="Calibri (MS)"/>
                <a:cs typeface="Calibri (MS)"/>
                <a:sym typeface="Calibri (MS)"/>
              </a:rPr>
              <a:t>Payment preferences correlate with 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0579" y="2670772"/>
            <a:ext cx="16738721" cy="4508506"/>
          </a:xfrm>
          <a:custGeom>
            <a:avLst/>
            <a:gdLst/>
            <a:ahLst/>
            <a:cxnLst/>
            <a:rect r="r" b="b" t="t" l="l"/>
            <a:pathLst>
              <a:path h="4508506" w="16738721">
                <a:moveTo>
                  <a:pt x="0" y="0"/>
                </a:moveTo>
                <a:lnTo>
                  <a:pt x="16738721" y="0"/>
                </a:lnTo>
                <a:lnTo>
                  <a:pt x="16738721" y="4508506"/>
                </a:lnTo>
                <a:lnTo>
                  <a:pt x="0" y="4508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3731" y="7312152"/>
            <a:ext cx="17307058" cy="2657342"/>
            <a:chOff x="0" y="0"/>
            <a:chExt cx="11538039" cy="1771561"/>
          </a:xfrm>
        </p:grpSpPr>
        <p:sp>
          <p:nvSpPr>
            <p:cNvPr name="Freeform 5" id="5"/>
            <p:cNvSpPr/>
            <p:nvPr/>
          </p:nvSpPr>
          <p:spPr>
            <a:xfrm flipH="false" flipV="false" rot="0">
              <a:off x="0" y="0"/>
              <a:ext cx="11538077" cy="1771523"/>
            </a:xfrm>
            <a:custGeom>
              <a:avLst/>
              <a:gdLst/>
              <a:ahLst/>
              <a:cxnLst/>
              <a:rect r="r" b="b" t="t" l="l"/>
              <a:pathLst>
                <a:path h="1771523" w="11538077">
                  <a:moveTo>
                    <a:pt x="11423777" y="120650"/>
                  </a:moveTo>
                  <a:lnTo>
                    <a:pt x="11423777" y="1581023"/>
                  </a:lnTo>
                  <a:lnTo>
                    <a:pt x="196850" y="1581023"/>
                  </a:lnTo>
                  <a:lnTo>
                    <a:pt x="196850" y="120650"/>
                  </a:lnTo>
                  <a:close/>
                  <a:moveTo>
                    <a:pt x="0" y="0"/>
                  </a:moveTo>
                  <a:lnTo>
                    <a:pt x="0" y="1771523"/>
                  </a:lnTo>
                  <a:lnTo>
                    <a:pt x="11538077" y="1771523"/>
                  </a:lnTo>
                  <a:lnTo>
                    <a:pt x="11538077" y="0"/>
                  </a:lnTo>
                  <a:close/>
                </a:path>
              </a:pathLst>
            </a:custGeom>
            <a:solidFill>
              <a:srgbClr val="0D9488"/>
            </a:solidFill>
          </p:spPr>
        </p:sp>
      </p:grpSp>
      <p:sp>
        <p:nvSpPr>
          <p:cNvPr name="TextBox 6" id="6"/>
          <p:cNvSpPr txBox="true"/>
          <p:nvPr/>
        </p:nvSpPr>
        <p:spPr>
          <a:xfrm rot="0">
            <a:off x="732149" y="289636"/>
            <a:ext cx="8405832" cy="848297"/>
          </a:xfrm>
          <a:prstGeom prst="rect">
            <a:avLst/>
          </a:prstGeom>
        </p:spPr>
        <p:txBody>
          <a:bodyPr anchor="t" rtlCol="false" tIns="0" lIns="0" bIns="0" rIns="0">
            <a:spAutoFit/>
          </a:bodyPr>
          <a:lstStyle/>
          <a:p>
            <a:pPr algn="l">
              <a:lnSpc>
                <a:spcPts val="6103"/>
              </a:lnSpc>
            </a:pPr>
            <a:r>
              <a:rPr lang="en-US" b="true" sz="4359">
                <a:solidFill>
                  <a:srgbClr val="FFFFFF"/>
                </a:solidFill>
                <a:latin typeface="Calibri (MS) Bold"/>
                <a:ea typeface="Calibri (MS) Bold"/>
                <a:cs typeface="Calibri (MS) Bold"/>
                <a:sym typeface="Calibri (MS) Bold"/>
              </a:rPr>
              <a:t>Finding 02 · The Footwear Paradox</a:t>
            </a:r>
          </a:p>
        </p:txBody>
      </p:sp>
      <p:sp>
        <p:nvSpPr>
          <p:cNvPr name="TextBox 7" id="7"/>
          <p:cNvSpPr txBox="true"/>
          <p:nvPr/>
        </p:nvSpPr>
        <p:spPr>
          <a:xfrm rot="0">
            <a:off x="14601196" y="547764"/>
            <a:ext cx="2146516" cy="453828"/>
          </a:xfrm>
          <a:prstGeom prst="rect">
            <a:avLst/>
          </a:prstGeom>
        </p:spPr>
        <p:txBody>
          <a:bodyPr anchor="t" rtlCol="false" tIns="0" lIns="0" bIns="0" rIns="0">
            <a:spAutoFit/>
          </a:bodyPr>
          <a:lstStyle/>
          <a:p>
            <a:pPr algn="l">
              <a:lnSpc>
                <a:spcPts val="3366"/>
              </a:lnSpc>
            </a:pPr>
            <a:r>
              <a:rPr lang="en-US" b="true" sz="2404">
                <a:solidFill>
                  <a:srgbClr val="FFFFFF"/>
                </a:solidFill>
                <a:latin typeface="Calibri (MS) Bold"/>
                <a:ea typeface="Calibri (MS) Bold"/>
                <a:cs typeface="Calibri (MS) Bold"/>
                <a:sym typeface="Calibri (MS) Bold"/>
              </a:rPr>
              <a:t>Product Strategy</a:t>
            </a:r>
          </a:p>
        </p:txBody>
      </p:sp>
      <p:sp>
        <p:nvSpPr>
          <p:cNvPr name="TextBox 8" id="8"/>
          <p:cNvSpPr txBox="true"/>
          <p:nvPr/>
        </p:nvSpPr>
        <p:spPr>
          <a:xfrm rot="0">
            <a:off x="1189996" y="8373008"/>
            <a:ext cx="16167887" cy="765971"/>
          </a:xfrm>
          <a:prstGeom prst="rect">
            <a:avLst/>
          </a:prstGeom>
        </p:spPr>
        <p:txBody>
          <a:bodyPr anchor="t" rtlCol="false" tIns="0" lIns="0" bIns="0" rIns="0">
            <a:spAutoFit/>
          </a:bodyPr>
          <a:lstStyle/>
          <a:p>
            <a:pPr algn="l">
              <a:lnSpc>
                <a:spcPts val="2854"/>
              </a:lnSpc>
            </a:pPr>
            <a:r>
              <a:rPr lang="en-US" sz="2404">
                <a:solidFill>
                  <a:srgbClr val="1E293B"/>
                </a:solidFill>
                <a:latin typeface="Calibri (MS)"/>
                <a:ea typeface="Calibri (MS)"/>
                <a:cs typeface="Calibri (MS)"/>
                <a:sym typeface="Calibri (MS)"/>
              </a:rPr>
              <a:t>The company is over investing in Clothing acquisition while under investing in Footwear the category with the most loyal and individually valuable customers. A targeted Footwear loyalty program would yield higher ROI per customer acquired.</a:t>
            </a:r>
          </a:p>
        </p:txBody>
      </p:sp>
      <p:sp>
        <p:nvSpPr>
          <p:cNvPr name="TextBox 9" id="9"/>
          <p:cNvSpPr txBox="true"/>
          <p:nvPr/>
        </p:nvSpPr>
        <p:spPr>
          <a:xfrm rot="0">
            <a:off x="658997" y="1778127"/>
            <a:ext cx="8000067" cy="1572978"/>
          </a:xfrm>
          <a:prstGeom prst="rect">
            <a:avLst/>
          </a:prstGeom>
        </p:spPr>
        <p:txBody>
          <a:bodyPr anchor="t" rtlCol="false" tIns="0" lIns="0" bIns="0" rIns="0">
            <a:spAutoFit/>
          </a:bodyPr>
          <a:lstStyle/>
          <a:p>
            <a:pPr algn="r">
              <a:lnSpc>
                <a:spcPts val="4843"/>
              </a:lnSpc>
            </a:pPr>
            <a:r>
              <a:rPr lang="en-US" b="true" sz="3459">
                <a:solidFill>
                  <a:srgbClr val="0D1B3E"/>
                </a:solidFill>
                <a:latin typeface="Calibri (MS) Bold"/>
                <a:ea typeface="Calibri (MS) Bold"/>
                <a:cs typeface="Calibri (MS) Bold"/>
                <a:sym typeface="Calibri (MS) Bold"/>
              </a:rPr>
              <a:t>More customers ≠ More value per customer</a:t>
            </a:r>
          </a:p>
          <a:p>
            <a:pPr algn="r">
              <a:lnSpc>
                <a:spcPts val="3156"/>
              </a:lnSpc>
            </a:pPr>
            <a:r>
              <a:rPr lang="en-US" b="true" sz="2254">
                <a:solidFill>
                  <a:srgbClr val="FFFFFF"/>
                </a:solidFill>
                <a:latin typeface="Calibri (MS) Bold"/>
                <a:ea typeface="Calibri (MS) Bold"/>
                <a:cs typeface="Calibri (MS) Bold"/>
                <a:sym typeface="Calibri (MS) Bold"/>
              </a:rPr>
              <a:t>Total Revenue</a:t>
            </a:r>
          </a:p>
        </p:txBody>
      </p:sp>
      <p:sp>
        <p:nvSpPr>
          <p:cNvPr name="TextBox 10" id="10"/>
          <p:cNvSpPr txBox="true"/>
          <p:nvPr/>
        </p:nvSpPr>
        <p:spPr>
          <a:xfrm rot="0">
            <a:off x="1603877" y="2911888"/>
            <a:ext cx="1636909" cy="438023"/>
          </a:xfrm>
          <a:prstGeom prst="rect">
            <a:avLst/>
          </a:prstGeom>
        </p:spPr>
        <p:txBody>
          <a:bodyPr anchor="t" rtlCol="false" tIns="0" lIns="0" bIns="0" rIns="0">
            <a:spAutoFit/>
          </a:bodyPr>
          <a:lstStyle/>
          <a:p>
            <a:pPr algn="l">
              <a:lnSpc>
                <a:spcPts val="3156"/>
              </a:lnSpc>
            </a:pPr>
            <a:r>
              <a:rPr lang="en-US" b="true" sz="2254">
                <a:solidFill>
                  <a:srgbClr val="FFFFFF"/>
                </a:solidFill>
                <a:latin typeface="Calibri (MS) Bold"/>
                <a:ea typeface="Calibri (MS) Bold"/>
                <a:cs typeface="Calibri (MS) Bold"/>
                <a:sym typeface="Calibri (MS) Bold"/>
              </a:rPr>
              <a:t>Category</a:t>
            </a:r>
          </a:p>
        </p:txBody>
      </p:sp>
      <p:sp>
        <p:nvSpPr>
          <p:cNvPr name="TextBox 11" id="11"/>
          <p:cNvSpPr txBox="true"/>
          <p:nvPr/>
        </p:nvSpPr>
        <p:spPr>
          <a:xfrm rot="0">
            <a:off x="1664208" y="3709968"/>
            <a:ext cx="1012755" cy="440398"/>
          </a:xfrm>
          <a:prstGeom prst="rect">
            <a:avLst/>
          </a:prstGeom>
        </p:spPr>
        <p:txBody>
          <a:bodyPr anchor="t" rtlCol="false" tIns="0" lIns="0" bIns="0" rIns="0">
            <a:spAutoFit/>
          </a:bodyPr>
          <a:lstStyle/>
          <a:p>
            <a:pPr algn="l">
              <a:lnSpc>
                <a:spcPts val="3156"/>
              </a:lnSpc>
            </a:pPr>
            <a:r>
              <a:rPr lang="en-US" sz="2254" spc="29">
                <a:solidFill>
                  <a:srgbClr val="1E293B"/>
                </a:solidFill>
                <a:latin typeface="Calibri (MS)"/>
                <a:ea typeface="Calibri (MS)"/>
                <a:cs typeface="Calibri (MS)"/>
                <a:sym typeface="Calibri (MS)"/>
              </a:rPr>
              <a:t>Clothing</a:t>
            </a:r>
          </a:p>
        </p:txBody>
      </p:sp>
      <p:sp>
        <p:nvSpPr>
          <p:cNvPr name="TextBox 12" id="12"/>
          <p:cNvSpPr txBox="true"/>
          <p:nvPr/>
        </p:nvSpPr>
        <p:spPr>
          <a:xfrm rot="0">
            <a:off x="1577207" y="4589316"/>
            <a:ext cx="1204198" cy="438023"/>
          </a:xfrm>
          <a:prstGeom prst="rect">
            <a:avLst/>
          </a:prstGeom>
        </p:spPr>
        <p:txBody>
          <a:bodyPr anchor="t" rtlCol="false" tIns="0" lIns="0" bIns="0" rIns="0">
            <a:spAutoFit/>
          </a:bodyPr>
          <a:lstStyle/>
          <a:p>
            <a:pPr algn="l">
              <a:lnSpc>
                <a:spcPts val="3156"/>
              </a:lnSpc>
            </a:pPr>
            <a:r>
              <a:rPr lang="en-US" b="true" sz="2254">
                <a:solidFill>
                  <a:srgbClr val="1E293B"/>
                </a:solidFill>
                <a:latin typeface="Calibri (MS) Bold"/>
                <a:ea typeface="Calibri (MS) Bold"/>
                <a:cs typeface="Calibri (MS) Bold"/>
                <a:sym typeface="Calibri (MS) Bold"/>
              </a:rPr>
              <a:t>Foot</a:t>
            </a:r>
            <a:r>
              <a:rPr lang="en-US" b="true" sz="2254">
                <a:solidFill>
                  <a:srgbClr val="FFFFFF"/>
                </a:solidFill>
                <a:latin typeface="Calibri (MS) Bold"/>
                <a:ea typeface="Calibri (MS) Bold"/>
                <a:cs typeface="Calibri (MS) Bold"/>
                <a:sym typeface="Calibri (MS) Bold"/>
              </a:rPr>
              <a:t> </a:t>
            </a:r>
            <a:r>
              <a:rPr lang="en-US" b="true" sz="2254">
                <a:solidFill>
                  <a:srgbClr val="1E293B"/>
                </a:solidFill>
                <a:latin typeface="Calibri (MS) Bold"/>
                <a:ea typeface="Calibri (MS) Bold"/>
                <a:cs typeface="Calibri (MS) Bold"/>
                <a:sym typeface="Calibri (MS) Bold"/>
              </a:rPr>
              <a:t>wear</a:t>
            </a:r>
          </a:p>
        </p:txBody>
      </p:sp>
      <p:sp>
        <p:nvSpPr>
          <p:cNvPr name="TextBox 13" id="13"/>
          <p:cNvSpPr txBox="true"/>
          <p:nvPr/>
        </p:nvSpPr>
        <p:spPr>
          <a:xfrm rot="0">
            <a:off x="1435608" y="5468912"/>
            <a:ext cx="1394841" cy="440398"/>
          </a:xfrm>
          <a:prstGeom prst="rect">
            <a:avLst/>
          </a:prstGeom>
        </p:spPr>
        <p:txBody>
          <a:bodyPr anchor="t" rtlCol="false" tIns="0" lIns="0" bIns="0" rIns="0">
            <a:spAutoFit/>
          </a:bodyPr>
          <a:lstStyle/>
          <a:p>
            <a:pPr algn="l">
              <a:lnSpc>
                <a:spcPts val="3156"/>
              </a:lnSpc>
            </a:pPr>
            <a:r>
              <a:rPr lang="en-US" sz="2254" spc="15">
                <a:solidFill>
                  <a:srgbClr val="1E293B"/>
                </a:solidFill>
                <a:latin typeface="Calibri (MS)"/>
                <a:ea typeface="Calibri (MS)"/>
                <a:cs typeface="Calibri (MS)"/>
                <a:sym typeface="Calibri (MS)"/>
              </a:rPr>
              <a:t>Accessories</a:t>
            </a:r>
          </a:p>
        </p:txBody>
      </p:sp>
      <p:sp>
        <p:nvSpPr>
          <p:cNvPr name="TextBox 14" id="14"/>
          <p:cNvSpPr txBox="true"/>
          <p:nvPr/>
        </p:nvSpPr>
        <p:spPr>
          <a:xfrm rot="0">
            <a:off x="1511808" y="6348260"/>
            <a:ext cx="1262539" cy="438023"/>
          </a:xfrm>
          <a:prstGeom prst="rect">
            <a:avLst/>
          </a:prstGeom>
        </p:spPr>
        <p:txBody>
          <a:bodyPr anchor="t" rtlCol="false" tIns="0" lIns="0" bIns="0" rIns="0">
            <a:spAutoFit/>
          </a:bodyPr>
          <a:lstStyle/>
          <a:p>
            <a:pPr algn="l">
              <a:lnSpc>
                <a:spcPts val="3156"/>
              </a:lnSpc>
            </a:pPr>
            <a:r>
              <a:rPr lang="en-US" sz="2254">
                <a:solidFill>
                  <a:srgbClr val="1E293B"/>
                </a:solidFill>
                <a:latin typeface="Calibri (MS)"/>
                <a:ea typeface="Calibri (MS)"/>
                <a:cs typeface="Calibri (MS)"/>
                <a:sym typeface="Calibri (MS)"/>
              </a:rPr>
              <a:t>Outerwear</a:t>
            </a:r>
          </a:p>
        </p:txBody>
      </p:sp>
      <p:sp>
        <p:nvSpPr>
          <p:cNvPr name="TextBox 15" id="15"/>
          <p:cNvSpPr txBox="true"/>
          <p:nvPr/>
        </p:nvSpPr>
        <p:spPr>
          <a:xfrm rot="0">
            <a:off x="4059936" y="2911888"/>
            <a:ext cx="1942548" cy="440398"/>
          </a:xfrm>
          <a:prstGeom prst="rect">
            <a:avLst/>
          </a:prstGeom>
        </p:spPr>
        <p:txBody>
          <a:bodyPr anchor="t" rtlCol="false" tIns="0" lIns="0" bIns="0" rIns="0">
            <a:spAutoFit/>
          </a:bodyPr>
          <a:lstStyle/>
          <a:p>
            <a:pPr algn="l">
              <a:lnSpc>
                <a:spcPts val="3156"/>
              </a:lnSpc>
            </a:pPr>
            <a:r>
              <a:rPr lang="en-US" b="true" sz="2254">
                <a:solidFill>
                  <a:srgbClr val="FFFFFF"/>
                </a:solidFill>
                <a:latin typeface="Calibri (MS) Bold"/>
                <a:ea typeface="Calibri (MS) Bold"/>
                <a:cs typeface="Calibri (MS) Bold"/>
                <a:sym typeface="Calibri (MS) Bold"/>
              </a:rPr>
              <a:t>Total Customers</a:t>
            </a:r>
          </a:p>
        </p:txBody>
      </p:sp>
      <p:sp>
        <p:nvSpPr>
          <p:cNvPr name="TextBox 16" id="16"/>
          <p:cNvSpPr txBox="true"/>
          <p:nvPr/>
        </p:nvSpPr>
        <p:spPr>
          <a:xfrm rot="0">
            <a:off x="4671574" y="3709968"/>
            <a:ext cx="673036" cy="440398"/>
          </a:xfrm>
          <a:prstGeom prst="rect">
            <a:avLst/>
          </a:prstGeom>
        </p:spPr>
        <p:txBody>
          <a:bodyPr anchor="t" rtlCol="false" tIns="0" lIns="0" bIns="0" rIns="0">
            <a:spAutoFit/>
          </a:bodyPr>
          <a:lstStyle/>
          <a:p>
            <a:pPr algn="l">
              <a:lnSpc>
                <a:spcPts val="3156"/>
              </a:lnSpc>
            </a:pPr>
            <a:r>
              <a:rPr lang="en-US" sz="2254" spc="15">
                <a:solidFill>
                  <a:srgbClr val="1E293B"/>
                </a:solidFill>
                <a:latin typeface="Calibri (MS)"/>
                <a:ea typeface="Calibri (MS)"/>
                <a:cs typeface="Calibri (MS)"/>
                <a:sym typeface="Calibri (MS)"/>
              </a:rPr>
              <a:t>1,737</a:t>
            </a:r>
          </a:p>
        </p:txBody>
      </p:sp>
      <p:sp>
        <p:nvSpPr>
          <p:cNvPr name="TextBox 17" id="17"/>
          <p:cNvSpPr txBox="true"/>
          <p:nvPr/>
        </p:nvSpPr>
        <p:spPr>
          <a:xfrm rot="0">
            <a:off x="4782826" y="4589316"/>
            <a:ext cx="460305" cy="440398"/>
          </a:xfrm>
          <a:prstGeom prst="rect">
            <a:avLst/>
          </a:prstGeom>
        </p:spPr>
        <p:txBody>
          <a:bodyPr anchor="t" rtlCol="false" tIns="0" lIns="0" bIns="0" rIns="0">
            <a:spAutoFit/>
          </a:bodyPr>
          <a:lstStyle/>
          <a:p>
            <a:pPr algn="l">
              <a:lnSpc>
                <a:spcPts val="3156"/>
              </a:lnSpc>
            </a:pPr>
            <a:r>
              <a:rPr lang="en-US" b="true" sz="2254" spc="60">
                <a:solidFill>
                  <a:srgbClr val="0D9488"/>
                </a:solidFill>
                <a:latin typeface="Calibri (MS) Bold"/>
                <a:ea typeface="Calibri (MS) Bold"/>
                <a:cs typeface="Calibri (MS) Bold"/>
                <a:sym typeface="Calibri (MS) Bold"/>
              </a:rPr>
              <a:t>974</a:t>
            </a:r>
          </a:p>
        </p:txBody>
      </p:sp>
      <p:sp>
        <p:nvSpPr>
          <p:cNvPr name="TextBox 18" id="18"/>
          <p:cNvSpPr txBox="true"/>
          <p:nvPr/>
        </p:nvSpPr>
        <p:spPr>
          <a:xfrm rot="0">
            <a:off x="4782826" y="5468912"/>
            <a:ext cx="460305" cy="440398"/>
          </a:xfrm>
          <a:prstGeom prst="rect">
            <a:avLst/>
          </a:prstGeom>
        </p:spPr>
        <p:txBody>
          <a:bodyPr anchor="t" rtlCol="false" tIns="0" lIns="0" bIns="0" rIns="0">
            <a:spAutoFit/>
          </a:bodyPr>
          <a:lstStyle/>
          <a:p>
            <a:pPr algn="l">
              <a:lnSpc>
                <a:spcPts val="3156"/>
              </a:lnSpc>
            </a:pPr>
            <a:r>
              <a:rPr lang="en-US" sz="2254" spc="60">
                <a:solidFill>
                  <a:srgbClr val="1E293B"/>
                </a:solidFill>
                <a:latin typeface="Calibri (MS)"/>
                <a:ea typeface="Calibri (MS)"/>
                <a:cs typeface="Calibri (MS)"/>
                <a:sym typeface="Calibri (MS)"/>
              </a:rPr>
              <a:t>852</a:t>
            </a:r>
          </a:p>
        </p:txBody>
      </p:sp>
      <p:sp>
        <p:nvSpPr>
          <p:cNvPr name="TextBox 19" id="19"/>
          <p:cNvSpPr txBox="true"/>
          <p:nvPr/>
        </p:nvSpPr>
        <p:spPr>
          <a:xfrm rot="0">
            <a:off x="4782826" y="6348260"/>
            <a:ext cx="460305" cy="440398"/>
          </a:xfrm>
          <a:prstGeom prst="rect">
            <a:avLst/>
          </a:prstGeom>
        </p:spPr>
        <p:txBody>
          <a:bodyPr anchor="t" rtlCol="false" tIns="0" lIns="0" bIns="0" rIns="0">
            <a:spAutoFit/>
          </a:bodyPr>
          <a:lstStyle/>
          <a:p>
            <a:pPr algn="l">
              <a:lnSpc>
                <a:spcPts val="3156"/>
              </a:lnSpc>
            </a:pPr>
            <a:r>
              <a:rPr lang="en-US" sz="2254" spc="60">
                <a:solidFill>
                  <a:srgbClr val="1E293B"/>
                </a:solidFill>
                <a:latin typeface="Calibri (MS)"/>
                <a:ea typeface="Calibri (MS)"/>
                <a:cs typeface="Calibri (MS)"/>
                <a:sym typeface="Calibri (MS)"/>
              </a:rPr>
              <a:t>337</a:t>
            </a:r>
          </a:p>
        </p:txBody>
      </p:sp>
      <p:sp>
        <p:nvSpPr>
          <p:cNvPr name="TextBox 20" id="20"/>
          <p:cNvSpPr txBox="true"/>
          <p:nvPr/>
        </p:nvSpPr>
        <p:spPr>
          <a:xfrm rot="0">
            <a:off x="7286492" y="3709968"/>
            <a:ext cx="753351" cy="440398"/>
          </a:xfrm>
          <a:prstGeom prst="rect">
            <a:avLst/>
          </a:prstGeom>
        </p:spPr>
        <p:txBody>
          <a:bodyPr anchor="t" rtlCol="false" tIns="0" lIns="0" bIns="0" rIns="0">
            <a:spAutoFit/>
          </a:bodyPr>
          <a:lstStyle/>
          <a:p>
            <a:pPr algn="l">
              <a:lnSpc>
                <a:spcPts val="3156"/>
              </a:lnSpc>
            </a:pPr>
            <a:r>
              <a:rPr lang="en-US" sz="2254" spc="18">
                <a:solidFill>
                  <a:srgbClr val="1E293B"/>
                </a:solidFill>
                <a:latin typeface="Calibri (MS)"/>
                <a:ea typeface="Calibri (MS)"/>
                <a:cs typeface="Calibri (MS)"/>
                <a:sym typeface="Calibri (MS)"/>
              </a:rPr>
              <a:t>$104K</a:t>
            </a:r>
          </a:p>
        </p:txBody>
      </p:sp>
      <p:sp>
        <p:nvSpPr>
          <p:cNvPr name="TextBox 21" id="21"/>
          <p:cNvSpPr txBox="true"/>
          <p:nvPr/>
        </p:nvSpPr>
        <p:spPr>
          <a:xfrm rot="0">
            <a:off x="7358386" y="4589316"/>
            <a:ext cx="626154" cy="440398"/>
          </a:xfrm>
          <a:prstGeom prst="rect">
            <a:avLst/>
          </a:prstGeom>
        </p:spPr>
        <p:txBody>
          <a:bodyPr anchor="t" rtlCol="false" tIns="0" lIns="0" bIns="0" rIns="0">
            <a:spAutoFit/>
          </a:bodyPr>
          <a:lstStyle/>
          <a:p>
            <a:pPr algn="l">
              <a:lnSpc>
                <a:spcPts val="3156"/>
              </a:lnSpc>
            </a:pPr>
            <a:r>
              <a:rPr lang="en-US" b="true" sz="2254" spc="56">
                <a:solidFill>
                  <a:srgbClr val="0D9488"/>
                </a:solidFill>
                <a:latin typeface="Calibri (MS) Bold"/>
                <a:ea typeface="Calibri (MS) Bold"/>
                <a:cs typeface="Calibri (MS) Bold"/>
                <a:sym typeface="Calibri (MS) Bold"/>
              </a:rPr>
              <a:t>$59K</a:t>
            </a:r>
          </a:p>
        </p:txBody>
      </p:sp>
      <p:sp>
        <p:nvSpPr>
          <p:cNvPr name="TextBox 22" id="22"/>
          <p:cNvSpPr txBox="true"/>
          <p:nvPr/>
        </p:nvSpPr>
        <p:spPr>
          <a:xfrm rot="0">
            <a:off x="7361434" y="5468912"/>
            <a:ext cx="618268" cy="440398"/>
          </a:xfrm>
          <a:prstGeom prst="rect">
            <a:avLst/>
          </a:prstGeom>
        </p:spPr>
        <p:txBody>
          <a:bodyPr anchor="t" rtlCol="false" tIns="0" lIns="0" bIns="0" rIns="0">
            <a:spAutoFit/>
          </a:bodyPr>
          <a:lstStyle/>
          <a:p>
            <a:pPr algn="l">
              <a:lnSpc>
                <a:spcPts val="3156"/>
              </a:lnSpc>
            </a:pPr>
            <a:r>
              <a:rPr lang="en-US" sz="2254" spc="56">
                <a:solidFill>
                  <a:srgbClr val="1E293B"/>
                </a:solidFill>
                <a:latin typeface="Calibri (MS)"/>
                <a:ea typeface="Calibri (MS)"/>
                <a:cs typeface="Calibri (MS)"/>
                <a:sym typeface="Calibri (MS)"/>
              </a:rPr>
              <a:t>$50K</a:t>
            </a:r>
          </a:p>
        </p:txBody>
      </p:sp>
      <p:sp>
        <p:nvSpPr>
          <p:cNvPr name="TextBox 23" id="23"/>
          <p:cNvSpPr txBox="true"/>
          <p:nvPr/>
        </p:nvSpPr>
        <p:spPr>
          <a:xfrm rot="0">
            <a:off x="7361434" y="6348260"/>
            <a:ext cx="618268" cy="440398"/>
          </a:xfrm>
          <a:prstGeom prst="rect">
            <a:avLst/>
          </a:prstGeom>
        </p:spPr>
        <p:txBody>
          <a:bodyPr anchor="t" rtlCol="false" tIns="0" lIns="0" bIns="0" rIns="0">
            <a:spAutoFit/>
          </a:bodyPr>
          <a:lstStyle/>
          <a:p>
            <a:pPr algn="l">
              <a:lnSpc>
                <a:spcPts val="3156"/>
              </a:lnSpc>
            </a:pPr>
            <a:r>
              <a:rPr lang="en-US" sz="2254" spc="56">
                <a:solidFill>
                  <a:srgbClr val="1E293B"/>
                </a:solidFill>
                <a:latin typeface="Calibri (MS)"/>
                <a:ea typeface="Calibri (MS)"/>
                <a:cs typeface="Calibri (MS)"/>
                <a:sym typeface="Calibri (MS)"/>
              </a:rPr>
              <a:t>$20K</a:t>
            </a:r>
          </a:p>
        </p:txBody>
      </p:sp>
      <p:sp>
        <p:nvSpPr>
          <p:cNvPr name="TextBox 24" id="24"/>
          <p:cNvSpPr txBox="true"/>
          <p:nvPr/>
        </p:nvSpPr>
        <p:spPr>
          <a:xfrm rot="0">
            <a:off x="9365494" y="2911888"/>
            <a:ext cx="1941957" cy="440398"/>
          </a:xfrm>
          <a:prstGeom prst="rect">
            <a:avLst/>
          </a:prstGeom>
        </p:spPr>
        <p:txBody>
          <a:bodyPr anchor="t" rtlCol="false" tIns="0" lIns="0" bIns="0" rIns="0">
            <a:spAutoFit/>
          </a:bodyPr>
          <a:lstStyle/>
          <a:p>
            <a:pPr algn="l">
              <a:lnSpc>
                <a:spcPts val="3156"/>
              </a:lnSpc>
            </a:pPr>
            <a:r>
              <a:rPr lang="en-US" b="true" sz="2254">
                <a:solidFill>
                  <a:srgbClr val="FFFFFF"/>
                </a:solidFill>
                <a:latin typeface="Calibri (MS) Bold"/>
                <a:ea typeface="Calibri (MS) Bold"/>
                <a:cs typeface="Calibri (MS) Bold"/>
                <a:sym typeface="Calibri (MS) Bold"/>
              </a:rPr>
              <a:t>Avg Order Value</a:t>
            </a:r>
          </a:p>
        </p:txBody>
      </p:sp>
      <p:sp>
        <p:nvSpPr>
          <p:cNvPr name="TextBox 25" id="25"/>
          <p:cNvSpPr txBox="true"/>
          <p:nvPr/>
        </p:nvSpPr>
        <p:spPr>
          <a:xfrm rot="0">
            <a:off x="9980924" y="3709968"/>
            <a:ext cx="671855" cy="440398"/>
          </a:xfrm>
          <a:prstGeom prst="rect">
            <a:avLst/>
          </a:prstGeom>
        </p:spPr>
        <p:txBody>
          <a:bodyPr anchor="t" rtlCol="false" tIns="0" lIns="0" bIns="0" rIns="0">
            <a:spAutoFit/>
          </a:bodyPr>
          <a:lstStyle/>
          <a:p>
            <a:pPr algn="l">
              <a:lnSpc>
                <a:spcPts val="3156"/>
              </a:lnSpc>
            </a:pPr>
            <a:r>
              <a:rPr lang="en-US" sz="2254" spc="11">
                <a:solidFill>
                  <a:srgbClr val="1E293B"/>
                </a:solidFill>
                <a:latin typeface="Calibri (MS)"/>
                <a:ea typeface="Calibri (MS)"/>
                <a:cs typeface="Calibri (MS)"/>
                <a:sym typeface="Calibri (MS)"/>
              </a:rPr>
              <a:t>$59.9</a:t>
            </a:r>
          </a:p>
        </p:txBody>
      </p:sp>
      <p:sp>
        <p:nvSpPr>
          <p:cNvPr name="TextBox 26" id="26"/>
          <p:cNvSpPr txBox="true"/>
          <p:nvPr/>
        </p:nvSpPr>
        <p:spPr>
          <a:xfrm rot="0">
            <a:off x="9977628" y="4589316"/>
            <a:ext cx="691439" cy="440398"/>
          </a:xfrm>
          <a:prstGeom prst="rect">
            <a:avLst/>
          </a:prstGeom>
        </p:spPr>
        <p:txBody>
          <a:bodyPr anchor="t" rtlCol="false" tIns="0" lIns="0" bIns="0" rIns="0">
            <a:spAutoFit/>
          </a:bodyPr>
          <a:lstStyle/>
          <a:p>
            <a:pPr algn="l">
              <a:lnSpc>
                <a:spcPts val="3156"/>
              </a:lnSpc>
            </a:pPr>
            <a:r>
              <a:rPr lang="en-US" b="true" sz="2254" spc="40">
                <a:solidFill>
                  <a:srgbClr val="0D9488"/>
                </a:solidFill>
                <a:latin typeface="Calibri (MS) Bold"/>
                <a:ea typeface="Calibri (MS) Bold"/>
                <a:cs typeface="Calibri (MS) Bold"/>
                <a:sym typeface="Calibri (MS) Bold"/>
              </a:rPr>
              <a:t>$60.5</a:t>
            </a:r>
          </a:p>
        </p:txBody>
      </p:sp>
      <p:sp>
        <p:nvSpPr>
          <p:cNvPr name="TextBox 27" id="27"/>
          <p:cNvSpPr txBox="true"/>
          <p:nvPr/>
        </p:nvSpPr>
        <p:spPr>
          <a:xfrm rot="0">
            <a:off x="9980924" y="5468912"/>
            <a:ext cx="671855" cy="440398"/>
          </a:xfrm>
          <a:prstGeom prst="rect">
            <a:avLst/>
          </a:prstGeom>
        </p:spPr>
        <p:txBody>
          <a:bodyPr anchor="t" rtlCol="false" tIns="0" lIns="0" bIns="0" rIns="0">
            <a:spAutoFit/>
          </a:bodyPr>
          <a:lstStyle/>
          <a:p>
            <a:pPr algn="l">
              <a:lnSpc>
                <a:spcPts val="3156"/>
              </a:lnSpc>
            </a:pPr>
            <a:r>
              <a:rPr lang="en-US" sz="2254" spc="11">
                <a:solidFill>
                  <a:srgbClr val="1E293B"/>
                </a:solidFill>
                <a:latin typeface="Calibri (MS)"/>
                <a:ea typeface="Calibri (MS)"/>
                <a:cs typeface="Calibri (MS)"/>
                <a:sym typeface="Calibri (MS)"/>
              </a:rPr>
              <a:t>$58.6</a:t>
            </a:r>
          </a:p>
        </p:txBody>
      </p:sp>
      <p:sp>
        <p:nvSpPr>
          <p:cNvPr name="TextBox 28" id="28"/>
          <p:cNvSpPr txBox="true"/>
          <p:nvPr/>
        </p:nvSpPr>
        <p:spPr>
          <a:xfrm rot="0">
            <a:off x="9980924" y="6348260"/>
            <a:ext cx="671855" cy="440398"/>
          </a:xfrm>
          <a:prstGeom prst="rect">
            <a:avLst/>
          </a:prstGeom>
        </p:spPr>
        <p:txBody>
          <a:bodyPr anchor="t" rtlCol="false" tIns="0" lIns="0" bIns="0" rIns="0">
            <a:spAutoFit/>
          </a:bodyPr>
          <a:lstStyle/>
          <a:p>
            <a:pPr algn="l">
              <a:lnSpc>
                <a:spcPts val="3156"/>
              </a:lnSpc>
            </a:pPr>
            <a:r>
              <a:rPr lang="en-US" sz="2254" spc="11">
                <a:solidFill>
                  <a:srgbClr val="1E293B"/>
                </a:solidFill>
                <a:latin typeface="Calibri (MS)"/>
                <a:ea typeface="Calibri (MS)"/>
                <a:cs typeface="Calibri (MS)"/>
                <a:sym typeface="Calibri (MS)"/>
              </a:rPr>
              <a:t>$59.3</a:t>
            </a:r>
          </a:p>
        </p:txBody>
      </p:sp>
      <p:sp>
        <p:nvSpPr>
          <p:cNvPr name="TextBox 29" id="29"/>
          <p:cNvSpPr txBox="true"/>
          <p:nvPr/>
        </p:nvSpPr>
        <p:spPr>
          <a:xfrm rot="0">
            <a:off x="12133326" y="2911888"/>
            <a:ext cx="2090356" cy="440398"/>
          </a:xfrm>
          <a:prstGeom prst="rect">
            <a:avLst/>
          </a:prstGeom>
        </p:spPr>
        <p:txBody>
          <a:bodyPr anchor="t" rtlCol="false" tIns="0" lIns="0" bIns="0" rIns="0">
            <a:spAutoFit/>
          </a:bodyPr>
          <a:lstStyle/>
          <a:p>
            <a:pPr algn="l">
              <a:lnSpc>
                <a:spcPts val="3156"/>
              </a:lnSpc>
            </a:pPr>
            <a:r>
              <a:rPr lang="en-US" b="true" sz="2254">
                <a:solidFill>
                  <a:srgbClr val="FFFFFF"/>
                </a:solidFill>
                <a:latin typeface="Calibri (MS) Bold"/>
                <a:ea typeface="Calibri (MS) Bold"/>
                <a:cs typeface="Calibri (MS) Bold"/>
                <a:sym typeface="Calibri (MS) Bold"/>
              </a:rPr>
              <a:t>Avg Loyalty Score</a:t>
            </a:r>
          </a:p>
        </p:txBody>
      </p:sp>
      <p:sp>
        <p:nvSpPr>
          <p:cNvPr name="TextBox 30" id="30"/>
          <p:cNvSpPr txBox="true"/>
          <p:nvPr/>
        </p:nvSpPr>
        <p:spPr>
          <a:xfrm rot="0">
            <a:off x="12893040" y="3709968"/>
            <a:ext cx="535743" cy="440398"/>
          </a:xfrm>
          <a:prstGeom prst="rect">
            <a:avLst/>
          </a:prstGeom>
        </p:spPr>
        <p:txBody>
          <a:bodyPr anchor="t" rtlCol="false" tIns="0" lIns="0" bIns="0" rIns="0">
            <a:spAutoFit/>
          </a:bodyPr>
          <a:lstStyle/>
          <a:p>
            <a:pPr algn="l">
              <a:lnSpc>
                <a:spcPts val="3156"/>
              </a:lnSpc>
            </a:pPr>
            <a:r>
              <a:rPr lang="en-US" sz="2254" spc="45">
                <a:solidFill>
                  <a:srgbClr val="1E293B"/>
                </a:solidFill>
                <a:latin typeface="Calibri (MS)"/>
                <a:ea typeface="Calibri (MS)"/>
                <a:cs typeface="Calibri (MS)"/>
                <a:sym typeface="Calibri (MS)"/>
              </a:rPr>
              <a:t>45.1</a:t>
            </a:r>
          </a:p>
        </p:txBody>
      </p:sp>
      <p:sp>
        <p:nvSpPr>
          <p:cNvPr name="TextBox 31" id="31"/>
          <p:cNvSpPr txBox="true"/>
          <p:nvPr/>
        </p:nvSpPr>
        <p:spPr>
          <a:xfrm rot="0">
            <a:off x="12889744" y="4589316"/>
            <a:ext cx="536315" cy="440398"/>
          </a:xfrm>
          <a:prstGeom prst="rect">
            <a:avLst/>
          </a:prstGeom>
        </p:spPr>
        <p:txBody>
          <a:bodyPr anchor="t" rtlCol="false" tIns="0" lIns="0" bIns="0" rIns="0">
            <a:spAutoFit/>
          </a:bodyPr>
          <a:lstStyle/>
          <a:p>
            <a:pPr algn="l">
              <a:lnSpc>
                <a:spcPts val="3156"/>
              </a:lnSpc>
            </a:pPr>
            <a:r>
              <a:rPr lang="en-US" b="true" sz="2254" spc="36">
                <a:solidFill>
                  <a:srgbClr val="0D9488"/>
                </a:solidFill>
                <a:latin typeface="Calibri (MS) Bold"/>
                <a:ea typeface="Calibri (MS) Bold"/>
                <a:cs typeface="Calibri (MS) Bold"/>
                <a:sym typeface="Calibri (MS) Bold"/>
              </a:rPr>
              <a:t>45.8</a:t>
            </a:r>
          </a:p>
        </p:txBody>
      </p:sp>
      <p:sp>
        <p:nvSpPr>
          <p:cNvPr name="TextBox 32" id="32"/>
          <p:cNvSpPr txBox="true"/>
          <p:nvPr/>
        </p:nvSpPr>
        <p:spPr>
          <a:xfrm rot="0">
            <a:off x="12893040" y="5468912"/>
            <a:ext cx="535743" cy="440398"/>
          </a:xfrm>
          <a:prstGeom prst="rect">
            <a:avLst/>
          </a:prstGeom>
        </p:spPr>
        <p:txBody>
          <a:bodyPr anchor="t" rtlCol="false" tIns="0" lIns="0" bIns="0" rIns="0">
            <a:spAutoFit/>
          </a:bodyPr>
          <a:lstStyle/>
          <a:p>
            <a:pPr algn="l">
              <a:lnSpc>
                <a:spcPts val="3156"/>
              </a:lnSpc>
            </a:pPr>
            <a:r>
              <a:rPr lang="en-US" sz="2254" spc="45">
                <a:solidFill>
                  <a:srgbClr val="1E293B"/>
                </a:solidFill>
                <a:latin typeface="Calibri (MS)"/>
                <a:ea typeface="Calibri (MS)"/>
                <a:cs typeface="Calibri (MS)"/>
                <a:sym typeface="Calibri (MS)"/>
              </a:rPr>
              <a:t>44.9</a:t>
            </a:r>
          </a:p>
        </p:txBody>
      </p:sp>
      <p:sp>
        <p:nvSpPr>
          <p:cNvPr name="TextBox 33" id="33"/>
          <p:cNvSpPr txBox="true"/>
          <p:nvPr/>
        </p:nvSpPr>
        <p:spPr>
          <a:xfrm rot="0">
            <a:off x="12893040" y="6348260"/>
            <a:ext cx="535743" cy="440398"/>
          </a:xfrm>
          <a:prstGeom prst="rect">
            <a:avLst/>
          </a:prstGeom>
        </p:spPr>
        <p:txBody>
          <a:bodyPr anchor="t" rtlCol="false" tIns="0" lIns="0" bIns="0" rIns="0">
            <a:spAutoFit/>
          </a:bodyPr>
          <a:lstStyle/>
          <a:p>
            <a:pPr algn="l">
              <a:lnSpc>
                <a:spcPts val="3156"/>
              </a:lnSpc>
            </a:pPr>
            <a:r>
              <a:rPr lang="en-US" sz="2254" spc="45">
                <a:solidFill>
                  <a:srgbClr val="1E293B"/>
                </a:solidFill>
                <a:latin typeface="Calibri (MS)"/>
                <a:ea typeface="Calibri (MS)"/>
                <a:cs typeface="Calibri (MS)"/>
                <a:sym typeface="Calibri (MS)"/>
              </a:rPr>
              <a:t>45.0</a:t>
            </a:r>
          </a:p>
        </p:txBody>
      </p:sp>
      <p:sp>
        <p:nvSpPr>
          <p:cNvPr name="TextBox 34" id="34"/>
          <p:cNvSpPr txBox="true"/>
          <p:nvPr/>
        </p:nvSpPr>
        <p:spPr>
          <a:xfrm rot="0">
            <a:off x="15434310" y="2911888"/>
            <a:ext cx="859974" cy="440398"/>
          </a:xfrm>
          <a:prstGeom prst="rect">
            <a:avLst/>
          </a:prstGeom>
        </p:spPr>
        <p:txBody>
          <a:bodyPr anchor="t" rtlCol="false" tIns="0" lIns="0" bIns="0" rIns="0">
            <a:spAutoFit/>
          </a:bodyPr>
          <a:lstStyle/>
          <a:p>
            <a:pPr algn="l">
              <a:lnSpc>
                <a:spcPts val="3156"/>
              </a:lnSpc>
            </a:pPr>
            <a:r>
              <a:rPr lang="en-US" b="true" sz="2254">
                <a:solidFill>
                  <a:srgbClr val="FFFFFF"/>
                </a:solidFill>
                <a:latin typeface="Calibri (MS) Bold"/>
                <a:ea typeface="Calibri (MS) Bold"/>
                <a:cs typeface="Calibri (MS) Bold"/>
                <a:sym typeface="Calibri (MS) Bold"/>
              </a:rPr>
              <a:t>Verdict</a:t>
            </a:r>
          </a:p>
        </p:txBody>
      </p:sp>
      <p:sp>
        <p:nvSpPr>
          <p:cNvPr name="TextBox 35" id="35"/>
          <p:cNvSpPr txBox="true"/>
          <p:nvPr/>
        </p:nvSpPr>
        <p:spPr>
          <a:xfrm rot="0">
            <a:off x="15092686" y="3709968"/>
            <a:ext cx="1544098" cy="440398"/>
          </a:xfrm>
          <a:prstGeom prst="rect">
            <a:avLst/>
          </a:prstGeom>
        </p:spPr>
        <p:txBody>
          <a:bodyPr anchor="t" rtlCol="false" tIns="0" lIns="0" bIns="0" rIns="0">
            <a:spAutoFit/>
          </a:bodyPr>
          <a:lstStyle/>
          <a:p>
            <a:pPr algn="l">
              <a:lnSpc>
                <a:spcPts val="3156"/>
              </a:lnSpc>
            </a:pPr>
            <a:r>
              <a:rPr lang="en-US" sz="2254" spc="13">
                <a:solidFill>
                  <a:srgbClr val="1E293B"/>
                </a:solidFill>
                <a:latin typeface="Calibri (MS)"/>
                <a:ea typeface="Calibri (MS)"/>
                <a:cs typeface="Calibri (MS)"/>
                <a:sym typeface="Calibri (MS)"/>
              </a:rPr>
              <a:t>High Volume</a:t>
            </a:r>
          </a:p>
        </p:txBody>
      </p:sp>
      <p:sp>
        <p:nvSpPr>
          <p:cNvPr name="TextBox 36" id="36"/>
          <p:cNvSpPr txBox="true"/>
          <p:nvPr/>
        </p:nvSpPr>
        <p:spPr>
          <a:xfrm rot="0">
            <a:off x="15073370" y="4589316"/>
            <a:ext cx="1583246" cy="440398"/>
          </a:xfrm>
          <a:prstGeom prst="rect">
            <a:avLst/>
          </a:prstGeom>
        </p:spPr>
        <p:txBody>
          <a:bodyPr anchor="t" rtlCol="false" tIns="0" lIns="0" bIns="0" rIns="0">
            <a:spAutoFit/>
          </a:bodyPr>
          <a:lstStyle/>
          <a:p>
            <a:pPr algn="l">
              <a:lnSpc>
                <a:spcPts val="3156"/>
              </a:lnSpc>
            </a:pPr>
            <a:r>
              <a:rPr lang="en-US" b="true" sz="2254" spc="15">
                <a:solidFill>
                  <a:srgbClr val="0D9488"/>
                </a:solidFill>
                <a:latin typeface="Calibri (MS) Bold"/>
                <a:ea typeface="Calibri (MS) Bold"/>
                <a:cs typeface="Calibri (MS) Bold"/>
                <a:sym typeface="Calibri (MS) Bold"/>
              </a:rPr>
              <a:t>Higher Value</a:t>
            </a:r>
          </a:p>
        </p:txBody>
      </p:sp>
      <p:sp>
        <p:nvSpPr>
          <p:cNvPr name="TextBox 37" id="37"/>
          <p:cNvSpPr txBox="true"/>
          <p:nvPr/>
        </p:nvSpPr>
        <p:spPr>
          <a:xfrm rot="0">
            <a:off x="15485116" y="5468912"/>
            <a:ext cx="723424" cy="438023"/>
          </a:xfrm>
          <a:prstGeom prst="rect">
            <a:avLst/>
          </a:prstGeom>
        </p:spPr>
        <p:txBody>
          <a:bodyPr anchor="t" rtlCol="false" tIns="0" lIns="0" bIns="0" rIns="0">
            <a:spAutoFit/>
          </a:bodyPr>
          <a:lstStyle/>
          <a:p>
            <a:pPr algn="l">
              <a:lnSpc>
                <a:spcPts val="3156"/>
              </a:lnSpc>
            </a:pPr>
            <a:r>
              <a:rPr lang="en-US" sz="2254">
                <a:solidFill>
                  <a:srgbClr val="1E293B"/>
                </a:solidFill>
                <a:latin typeface="Calibri (MS)"/>
                <a:ea typeface="Calibri (MS)"/>
                <a:cs typeface="Calibri (MS)"/>
                <a:sym typeface="Calibri (MS)"/>
              </a:rPr>
              <a:t>Stable</a:t>
            </a:r>
          </a:p>
        </p:txBody>
      </p:sp>
      <p:sp>
        <p:nvSpPr>
          <p:cNvPr name="TextBox 38" id="38"/>
          <p:cNvSpPr txBox="true"/>
          <p:nvPr/>
        </p:nvSpPr>
        <p:spPr>
          <a:xfrm rot="0">
            <a:off x="15515330" y="6348260"/>
            <a:ext cx="664607" cy="438023"/>
          </a:xfrm>
          <a:prstGeom prst="rect">
            <a:avLst/>
          </a:prstGeom>
        </p:spPr>
        <p:txBody>
          <a:bodyPr anchor="t" rtlCol="false" tIns="0" lIns="0" bIns="0" rIns="0">
            <a:spAutoFit/>
          </a:bodyPr>
          <a:lstStyle/>
          <a:p>
            <a:pPr algn="l">
              <a:lnSpc>
                <a:spcPts val="3156"/>
              </a:lnSpc>
            </a:pPr>
            <a:r>
              <a:rPr lang="en-US" sz="2254">
                <a:solidFill>
                  <a:srgbClr val="1E293B"/>
                </a:solidFill>
                <a:latin typeface="Calibri (MS)"/>
                <a:ea typeface="Calibri (MS)"/>
                <a:cs typeface="Calibri (MS)"/>
                <a:sym typeface="Calibri (MS)"/>
              </a:rPr>
              <a:t>Niche</a:t>
            </a:r>
          </a:p>
        </p:txBody>
      </p:sp>
      <p:sp>
        <p:nvSpPr>
          <p:cNvPr name="TextBox 39" id="39"/>
          <p:cNvSpPr txBox="true"/>
          <p:nvPr/>
        </p:nvSpPr>
        <p:spPr>
          <a:xfrm rot="0">
            <a:off x="1266196" y="7531703"/>
            <a:ext cx="2876493" cy="486308"/>
          </a:xfrm>
          <a:prstGeom prst="rect">
            <a:avLst/>
          </a:prstGeom>
        </p:spPr>
        <p:txBody>
          <a:bodyPr anchor="t" rtlCol="false" tIns="0" lIns="0" bIns="0" rIns="0">
            <a:spAutoFit/>
          </a:bodyPr>
          <a:lstStyle/>
          <a:p>
            <a:pPr algn="l">
              <a:lnSpc>
                <a:spcPts val="3576"/>
              </a:lnSpc>
            </a:pPr>
            <a:r>
              <a:rPr lang="en-US" b="true" sz="2554" spc="15">
                <a:solidFill>
                  <a:srgbClr val="1E293B"/>
                </a:solidFill>
                <a:latin typeface="Calibri (MS) Bold"/>
                <a:ea typeface="Calibri (MS) Bold"/>
                <a:cs typeface="Calibri (MS) Bold"/>
                <a:sym typeface="Calibri (MS) Bold"/>
              </a:rPr>
              <a:t>Strategic Implication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31" y="1793996"/>
            <a:ext cx="8147056" cy="3194056"/>
          </a:xfrm>
          <a:custGeom>
            <a:avLst/>
            <a:gdLst/>
            <a:ahLst/>
            <a:cxnLst/>
            <a:rect r="r" b="b" t="t" l="l"/>
            <a:pathLst>
              <a:path h="3194056" w="8147056">
                <a:moveTo>
                  <a:pt x="0" y="0"/>
                </a:moveTo>
                <a:lnTo>
                  <a:pt x="8147057" y="0"/>
                </a:lnTo>
                <a:lnTo>
                  <a:pt x="8147057" y="3194056"/>
                </a:lnTo>
                <a:lnTo>
                  <a:pt x="0" y="31940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75896" y="1793996"/>
            <a:ext cx="8147056" cy="3194056"/>
          </a:xfrm>
          <a:custGeom>
            <a:avLst/>
            <a:gdLst/>
            <a:ahLst/>
            <a:cxnLst/>
            <a:rect r="r" b="b" t="t" l="l"/>
            <a:pathLst>
              <a:path h="3194056" w="8147056">
                <a:moveTo>
                  <a:pt x="0" y="0"/>
                </a:moveTo>
                <a:lnTo>
                  <a:pt x="8147056" y="0"/>
                </a:lnTo>
                <a:lnTo>
                  <a:pt x="8147056" y="3194056"/>
                </a:lnTo>
                <a:lnTo>
                  <a:pt x="0" y="3194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38150" y="1752352"/>
            <a:ext cx="8334508" cy="3381508"/>
            <a:chOff x="0" y="0"/>
            <a:chExt cx="5556339" cy="2254339"/>
          </a:xfrm>
        </p:grpSpPr>
        <p:sp>
          <p:nvSpPr>
            <p:cNvPr name="Freeform 6" id="6"/>
            <p:cNvSpPr/>
            <p:nvPr/>
          </p:nvSpPr>
          <p:spPr>
            <a:xfrm flipH="false" flipV="false" rot="0">
              <a:off x="0" y="0"/>
              <a:ext cx="5556377" cy="2254377"/>
            </a:xfrm>
            <a:custGeom>
              <a:avLst/>
              <a:gdLst/>
              <a:ahLst/>
              <a:cxnLst/>
              <a:rect r="r" b="b" t="t" l="l"/>
              <a:pathLst>
                <a:path h="2254377" w="5556377">
                  <a:moveTo>
                    <a:pt x="5442077" y="120904"/>
                  </a:moveTo>
                  <a:lnTo>
                    <a:pt x="5442077" y="2064004"/>
                  </a:lnTo>
                  <a:lnTo>
                    <a:pt x="196850" y="2064004"/>
                  </a:lnTo>
                  <a:lnTo>
                    <a:pt x="196850" y="120904"/>
                  </a:lnTo>
                  <a:close/>
                  <a:moveTo>
                    <a:pt x="0" y="0"/>
                  </a:moveTo>
                  <a:lnTo>
                    <a:pt x="0" y="2254377"/>
                  </a:lnTo>
                  <a:lnTo>
                    <a:pt x="5556377" y="2254377"/>
                  </a:lnTo>
                  <a:lnTo>
                    <a:pt x="5556377" y="0"/>
                  </a:lnTo>
                  <a:close/>
                </a:path>
              </a:pathLst>
            </a:custGeom>
            <a:blipFill>
              <a:blip r:embed="rId8"/>
              <a:stretch>
                <a:fillRect l="0" t="0" r="0" b="1"/>
              </a:stretch>
            </a:blipFill>
          </p:spPr>
        </p:sp>
      </p:grpSp>
      <p:grpSp>
        <p:nvGrpSpPr>
          <p:cNvPr name="Group 7" id="7"/>
          <p:cNvGrpSpPr/>
          <p:nvPr/>
        </p:nvGrpSpPr>
        <p:grpSpPr>
          <a:xfrm rot="0">
            <a:off x="9220200" y="1752352"/>
            <a:ext cx="8334508" cy="3381508"/>
            <a:chOff x="0" y="0"/>
            <a:chExt cx="5556339" cy="2254339"/>
          </a:xfrm>
        </p:grpSpPr>
        <p:sp>
          <p:nvSpPr>
            <p:cNvPr name="Freeform 8" id="8"/>
            <p:cNvSpPr/>
            <p:nvPr/>
          </p:nvSpPr>
          <p:spPr>
            <a:xfrm flipH="false" flipV="false" rot="0">
              <a:off x="0" y="0"/>
              <a:ext cx="5556377" cy="2254377"/>
            </a:xfrm>
            <a:custGeom>
              <a:avLst/>
              <a:gdLst/>
              <a:ahLst/>
              <a:cxnLst/>
              <a:rect r="r" b="b" t="t" l="l"/>
              <a:pathLst>
                <a:path h="2254377" w="5556377">
                  <a:moveTo>
                    <a:pt x="5442077" y="120904"/>
                  </a:moveTo>
                  <a:lnTo>
                    <a:pt x="5442077" y="2064004"/>
                  </a:lnTo>
                  <a:lnTo>
                    <a:pt x="196977" y="2064004"/>
                  </a:lnTo>
                  <a:lnTo>
                    <a:pt x="196977" y="120904"/>
                  </a:lnTo>
                  <a:close/>
                  <a:moveTo>
                    <a:pt x="0" y="0"/>
                  </a:moveTo>
                  <a:lnTo>
                    <a:pt x="0" y="2254377"/>
                  </a:lnTo>
                  <a:lnTo>
                    <a:pt x="5556377" y="2254377"/>
                  </a:lnTo>
                  <a:lnTo>
                    <a:pt x="5556377" y="0"/>
                  </a:lnTo>
                  <a:close/>
                </a:path>
              </a:pathLst>
            </a:custGeom>
            <a:blipFill>
              <a:blip r:embed="rId8"/>
              <a:stretch>
                <a:fillRect l="0" t="0" r="0" b="1"/>
              </a:stretch>
            </a:blipFill>
          </p:spPr>
        </p:sp>
      </p:grpSp>
      <p:sp>
        <p:nvSpPr>
          <p:cNvPr name="TextBox 9" id="9"/>
          <p:cNvSpPr txBox="true"/>
          <p:nvPr/>
        </p:nvSpPr>
        <p:spPr>
          <a:xfrm rot="0">
            <a:off x="732149" y="289636"/>
            <a:ext cx="11252968" cy="848297"/>
          </a:xfrm>
          <a:prstGeom prst="rect">
            <a:avLst/>
          </a:prstGeom>
        </p:spPr>
        <p:txBody>
          <a:bodyPr anchor="t" rtlCol="false" tIns="0" lIns="0" bIns="0" rIns="0">
            <a:spAutoFit/>
          </a:bodyPr>
          <a:lstStyle/>
          <a:p>
            <a:pPr algn="l">
              <a:lnSpc>
                <a:spcPts val="6103"/>
              </a:lnSpc>
            </a:pPr>
            <a:r>
              <a:rPr lang="en-US" b="true" sz="4359" spc="8">
                <a:solidFill>
                  <a:srgbClr val="FFFFFF"/>
                </a:solidFill>
                <a:latin typeface="Calibri (MS) Bold"/>
                <a:ea typeface="Calibri (MS) Bold"/>
                <a:cs typeface="Calibri (MS) Bold"/>
                <a:sym typeface="Calibri (MS) Bold"/>
              </a:rPr>
              <a:t>Finding 03 · Discounts Are Not Building Loyalty</a:t>
            </a:r>
          </a:p>
        </p:txBody>
      </p:sp>
      <p:sp>
        <p:nvSpPr>
          <p:cNvPr name="TextBox 10" id="10"/>
          <p:cNvSpPr txBox="true"/>
          <p:nvPr/>
        </p:nvSpPr>
        <p:spPr>
          <a:xfrm rot="0">
            <a:off x="951871" y="6272936"/>
            <a:ext cx="2961856" cy="453828"/>
          </a:xfrm>
          <a:prstGeom prst="rect">
            <a:avLst/>
          </a:prstGeom>
        </p:spPr>
        <p:txBody>
          <a:bodyPr anchor="t" rtlCol="false" tIns="0" lIns="0" bIns="0" rIns="0">
            <a:spAutoFit/>
          </a:bodyPr>
          <a:lstStyle/>
          <a:p>
            <a:pPr algn="l">
              <a:lnSpc>
                <a:spcPts val="3366"/>
              </a:lnSpc>
            </a:pPr>
            <a:r>
              <a:rPr lang="en-US" b="true" sz="2404">
                <a:solidFill>
                  <a:srgbClr val="0D9488"/>
                </a:solidFill>
                <a:latin typeface="Calibri (MS) Bold"/>
                <a:ea typeface="Calibri (MS) Bold"/>
                <a:cs typeface="Calibri (MS) Bold"/>
                <a:sym typeface="Calibri (MS) Bold"/>
              </a:rPr>
              <a:t>Bargain Hunter Pattern</a:t>
            </a:r>
          </a:p>
        </p:txBody>
      </p:sp>
      <p:sp>
        <p:nvSpPr>
          <p:cNvPr name="TextBox 11" id="11"/>
          <p:cNvSpPr txBox="true"/>
          <p:nvPr/>
        </p:nvSpPr>
        <p:spPr>
          <a:xfrm rot="0">
            <a:off x="6663690" y="6272936"/>
            <a:ext cx="3212954" cy="453828"/>
          </a:xfrm>
          <a:prstGeom prst="rect">
            <a:avLst/>
          </a:prstGeom>
        </p:spPr>
        <p:txBody>
          <a:bodyPr anchor="t" rtlCol="false" tIns="0" lIns="0" bIns="0" rIns="0">
            <a:spAutoFit/>
          </a:bodyPr>
          <a:lstStyle/>
          <a:p>
            <a:pPr algn="l">
              <a:lnSpc>
                <a:spcPts val="3366"/>
              </a:lnSpc>
            </a:pPr>
            <a:r>
              <a:rPr lang="en-US" b="true" sz="2404">
                <a:solidFill>
                  <a:srgbClr val="0D1B3E"/>
                </a:solidFill>
                <a:latin typeface="Calibri (MS) Bold"/>
                <a:ea typeface="Calibri (MS) Bold"/>
                <a:cs typeface="Calibri (MS) Bold"/>
                <a:sym typeface="Calibri (MS) Bold"/>
              </a:rPr>
              <a:t>Promo Code vs. Discount</a:t>
            </a:r>
          </a:p>
        </p:txBody>
      </p:sp>
      <p:sp>
        <p:nvSpPr>
          <p:cNvPr name="TextBox 12" id="12"/>
          <p:cNvSpPr txBox="true"/>
          <p:nvPr/>
        </p:nvSpPr>
        <p:spPr>
          <a:xfrm rot="0">
            <a:off x="12375642" y="6272936"/>
            <a:ext cx="3057944" cy="453828"/>
          </a:xfrm>
          <a:prstGeom prst="rect">
            <a:avLst/>
          </a:prstGeom>
        </p:spPr>
        <p:txBody>
          <a:bodyPr anchor="t" rtlCol="false" tIns="0" lIns="0" bIns="0" rIns="0">
            <a:spAutoFit/>
          </a:bodyPr>
          <a:lstStyle/>
          <a:p>
            <a:pPr algn="l">
              <a:lnSpc>
                <a:spcPts val="3366"/>
              </a:lnSpc>
            </a:pPr>
            <a:r>
              <a:rPr lang="en-US" b="true" sz="2404">
                <a:solidFill>
                  <a:srgbClr val="EF4444"/>
                </a:solidFill>
                <a:latin typeface="Calibri (MS) Bold"/>
                <a:ea typeface="Calibri (MS) Bold"/>
                <a:cs typeface="Calibri (MS) Bold"/>
                <a:sym typeface="Calibri (MS) Bold"/>
              </a:rPr>
              <a:t>Under-18 Discount Trap</a:t>
            </a:r>
          </a:p>
        </p:txBody>
      </p:sp>
      <p:sp>
        <p:nvSpPr>
          <p:cNvPr name="TextBox 13" id="13"/>
          <p:cNvSpPr txBox="true"/>
          <p:nvPr/>
        </p:nvSpPr>
        <p:spPr>
          <a:xfrm rot="0">
            <a:off x="14710924" y="547764"/>
            <a:ext cx="1911306" cy="453828"/>
          </a:xfrm>
          <a:prstGeom prst="rect">
            <a:avLst/>
          </a:prstGeom>
        </p:spPr>
        <p:txBody>
          <a:bodyPr anchor="t" rtlCol="false" tIns="0" lIns="0" bIns="0" rIns="0">
            <a:spAutoFit/>
          </a:bodyPr>
          <a:lstStyle/>
          <a:p>
            <a:pPr algn="l">
              <a:lnSpc>
                <a:spcPts val="3366"/>
              </a:lnSpc>
            </a:pPr>
            <a:r>
              <a:rPr lang="en-US" b="true" sz="2404">
                <a:solidFill>
                  <a:srgbClr val="FFFFFF"/>
                </a:solidFill>
                <a:latin typeface="Calibri (MS) Bold"/>
                <a:ea typeface="Calibri (MS) Bold"/>
                <a:cs typeface="Calibri (MS) Bold"/>
                <a:sym typeface="Calibri (MS) Bold"/>
              </a:rPr>
              <a:t>Critical Finding</a:t>
            </a:r>
          </a:p>
        </p:txBody>
      </p:sp>
      <p:sp>
        <p:nvSpPr>
          <p:cNvPr name="TextBox 14" id="14"/>
          <p:cNvSpPr txBox="true"/>
          <p:nvPr/>
        </p:nvSpPr>
        <p:spPr>
          <a:xfrm rot="0">
            <a:off x="3045400" y="2768041"/>
            <a:ext cx="2377059" cy="2054428"/>
          </a:xfrm>
          <a:prstGeom prst="rect">
            <a:avLst/>
          </a:prstGeom>
        </p:spPr>
        <p:txBody>
          <a:bodyPr anchor="t" rtlCol="false" tIns="0" lIns="0" bIns="0" rIns="0">
            <a:spAutoFit/>
          </a:bodyPr>
          <a:lstStyle/>
          <a:p>
            <a:pPr algn="ctr">
              <a:lnSpc>
                <a:spcPts val="5485"/>
              </a:lnSpc>
            </a:pPr>
            <a:r>
              <a:rPr lang="en-US" b="true" sz="10065">
                <a:solidFill>
                  <a:srgbClr val="FFFFFF"/>
                </a:solidFill>
                <a:latin typeface="Calibri (MS) Bold"/>
                <a:ea typeface="Calibri (MS) Bold"/>
                <a:cs typeface="Calibri (MS) Bold"/>
                <a:sym typeface="Calibri (MS) Bold"/>
              </a:rPr>
              <a:t>42.1</a:t>
            </a:r>
          </a:p>
          <a:p>
            <a:pPr algn="ctr">
              <a:lnSpc>
                <a:spcPts val="6387"/>
              </a:lnSpc>
            </a:pPr>
            <a:r>
              <a:rPr lang="en-US" sz="2554" spc="12">
                <a:solidFill>
                  <a:srgbClr val="FFFFFF"/>
                </a:solidFill>
                <a:latin typeface="Calibri (MS)"/>
                <a:ea typeface="Calibri (MS)"/>
                <a:cs typeface="Calibri (MS)"/>
                <a:sym typeface="Calibri (MS)"/>
              </a:rPr>
              <a:t>Discount Users</a:t>
            </a:r>
          </a:p>
        </p:txBody>
      </p:sp>
      <p:sp>
        <p:nvSpPr>
          <p:cNvPr name="TextBox 15" id="15"/>
          <p:cNvSpPr txBox="true"/>
          <p:nvPr/>
        </p:nvSpPr>
        <p:spPr>
          <a:xfrm rot="0">
            <a:off x="11996947" y="2726322"/>
            <a:ext cx="2713977" cy="2054428"/>
          </a:xfrm>
          <a:prstGeom prst="rect">
            <a:avLst/>
          </a:prstGeom>
        </p:spPr>
        <p:txBody>
          <a:bodyPr anchor="t" rtlCol="false" tIns="0" lIns="0" bIns="0" rIns="0">
            <a:spAutoFit/>
          </a:bodyPr>
          <a:lstStyle/>
          <a:p>
            <a:pPr algn="ctr">
              <a:lnSpc>
                <a:spcPts val="5485"/>
              </a:lnSpc>
            </a:pPr>
            <a:r>
              <a:rPr lang="en-US" b="true" sz="10065">
                <a:solidFill>
                  <a:srgbClr val="FFFFFF"/>
                </a:solidFill>
                <a:latin typeface="Calibri (MS) Bold"/>
                <a:ea typeface="Calibri (MS) Bold"/>
                <a:cs typeface="Calibri (MS) Bold"/>
                <a:sym typeface="Calibri (MS) Bold"/>
              </a:rPr>
              <a:t>48.3</a:t>
            </a:r>
          </a:p>
          <a:p>
            <a:pPr algn="ctr">
              <a:lnSpc>
                <a:spcPts val="6387"/>
              </a:lnSpc>
            </a:pPr>
            <a:r>
              <a:rPr lang="en-US" sz="2554" spc="20">
                <a:solidFill>
                  <a:srgbClr val="FFFFFF"/>
                </a:solidFill>
                <a:latin typeface="Calibri (MS)"/>
                <a:ea typeface="Calibri (MS)"/>
                <a:cs typeface="Calibri (MS)"/>
                <a:sym typeface="Calibri (MS)"/>
              </a:rPr>
              <a:t>Non-Discount Users</a:t>
            </a:r>
          </a:p>
        </p:txBody>
      </p:sp>
      <p:sp>
        <p:nvSpPr>
          <p:cNvPr name="TextBox 16" id="16"/>
          <p:cNvSpPr txBox="true"/>
          <p:nvPr/>
        </p:nvSpPr>
        <p:spPr>
          <a:xfrm rot="0">
            <a:off x="5852065" y="5102571"/>
            <a:ext cx="6311265" cy="541763"/>
          </a:xfrm>
          <a:prstGeom prst="rect">
            <a:avLst/>
          </a:prstGeom>
        </p:spPr>
        <p:txBody>
          <a:bodyPr anchor="t" rtlCol="false" tIns="0" lIns="0" bIns="0" rIns="0">
            <a:spAutoFit/>
          </a:bodyPr>
          <a:lstStyle/>
          <a:p>
            <a:pPr algn="l">
              <a:lnSpc>
                <a:spcPts val="3996"/>
              </a:lnSpc>
            </a:pPr>
            <a:r>
              <a:rPr lang="en-US" b="true" sz="2854">
                <a:solidFill>
                  <a:srgbClr val="EF4444"/>
                </a:solidFill>
                <a:latin typeface="Calibri (MS) Bold"/>
                <a:ea typeface="Calibri (MS) Bold"/>
                <a:cs typeface="Calibri (MS) Bold"/>
                <a:sym typeface="Calibri (MS) Bold"/>
              </a:rPr>
              <a:t>14.7% lower loyalty among discount users</a:t>
            </a:r>
          </a:p>
        </p:txBody>
      </p:sp>
      <p:grpSp>
        <p:nvGrpSpPr>
          <p:cNvPr name="Group 17" id="17"/>
          <p:cNvGrpSpPr/>
          <p:nvPr/>
        </p:nvGrpSpPr>
        <p:grpSpPr>
          <a:xfrm rot="0">
            <a:off x="332887" y="6928911"/>
            <a:ext cx="5519178" cy="2046973"/>
            <a:chOff x="0" y="0"/>
            <a:chExt cx="1453611" cy="539120"/>
          </a:xfrm>
        </p:grpSpPr>
        <p:sp>
          <p:nvSpPr>
            <p:cNvPr name="Freeform 18" id="18"/>
            <p:cNvSpPr/>
            <p:nvPr/>
          </p:nvSpPr>
          <p:spPr>
            <a:xfrm flipH="false" flipV="false" rot="0">
              <a:off x="0" y="0"/>
              <a:ext cx="1453611" cy="539120"/>
            </a:xfrm>
            <a:custGeom>
              <a:avLst/>
              <a:gdLst/>
              <a:ahLst/>
              <a:cxnLst/>
              <a:rect r="r" b="b" t="t" l="l"/>
              <a:pathLst>
                <a:path h="539120" w="1453611">
                  <a:moveTo>
                    <a:pt x="0" y="0"/>
                  </a:moveTo>
                  <a:lnTo>
                    <a:pt x="1453611" y="0"/>
                  </a:lnTo>
                  <a:lnTo>
                    <a:pt x="1453611" y="539120"/>
                  </a:lnTo>
                  <a:lnTo>
                    <a:pt x="0" y="539120"/>
                  </a:lnTo>
                  <a:close/>
                </a:path>
              </a:pathLst>
            </a:custGeom>
            <a:solidFill>
              <a:srgbClr val="F59E0B"/>
            </a:solidFill>
          </p:spPr>
        </p:sp>
        <p:sp>
          <p:nvSpPr>
            <p:cNvPr name="TextBox 19" id="19"/>
            <p:cNvSpPr txBox="true"/>
            <p:nvPr/>
          </p:nvSpPr>
          <p:spPr>
            <a:xfrm>
              <a:off x="0" y="-95250"/>
              <a:ext cx="1453611" cy="634370"/>
            </a:xfrm>
            <a:prstGeom prst="rect">
              <a:avLst/>
            </a:prstGeom>
          </p:spPr>
          <p:txBody>
            <a:bodyPr anchor="ctr" rtlCol="false" tIns="50800" lIns="50800" bIns="50800" rIns="50800"/>
            <a:lstStyle/>
            <a:p>
              <a:pPr algn="ctr">
                <a:lnSpc>
                  <a:spcPts val="3156"/>
                </a:lnSpc>
              </a:pPr>
            </a:p>
          </p:txBody>
        </p:sp>
      </p:grpSp>
      <p:sp>
        <p:nvSpPr>
          <p:cNvPr name="TextBox 20" id="20"/>
          <p:cNvSpPr txBox="true"/>
          <p:nvPr/>
        </p:nvSpPr>
        <p:spPr>
          <a:xfrm rot="0">
            <a:off x="593731" y="7252204"/>
            <a:ext cx="4900193" cy="1352762"/>
          </a:xfrm>
          <a:prstGeom prst="rect">
            <a:avLst/>
          </a:prstGeom>
        </p:spPr>
        <p:txBody>
          <a:bodyPr anchor="t" rtlCol="false" tIns="0" lIns="0" bIns="0" rIns="0">
            <a:spAutoFit/>
          </a:bodyPr>
          <a:lstStyle/>
          <a:p>
            <a:pPr algn="l">
              <a:lnSpc>
                <a:spcPts val="2629"/>
              </a:lnSpc>
            </a:pPr>
            <a:r>
              <a:rPr lang="en-US" sz="2254">
                <a:solidFill>
                  <a:srgbClr val="1E293B"/>
                </a:solidFill>
                <a:latin typeface="Calibri (MS)"/>
                <a:ea typeface="Calibri (MS)"/>
                <a:cs typeface="Calibri (MS)"/>
                <a:sym typeface="Calibri (MS)"/>
              </a:rPr>
              <a:t>Older male customers (50+) are the most profitable discount users with high loyalty (49.7) but this is despite discounts, not because of them.</a:t>
            </a:r>
          </a:p>
        </p:txBody>
      </p:sp>
      <p:grpSp>
        <p:nvGrpSpPr>
          <p:cNvPr name="Group 21" id="21"/>
          <p:cNvGrpSpPr/>
          <p:nvPr/>
        </p:nvGrpSpPr>
        <p:grpSpPr>
          <a:xfrm rot="0">
            <a:off x="6175195" y="6928911"/>
            <a:ext cx="5519178" cy="2046973"/>
            <a:chOff x="0" y="0"/>
            <a:chExt cx="1453611" cy="539120"/>
          </a:xfrm>
        </p:grpSpPr>
        <p:sp>
          <p:nvSpPr>
            <p:cNvPr name="Freeform 22" id="22"/>
            <p:cNvSpPr/>
            <p:nvPr/>
          </p:nvSpPr>
          <p:spPr>
            <a:xfrm flipH="false" flipV="false" rot="0">
              <a:off x="0" y="0"/>
              <a:ext cx="1453611" cy="539120"/>
            </a:xfrm>
            <a:custGeom>
              <a:avLst/>
              <a:gdLst/>
              <a:ahLst/>
              <a:cxnLst/>
              <a:rect r="r" b="b" t="t" l="l"/>
              <a:pathLst>
                <a:path h="539120" w="1453611">
                  <a:moveTo>
                    <a:pt x="0" y="0"/>
                  </a:moveTo>
                  <a:lnTo>
                    <a:pt x="1453611" y="0"/>
                  </a:lnTo>
                  <a:lnTo>
                    <a:pt x="1453611" y="539120"/>
                  </a:lnTo>
                  <a:lnTo>
                    <a:pt x="0" y="539120"/>
                  </a:lnTo>
                  <a:close/>
                </a:path>
              </a:pathLst>
            </a:custGeom>
            <a:solidFill>
              <a:srgbClr val="14B8A6"/>
            </a:solidFill>
          </p:spPr>
        </p:sp>
        <p:sp>
          <p:nvSpPr>
            <p:cNvPr name="TextBox 23" id="23"/>
            <p:cNvSpPr txBox="true"/>
            <p:nvPr/>
          </p:nvSpPr>
          <p:spPr>
            <a:xfrm>
              <a:off x="0" y="-95250"/>
              <a:ext cx="1453611" cy="634370"/>
            </a:xfrm>
            <a:prstGeom prst="rect">
              <a:avLst/>
            </a:prstGeom>
          </p:spPr>
          <p:txBody>
            <a:bodyPr anchor="ctr" rtlCol="false" tIns="50800" lIns="50800" bIns="50800" rIns="50800"/>
            <a:lstStyle/>
            <a:p>
              <a:pPr algn="ctr">
                <a:lnSpc>
                  <a:spcPts val="3156"/>
                </a:lnSpc>
              </a:pPr>
            </a:p>
          </p:txBody>
        </p:sp>
      </p:grpSp>
      <p:sp>
        <p:nvSpPr>
          <p:cNvPr name="TextBox 24" id="24"/>
          <p:cNvSpPr txBox="true"/>
          <p:nvPr/>
        </p:nvSpPr>
        <p:spPr>
          <a:xfrm rot="0">
            <a:off x="6506470" y="7200638"/>
            <a:ext cx="5002454" cy="1404328"/>
          </a:xfrm>
          <a:prstGeom prst="rect">
            <a:avLst/>
          </a:prstGeom>
        </p:spPr>
        <p:txBody>
          <a:bodyPr anchor="t" rtlCol="false" tIns="0" lIns="0" bIns="0" rIns="0">
            <a:spAutoFit/>
          </a:bodyPr>
          <a:lstStyle/>
          <a:p>
            <a:pPr algn="l">
              <a:lnSpc>
                <a:spcPts val="2629"/>
              </a:lnSpc>
            </a:pPr>
            <a:r>
              <a:rPr lang="en-US" sz="2254">
                <a:solidFill>
                  <a:srgbClr val="1E293B"/>
                </a:solidFill>
                <a:latin typeface="Calibri (MS)"/>
                <a:ea typeface="Calibri (MS)"/>
                <a:cs typeface="Calibri (MS)"/>
                <a:sym typeface="Calibri (MS)"/>
              </a:rPr>
              <a:t>Customers using only promo codes show slightly better repeat rates than direct discount recipients, suggesting code-based rewards work marginally better.</a:t>
            </a:r>
          </a:p>
        </p:txBody>
      </p:sp>
      <p:grpSp>
        <p:nvGrpSpPr>
          <p:cNvPr name="Group 25" id="25"/>
          <p:cNvGrpSpPr/>
          <p:nvPr/>
        </p:nvGrpSpPr>
        <p:grpSpPr>
          <a:xfrm rot="0">
            <a:off x="11951336" y="6903128"/>
            <a:ext cx="5519178" cy="2046973"/>
            <a:chOff x="0" y="0"/>
            <a:chExt cx="1453611" cy="539120"/>
          </a:xfrm>
        </p:grpSpPr>
        <p:sp>
          <p:nvSpPr>
            <p:cNvPr name="Freeform 26" id="26"/>
            <p:cNvSpPr/>
            <p:nvPr/>
          </p:nvSpPr>
          <p:spPr>
            <a:xfrm flipH="false" flipV="false" rot="0">
              <a:off x="0" y="0"/>
              <a:ext cx="1453611" cy="539120"/>
            </a:xfrm>
            <a:custGeom>
              <a:avLst/>
              <a:gdLst/>
              <a:ahLst/>
              <a:cxnLst/>
              <a:rect r="r" b="b" t="t" l="l"/>
              <a:pathLst>
                <a:path h="539120" w="1453611">
                  <a:moveTo>
                    <a:pt x="0" y="0"/>
                  </a:moveTo>
                  <a:lnTo>
                    <a:pt x="1453611" y="0"/>
                  </a:lnTo>
                  <a:lnTo>
                    <a:pt x="1453611" y="539120"/>
                  </a:lnTo>
                  <a:lnTo>
                    <a:pt x="0" y="539120"/>
                  </a:lnTo>
                  <a:close/>
                </a:path>
              </a:pathLst>
            </a:custGeom>
            <a:solidFill>
              <a:srgbClr val="F59E0B"/>
            </a:solidFill>
          </p:spPr>
        </p:sp>
        <p:sp>
          <p:nvSpPr>
            <p:cNvPr name="TextBox 27" id="27"/>
            <p:cNvSpPr txBox="true"/>
            <p:nvPr/>
          </p:nvSpPr>
          <p:spPr>
            <a:xfrm>
              <a:off x="0" y="-95250"/>
              <a:ext cx="1453611" cy="634370"/>
            </a:xfrm>
            <a:prstGeom prst="rect">
              <a:avLst/>
            </a:prstGeom>
          </p:spPr>
          <p:txBody>
            <a:bodyPr anchor="ctr" rtlCol="false" tIns="50800" lIns="50800" bIns="50800" rIns="50800"/>
            <a:lstStyle/>
            <a:p>
              <a:pPr algn="ctr">
                <a:lnSpc>
                  <a:spcPts val="3156"/>
                </a:lnSpc>
              </a:pPr>
            </a:p>
          </p:txBody>
        </p:sp>
      </p:grpSp>
      <p:sp>
        <p:nvSpPr>
          <p:cNvPr name="TextBox 28" id="28"/>
          <p:cNvSpPr txBox="true"/>
          <p:nvPr/>
        </p:nvSpPr>
        <p:spPr>
          <a:xfrm rot="0">
            <a:off x="12380172" y="7060140"/>
            <a:ext cx="4507154" cy="1678330"/>
          </a:xfrm>
          <a:prstGeom prst="rect">
            <a:avLst/>
          </a:prstGeom>
        </p:spPr>
        <p:txBody>
          <a:bodyPr anchor="t" rtlCol="false" tIns="0" lIns="0" bIns="0" rIns="0">
            <a:spAutoFit/>
          </a:bodyPr>
          <a:lstStyle/>
          <a:p>
            <a:pPr algn="l">
              <a:lnSpc>
                <a:spcPts val="2615"/>
              </a:lnSpc>
            </a:pPr>
            <a:r>
              <a:rPr lang="en-US" sz="2254">
                <a:solidFill>
                  <a:srgbClr val="1E293B"/>
                </a:solidFill>
                <a:latin typeface="Calibri (MS)"/>
                <a:ea typeface="Calibri (MS)"/>
                <a:cs typeface="Calibri (MS)"/>
                <a:sym typeface="Calibri (MS)"/>
              </a:rPr>
              <a:t>The youngest segment uses discounts frequently but contributes the least revenue and lowest loyalty scores ,a clear inefficiency in the current promotional mix.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5DAF5"/>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415006" cy="2942120"/>
          </a:xfrm>
          <a:custGeom>
            <a:avLst/>
            <a:gdLst/>
            <a:ahLst/>
            <a:cxnLst/>
            <a:rect r="r" b="b" t="t" l="l"/>
            <a:pathLst>
              <a:path h="2942120" w="18415006">
                <a:moveTo>
                  <a:pt x="0" y="0"/>
                </a:moveTo>
                <a:lnTo>
                  <a:pt x="18415006" y="0"/>
                </a:lnTo>
                <a:lnTo>
                  <a:pt x="18415006" y="2942120"/>
                </a:lnTo>
                <a:lnTo>
                  <a:pt x="0" y="29421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5630" y="3886581"/>
            <a:ext cx="8509006" cy="1822456"/>
          </a:xfrm>
          <a:custGeom>
            <a:avLst/>
            <a:gdLst/>
            <a:ahLst/>
            <a:cxnLst/>
            <a:rect r="r" b="b" t="t" l="l"/>
            <a:pathLst>
              <a:path h="1822456" w="8509006">
                <a:moveTo>
                  <a:pt x="0" y="0"/>
                </a:moveTo>
                <a:lnTo>
                  <a:pt x="8509007" y="0"/>
                </a:lnTo>
                <a:lnTo>
                  <a:pt x="8509007" y="1822456"/>
                </a:lnTo>
                <a:lnTo>
                  <a:pt x="0" y="18224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65630" y="5620131"/>
            <a:ext cx="8509006" cy="1841506"/>
          </a:xfrm>
          <a:custGeom>
            <a:avLst/>
            <a:gdLst/>
            <a:ahLst/>
            <a:cxnLst/>
            <a:rect r="r" b="b" t="t" l="l"/>
            <a:pathLst>
              <a:path h="1841506" w="8509006">
                <a:moveTo>
                  <a:pt x="0" y="0"/>
                </a:moveTo>
                <a:lnTo>
                  <a:pt x="8509007" y="0"/>
                </a:lnTo>
                <a:lnTo>
                  <a:pt x="8509007" y="1841506"/>
                </a:lnTo>
                <a:lnTo>
                  <a:pt x="0" y="18415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5630" y="7353567"/>
            <a:ext cx="8509006" cy="1841506"/>
          </a:xfrm>
          <a:custGeom>
            <a:avLst/>
            <a:gdLst/>
            <a:ahLst/>
            <a:cxnLst/>
            <a:rect r="r" b="b" t="t" l="l"/>
            <a:pathLst>
              <a:path h="1841506" w="8509006">
                <a:moveTo>
                  <a:pt x="0" y="0"/>
                </a:moveTo>
                <a:lnTo>
                  <a:pt x="8509007" y="0"/>
                </a:lnTo>
                <a:lnTo>
                  <a:pt x="8509007" y="1841506"/>
                </a:lnTo>
                <a:lnTo>
                  <a:pt x="0" y="18415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210049" y="5578602"/>
            <a:ext cx="8696458" cy="2028825"/>
            <a:chOff x="0" y="0"/>
            <a:chExt cx="5797639" cy="1352550"/>
          </a:xfrm>
        </p:grpSpPr>
        <p:sp>
          <p:nvSpPr>
            <p:cNvPr name="Freeform 7" id="7"/>
            <p:cNvSpPr/>
            <p:nvPr/>
          </p:nvSpPr>
          <p:spPr>
            <a:xfrm flipH="false" flipV="false" rot="0">
              <a:off x="0" y="0"/>
              <a:ext cx="5797677" cy="1352550"/>
            </a:xfrm>
            <a:custGeom>
              <a:avLst/>
              <a:gdLst/>
              <a:ahLst/>
              <a:cxnLst/>
              <a:rect r="r" b="b" t="t" l="l"/>
              <a:pathLst>
                <a:path h="1352550" w="5797677">
                  <a:moveTo>
                    <a:pt x="5683377" y="120777"/>
                  </a:moveTo>
                  <a:lnTo>
                    <a:pt x="5683377" y="1162177"/>
                  </a:lnTo>
                  <a:lnTo>
                    <a:pt x="196850" y="1162177"/>
                  </a:lnTo>
                  <a:lnTo>
                    <a:pt x="196850" y="120777"/>
                  </a:lnTo>
                  <a:close/>
                  <a:moveTo>
                    <a:pt x="0" y="0"/>
                  </a:moveTo>
                  <a:lnTo>
                    <a:pt x="0" y="1352550"/>
                  </a:lnTo>
                  <a:lnTo>
                    <a:pt x="5797677" y="1352550"/>
                  </a:lnTo>
                  <a:lnTo>
                    <a:pt x="5797677" y="0"/>
                  </a:lnTo>
                  <a:close/>
                </a:path>
              </a:pathLst>
            </a:custGeom>
            <a:blipFill>
              <a:blip r:embed="rId10"/>
              <a:stretch>
                <a:fillRect l="0" t="0" r="0" b="0"/>
              </a:stretch>
            </a:blipFill>
          </p:spPr>
        </p:sp>
      </p:grpSp>
      <p:grpSp>
        <p:nvGrpSpPr>
          <p:cNvPr name="Group 8" id="8"/>
          <p:cNvGrpSpPr/>
          <p:nvPr/>
        </p:nvGrpSpPr>
        <p:grpSpPr>
          <a:xfrm rot="0">
            <a:off x="219441" y="7301694"/>
            <a:ext cx="8696458" cy="2028825"/>
            <a:chOff x="0" y="0"/>
            <a:chExt cx="5797639" cy="1352550"/>
          </a:xfrm>
        </p:grpSpPr>
        <p:sp>
          <p:nvSpPr>
            <p:cNvPr name="Freeform 9" id="9"/>
            <p:cNvSpPr/>
            <p:nvPr/>
          </p:nvSpPr>
          <p:spPr>
            <a:xfrm flipH="false" flipV="false" rot="0">
              <a:off x="0" y="0"/>
              <a:ext cx="5797677" cy="1352550"/>
            </a:xfrm>
            <a:custGeom>
              <a:avLst/>
              <a:gdLst/>
              <a:ahLst/>
              <a:cxnLst/>
              <a:rect r="r" b="b" t="t" l="l"/>
              <a:pathLst>
                <a:path h="1352550" w="5797677">
                  <a:moveTo>
                    <a:pt x="5683377" y="120777"/>
                  </a:moveTo>
                  <a:lnTo>
                    <a:pt x="5683377" y="1162050"/>
                  </a:lnTo>
                  <a:lnTo>
                    <a:pt x="196850" y="1162050"/>
                  </a:lnTo>
                  <a:lnTo>
                    <a:pt x="196850" y="120777"/>
                  </a:lnTo>
                  <a:close/>
                  <a:moveTo>
                    <a:pt x="0" y="0"/>
                  </a:moveTo>
                  <a:lnTo>
                    <a:pt x="0" y="1352550"/>
                  </a:lnTo>
                  <a:lnTo>
                    <a:pt x="5797677" y="1352550"/>
                  </a:lnTo>
                  <a:lnTo>
                    <a:pt x="5797677" y="0"/>
                  </a:lnTo>
                  <a:close/>
                </a:path>
              </a:pathLst>
            </a:custGeom>
            <a:blipFill>
              <a:blip r:embed="rId10"/>
              <a:stretch>
                <a:fillRect l="0" t="0" r="0" b="0"/>
              </a:stretch>
            </a:blipFill>
          </p:spPr>
        </p:sp>
      </p:grpSp>
      <p:sp>
        <p:nvSpPr>
          <p:cNvPr name="TextBox 10" id="10"/>
          <p:cNvSpPr txBox="true"/>
          <p:nvPr/>
        </p:nvSpPr>
        <p:spPr>
          <a:xfrm rot="0">
            <a:off x="732149" y="289636"/>
            <a:ext cx="11580533" cy="848297"/>
          </a:xfrm>
          <a:prstGeom prst="rect">
            <a:avLst/>
          </a:prstGeom>
        </p:spPr>
        <p:txBody>
          <a:bodyPr anchor="t" rtlCol="false" tIns="0" lIns="0" bIns="0" rIns="0">
            <a:spAutoFit/>
          </a:bodyPr>
          <a:lstStyle/>
          <a:p>
            <a:pPr algn="l">
              <a:lnSpc>
                <a:spcPts val="6103"/>
              </a:lnSpc>
            </a:pPr>
            <a:r>
              <a:rPr lang="en-US" b="true" sz="4359" spc="13">
                <a:solidFill>
                  <a:srgbClr val="FFFFFF"/>
                </a:solidFill>
                <a:latin typeface="Calibri (MS) Bold"/>
                <a:ea typeface="Calibri (MS) Bold"/>
                <a:cs typeface="Calibri (MS) Bold"/>
                <a:sym typeface="Calibri (MS) Bold"/>
              </a:rPr>
              <a:t>Finding 04 · Subscription Model Needs Redesign</a:t>
            </a:r>
          </a:p>
        </p:txBody>
      </p:sp>
      <p:sp>
        <p:nvSpPr>
          <p:cNvPr name="TextBox 11" id="11"/>
          <p:cNvSpPr txBox="true"/>
          <p:nvPr/>
        </p:nvSpPr>
        <p:spPr>
          <a:xfrm rot="0">
            <a:off x="15110460" y="481565"/>
            <a:ext cx="1493758" cy="527558"/>
          </a:xfrm>
          <a:prstGeom prst="rect">
            <a:avLst/>
          </a:prstGeom>
        </p:spPr>
        <p:txBody>
          <a:bodyPr anchor="t" rtlCol="false" tIns="0" lIns="0" bIns="0" rIns="0">
            <a:spAutoFit/>
          </a:bodyPr>
          <a:lstStyle/>
          <a:p>
            <a:pPr algn="l">
              <a:lnSpc>
                <a:spcPts val="3996"/>
              </a:lnSpc>
            </a:pPr>
            <a:r>
              <a:rPr lang="en-US" b="true" sz="2854">
                <a:solidFill>
                  <a:srgbClr val="0D1B3E"/>
                </a:solidFill>
                <a:latin typeface="Calibri (MS) Bold"/>
                <a:ea typeface="Calibri (MS) Bold"/>
                <a:cs typeface="Calibri (MS) Bold"/>
                <a:sym typeface="Calibri (MS) Bold"/>
              </a:rPr>
              <a:t>Retention</a:t>
            </a:r>
          </a:p>
        </p:txBody>
      </p:sp>
      <p:sp>
        <p:nvSpPr>
          <p:cNvPr name="TextBox 12" id="12"/>
          <p:cNvSpPr txBox="true"/>
          <p:nvPr/>
        </p:nvSpPr>
        <p:spPr>
          <a:xfrm rot="0">
            <a:off x="933450" y="2060258"/>
            <a:ext cx="1242298" cy="411988"/>
          </a:xfrm>
          <a:prstGeom prst="rect">
            <a:avLst/>
          </a:prstGeom>
        </p:spPr>
        <p:txBody>
          <a:bodyPr anchor="t" rtlCol="false" tIns="0" lIns="0" bIns="0" rIns="0">
            <a:spAutoFit/>
          </a:bodyPr>
          <a:lstStyle/>
          <a:p>
            <a:pPr algn="l">
              <a:lnSpc>
                <a:spcPts val="3017"/>
              </a:lnSpc>
            </a:pPr>
            <a:r>
              <a:rPr lang="en-US" b="true" sz="2155">
                <a:solidFill>
                  <a:srgbClr val="FFFFFF"/>
                </a:solidFill>
                <a:latin typeface="Calibri (MS) Bold"/>
                <a:ea typeface="Calibri (MS) Bold"/>
                <a:cs typeface="Calibri (MS) Bold"/>
                <a:sym typeface="Calibri (MS) Bold"/>
              </a:rPr>
              <a:t>Subscribed</a:t>
            </a:r>
          </a:p>
        </p:txBody>
      </p:sp>
      <p:sp>
        <p:nvSpPr>
          <p:cNvPr name="TextBox 13" id="13"/>
          <p:cNvSpPr txBox="true"/>
          <p:nvPr/>
        </p:nvSpPr>
        <p:spPr>
          <a:xfrm rot="0">
            <a:off x="2838964" y="2060258"/>
            <a:ext cx="936517" cy="384943"/>
          </a:xfrm>
          <a:prstGeom prst="rect">
            <a:avLst/>
          </a:prstGeom>
        </p:spPr>
        <p:txBody>
          <a:bodyPr anchor="t" rtlCol="false" tIns="0" lIns="0" bIns="0" rIns="0">
            <a:spAutoFit/>
          </a:bodyPr>
          <a:lstStyle/>
          <a:p>
            <a:pPr algn="l">
              <a:lnSpc>
                <a:spcPts val="2736"/>
              </a:lnSpc>
            </a:pPr>
            <a:r>
              <a:rPr lang="en-US" b="true" sz="1954" spc="35">
                <a:solidFill>
                  <a:srgbClr val="FFFFFF"/>
                </a:solidFill>
                <a:latin typeface="Calibri (MS) Bold"/>
                <a:ea typeface="Calibri (MS) Bold"/>
                <a:cs typeface="Calibri (MS) Bold"/>
                <a:sym typeface="Calibri (MS) Bold"/>
              </a:rPr>
              <a:t>Non-Sub</a:t>
            </a:r>
          </a:p>
        </p:txBody>
      </p:sp>
      <p:sp>
        <p:nvSpPr>
          <p:cNvPr name="TextBox 14" id="14"/>
          <p:cNvSpPr txBox="true"/>
          <p:nvPr/>
        </p:nvSpPr>
        <p:spPr>
          <a:xfrm rot="0">
            <a:off x="779015" y="4113581"/>
            <a:ext cx="2844880" cy="438150"/>
          </a:xfrm>
          <a:prstGeom prst="rect">
            <a:avLst/>
          </a:prstGeom>
        </p:spPr>
        <p:txBody>
          <a:bodyPr anchor="t" rtlCol="false" tIns="0" lIns="0" bIns="0" rIns="0">
            <a:spAutoFit/>
          </a:bodyPr>
          <a:lstStyle/>
          <a:p>
            <a:pPr algn="l">
              <a:lnSpc>
                <a:spcPts val="3149"/>
              </a:lnSpc>
            </a:pPr>
            <a:r>
              <a:rPr lang="en-US" b="true" sz="2250" spc="353">
                <a:solidFill>
                  <a:srgbClr val="1E293B"/>
                </a:solidFill>
                <a:latin typeface="Calibri (MS) Bold"/>
                <a:ea typeface="Calibri (MS) Bold"/>
                <a:cs typeface="Calibri (MS) Bold"/>
                <a:sym typeface="Calibri (MS) Bold"/>
              </a:rPr>
              <a:t>Avg Loyalty Score</a:t>
            </a:r>
          </a:p>
        </p:txBody>
      </p:sp>
      <p:sp>
        <p:nvSpPr>
          <p:cNvPr name="TextBox 15" id="15"/>
          <p:cNvSpPr txBox="true"/>
          <p:nvPr/>
        </p:nvSpPr>
        <p:spPr>
          <a:xfrm rot="0">
            <a:off x="11053401" y="2857824"/>
            <a:ext cx="66008" cy="440398"/>
          </a:xfrm>
          <a:prstGeom prst="rect">
            <a:avLst/>
          </a:prstGeom>
        </p:spPr>
        <p:txBody>
          <a:bodyPr anchor="t" rtlCol="false" tIns="0" lIns="0" bIns="0" rIns="0">
            <a:spAutoFit/>
          </a:bodyPr>
          <a:lstStyle/>
          <a:p>
            <a:pPr algn="l">
              <a:lnSpc>
                <a:spcPts val="3156"/>
              </a:lnSpc>
            </a:pPr>
            <a:r>
              <a:rPr lang="en-US" sz="2254">
                <a:solidFill>
                  <a:srgbClr val="1E293B"/>
                </a:solidFill>
                <a:latin typeface="Calibri (MS)"/>
                <a:ea typeface="Calibri (MS)"/>
                <a:cs typeface="Calibri (MS)"/>
                <a:sym typeface="Calibri (MS)"/>
              </a:rPr>
              <a:t> </a:t>
            </a:r>
          </a:p>
        </p:txBody>
      </p:sp>
      <p:sp>
        <p:nvSpPr>
          <p:cNvPr name="TextBox 16" id="16"/>
          <p:cNvSpPr txBox="true"/>
          <p:nvPr/>
        </p:nvSpPr>
        <p:spPr>
          <a:xfrm rot="0">
            <a:off x="9702794" y="3250235"/>
            <a:ext cx="7323049" cy="1081945"/>
          </a:xfrm>
          <a:prstGeom prst="rect">
            <a:avLst/>
          </a:prstGeom>
        </p:spPr>
        <p:txBody>
          <a:bodyPr anchor="t" rtlCol="false" tIns="0" lIns="0" bIns="0" rIns="0">
            <a:spAutoFit/>
          </a:bodyPr>
          <a:lstStyle/>
          <a:p>
            <a:pPr algn="l">
              <a:lnSpc>
                <a:spcPts val="2805"/>
              </a:lnSpc>
            </a:pPr>
            <a:r>
              <a:rPr lang="en-US" sz="2250" spc="20">
                <a:solidFill>
                  <a:srgbClr val="1E293B"/>
                </a:solidFill>
                <a:latin typeface="Calibri (MS)"/>
                <a:ea typeface="Calibri (MS)"/>
                <a:cs typeface="Calibri (MS)"/>
                <a:sym typeface="Calibri (MS)"/>
              </a:rPr>
              <a:t>almost identical lifetime value. The subscription program is creating engagement without converting it into incremental spend a classic loyalty revenue disconnect.</a:t>
            </a:r>
          </a:p>
        </p:txBody>
      </p:sp>
      <p:sp>
        <p:nvSpPr>
          <p:cNvPr name="TextBox 17" id="17"/>
          <p:cNvSpPr txBox="true"/>
          <p:nvPr/>
        </p:nvSpPr>
        <p:spPr>
          <a:xfrm rot="0">
            <a:off x="1129535" y="4725257"/>
            <a:ext cx="999173"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52.85</a:t>
            </a:r>
          </a:p>
        </p:txBody>
      </p:sp>
      <p:sp>
        <p:nvSpPr>
          <p:cNvPr name="TextBox 18" id="18"/>
          <p:cNvSpPr txBox="true"/>
          <p:nvPr/>
        </p:nvSpPr>
        <p:spPr>
          <a:xfrm rot="0">
            <a:off x="1129535" y="6465913"/>
            <a:ext cx="999173"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$59.8</a:t>
            </a:r>
          </a:p>
        </p:txBody>
      </p:sp>
      <p:sp>
        <p:nvSpPr>
          <p:cNvPr name="TextBox 19" id="19"/>
          <p:cNvSpPr txBox="true"/>
          <p:nvPr/>
        </p:nvSpPr>
        <p:spPr>
          <a:xfrm rot="0">
            <a:off x="1046973" y="8206321"/>
            <a:ext cx="1211580"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$1,485</a:t>
            </a:r>
          </a:p>
        </p:txBody>
      </p:sp>
      <p:sp>
        <p:nvSpPr>
          <p:cNvPr name="TextBox 20" id="20"/>
          <p:cNvSpPr txBox="true"/>
          <p:nvPr/>
        </p:nvSpPr>
        <p:spPr>
          <a:xfrm rot="0">
            <a:off x="2777475" y="4725257"/>
            <a:ext cx="999173"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42.37</a:t>
            </a:r>
          </a:p>
        </p:txBody>
      </p:sp>
      <p:sp>
        <p:nvSpPr>
          <p:cNvPr name="TextBox 21" id="21"/>
          <p:cNvSpPr txBox="true"/>
          <p:nvPr/>
        </p:nvSpPr>
        <p:spPr>
          <a:xfrm rot="0">
            <a:off x="2777475" y="6465913"/>
            <a:ext cx="999173"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$59.7</a:t>
            </a:r>
          </a:p>
        </p:txBody>
      </p:sp>
      <p:sp>
        <p:nvSpPr>
          <p:cNvPr name="TextBox 22" id="22"/>
          <p:cNvSpPr txBox="true"/>
          <p:nvPr/>
        </p:nvSpPr>
        <p:spPr>
          <a:xfrm rot="0">
            <a:off x="2694683" y="8206321"/>
            <a:ext cx="1211580" cy="468503"/>
          </a:xfrm>
          <a:prstGeom prst="rect">
            <a:avLst/>
          </a:prstGeom>
        </p:spPr>
        <p:txBody>
          <a:bodyPr anchor="t" rtlCol="false" tIns="0" lIns="0" bIns="0" rIns="0">
            <a:spAutoFit/>
          </a:bodyPr>
          <a:lstStyle/>
          <a:p>
            <a:pPr algn="l">
              <a:lnSpc>
                <a:spcPts val="3576"/>
              </a:lnSpc>
            </a:pPr>
            <a:r>
              <a:rPr lang="en-US" b="true" sz="2554" spc="401">
                <a:solidFill>
                  <a:srgbClr val="FFFFFF"/>
                </a:solidFill>
                <a:latin typeface="Calibri (MS) Bold"/>
                <a:ea typeface="Calibri (MS) Bold"/>
                <a:cs typeface="Calibri (MS) Bold"/>
                <a:sym typeface="Calibri (MS) Bold"/>
              </a:rPr>
              <a:t>$1,421</a:t>
            </a:r>
          </a:p>
        </p:txBody>
      </p:sp>
      <p:sp>
        <p:nvSpPr>
          <p:cNvPr name="TextBox 23" id="23"/>
          <p:cNvSpPr txBox="true"/>
          <p:nvPr/>
        </p:nvSpPr>
        <p:spPr>
          <a:xfrm rot="0">
            <a:off x="9702794" y="2070697"/>
            <a:ext cx="3119438" cy="629158"/>
          </a:xfrm>
          <a:prstGeom prst="rect">
            <a:avLst/>
          </a:prstGeom>
        </p:spPr>
        <p:txBody>
          <a:bodyPr anchor="t" rtlCol="false" tIns="0" lIns="0" bIns="0" rIns="0">
            <a:spAutoFit/>
          </a:bodyPr>
          <a:lstStyle/>
          <a:p>
            <a:pPr algn="l">
              <a:lnSpc>
                <a:spcPts val="4696"/>
              </a:lnSpc>
            </a:pPr>
            <a:r>
              <a:rPr lang="en-US" b="true" sz="3354" spc="23">
                <a:solidFill>
                  <a:srgbClr val="0D9488"/>
                </a:solidFill>
                <a:latin typeface="Calibri (MS) Bold"/>
                <a:ea typeface="Calibri (MS) Bold"/>
                <a:cs typeface="Calibri (MS) Bold"/>
                <a:sym typeface="Calibri (MS) Bold"/>
              </a:rPr>
              <a:t>What This Means</a:t>
            </a:r>
          </a:p>
        </p:txBody>
      </p:sp>
      <p:sp>
        <p:nvSpPr>
          <p:cNvPr name="TextBox 24" id="24"/>
          <p:cNvSpPr txBox="true"/>
          <p:nvPr/>
        </p:nvSpPr>
        <p:spPr>
          <a:xfrm rot="0">
            <a:off x="4257031" y="4749927"/>
            <a:ext cx="2086689" cy="443865"/>
          </a:xfrm>
          <a:prstGeom prst="rect">
            <a:avLst/>
          </a:prstGeom>
        </p:spPr>
        <p:txBody>
          <a:bodyPr anchor="t" rtlCol="false" tIns="0" lIns="0" bIns="0" rIns="0">
            <a:spAutoFit/>
          </a:bodyPr>
          <a:lstStyle/>
          <a:p>
            <a:pPr algn="l">
              <a:lnSpc>
                <a:spcPts val="3359"/>
              </a:lnSpc>
            </a:pPr>
            <a:r>
              <a:rPr lang="en-US" b="true" sz="2400" spc="376">
                <a:solidFill>
                  <a:srgbClr val="0D9488"/>
                </a:solidFill>
                <a:latin typeface="Calibri (MS) Bold"/>
                <a:ea typeface="Calibri (MS) Bold"/>
                <a:cs typeface="Calibri (MS) Bold"/>
                <a:sym typeface="Calibri (MS) Bold"/>
              </a:rPr>
              <a:t>+25% higher</a:t>
            </a:r>
          </a:p>
        </p:txBody>
      </p:sp>
      <p:sp>
        <p:nvSpPr>
          <p:cNvPr name="TextBox 25" id="25"/>
          <p:cNvSpPr txBox="true"/>
          <p:nvPr/>
        </p:nvSpPr>
        <p:spPr>
          <a:xfrm rot="0">
            <a:off x="779015" y="7594035"/>
            <a:ext cx="3065383" cy="438023"/>
          </a:xfrm>
          <a:prstGeom prst="rect">
            <a:avLst/>
          </a:prstGeom>
        </p:spPr>
        <p:txBody>
          <a:bodyPr anchor="t" rtlCol="false" tIns="0" lIns="0" bIns="0" rIns="0">
            <a:spAutoFit/>
          </a:bodyPr>
          <a:lstStyle/>
          <a:p>
            <a:pPr algn="l">
              <a:lnSpc>
                <a:spcPts val="3156"/>
              </a:lnSpc>
            </a:pPr>
            <a:r>
              <a:rPr lang="en-US" b="true" sz="2254" spc="354">
                <a:solidFill>
                  <a:srgbClr val="1E293B"/>
                </a:solidFill>
                <a:latin typeface="Calibri (MS) Bold"/>
                <a:ea typeface="Calibri (MS) Bold"/>
                <a:cs typeface="Calibri (MS) Bold"/>
                <a:sym typeface="Calibri (MS) Bold"/>
              </a:rPr>
              <a:t>Est. Lifetime Value</a:t>
            </a:r>
          </a:p>
        </p:txBody>
      </p:sp>
      <p:sp>
        <p:nvSpPr>
          <p:cNvPr name="TextBox 26" id="26"/>
          <p:cNvSpPr txBox="true"/>
          <p:nvPr/>
        </p:nvSpPr>
        <p:spPr>
          <a:xfrm rot="0">
            <a:off x="779015" y="5853379"/>
            <a:ext cx="3476863" cy="438023"/>
          </a:xfrm>
          <a:prstGeom prst="rect">
            <a:avLst/>
          </a:prstGeom>
        </p:spPr>
        <p:txBody>
          <a:bodyPr anchor="t" rtlCol="false" tIns="0" lIns="0" bIns="0" rIns="0">
            <a:spAutoFit/>
          </a:bodyPr>
          <a:lstStyle/>
          <a:p>
            <a:pPr algn="l">
              <a:lnSpc>
                <a:spcPts val="3156"/>
              </a:lnSpc>
            </a:pPr>
            <a:r>
              <a:rPr lang="en-US" b="true" sz="2254" spc="354">
                <a:solidFill>
                  <a:srgbClr val="1E293B"/>
                </a:solidFill>
                <a:latin typeface="Calibri (MS) Bold"/>
                <a:ea typeface="Calibri (MS) Bold"/>
                <a:cs typeface="Calibri (MS) Bold"/>
                <a:sym typeface="Calibri (MS) Bold"/>
              </a:rPr>
              <a:t>Avg Purchase Amount</a:t>
            </a:r>
          </a:p>
        </p:txBody>
      </p:sp>
      <p:sp>
        <p:nvSpPr>
          <p:cNvPr name="TextBox 27" id="27"/>
          <p:cNvSpPr txBox="true"/>
          <p:nvPr/>
        </p:nvSpPr>
        <p:spPr>
          <a:xfrm rot="0">
            <a:off x="9702794" y="2857824"/>
            <a:ext cx="6860553" cy="440398"/>
          </a:xfrm>
          <a:prstGeom prst="rect">
            <a:avLst/>
          </a:prstGeom>
        </p:spPr>
        <p:txBody>
          <a:bodyPr anchor="t" rtlCol="false" tIns="0" lIns="0" bIns="0" rIns="0">
            <a:spAutoFit/>
          </a:bodyPr>
          <a:lstStyle/>
          <a:p>
            <a:pPr algn="l">
              <a:lnSpc>
                <a:spcPts val="3156"/>
              </a:lnSpc>
            </a:pPr>
            <a:r>
              <a:rPr lang="en-US" sz="2254" spc="11">
                <a:solidFill>
                  <a:srgbClr val="1E293B"/>
                </a:solidFill>
                <a:latin typeface="Calibri (MS)"/>
                <a:ea typeface="Calibri (MS)"/>
                <a:cs typeface="Calibri (MS)"/>
                <a:sym typeface="Calibri (MS)"/>
              </a:rPr>
              <a:t>Subscribers</a:t>
            </a:r>
            <a:r>
              <a:rPr lang="en-US" sz="2254" spc="11">
                <a:solidFill>
                  <a:srgbClr val="FFFFFF"/>
                </a:solidFill>
                <a:latin typeface="Calibri (MS)"/>
                <a:ea typeface="Calibri (MS)"/>
                <a:cs typeface="Calibri (MS)"/>
                <a:sym typeface="Calibri (MS)"/>
              </a:rPr>
              <a:t> </a:t>
            </a:r>
            <a:r>
              <a:rPr lang="en-US" sz="2254" spc="11">
                <a:solidFill>
                  <a:srgbClr val="1E293B"/>
                </a:solidFill>
                <a:latin typeface="Calibri (MS)"/>
                <a:ea typeface="Calibri (MS)"/>
                <a:cs typeface="Calibri (MS)"/>
                <a:sym typeface="Calibri (MS)"/>
              </a:rPr>
              <a:t>show</a:t>
            </a:r>
            <a:r>
              <a:rPr lang="en-US" sz="2254" spc="11">
                <a:solidFill>
                  <a:srgbClr val="FFFFFF"/>
                </a:solidFill>
                <a:latin typeface="Calibri (MS)"/>
                <a:ea typeface="Calibri (MS)"/>
                <a:cs typeface="Calibri (MS)"/>
                <a:sym typeface="Calibri (MS)"/>
              </a:rPr>
              <a:t> </a:t>
            </a:r>
            <a:r>
              <a:rPr lang="en-US" sz="2254" spc="11">
                <a:solidFill>
                  <a:srgbClr val="1E293B"/>
                </a:solidFill>
                <a:latin typeface="Calibri (MS)"/>
                <a:ea typeface="Calibri (MS)"/>
                <a:cs typeface="Calibri (MS)"/>
                <a:sym typeface="Calibri (MS)"/>
              </a:rPr>
              <a:t>25%</a:t>
            </a:r>
            <a:r>
              <a:rPr lang="en-US" sz="2254" spc="11">
                <a:solidFill>
                  <a:srgbClr val="FFFFFF"/>
                </a:solidFill>
                <a:latin typeface="Calibri (MS)"/>
                <a:ea typeface="Calibri (MS)"/>
                <a:cs typeface="Calibri (MS)"/>
                <a:sym typeface="Calibri (MS)"/>
              </a:rPr>
              <a:t> </a:t>
            </a:r>
            <a:r>
              <a:rPr lang="en-US" sz="2254" spc="11">
                <a:solidFill>
                  <a:srgbClr val="1E293B"/>
                </a:solidFill>
                <a:latin typeface="Calibri (MS)"/>
                <a:ea typeface="Calibri (MS)"/>
                <a:cs typeface="Calibri (MS)"/>
                <a:sym typeface="Calibri (MS)"/>
              </a:rPr>
              <a:t>higher</a:t>
            </a:r>
            <a:r>
              <a:rPr lang="en-US" sz="2254" spc="11">
                <a:solidFill>
                  <a:srgbClr val="FFFFFF"/>
                </a:solidFill>
                <a:latin typeface="Calibri (MS)"/>
                <a:ea typeface="Calibri (MS)"/>
                <a:cs typeface="Calibri (MS)"/>
                <a:sym typeface="Calibri (MS)"/>
              </a:rPr>
              <a:t> </a:t>
            </a:r>
            <a:r>
              <a:rPr lang="en-US" sz="2254" spc="11">
                <a:solidFill>
                  <a:srgbClr val="1E293B"/>
                </a:solidFill>
                <a:latin typeface="Calibri (MS)"/>
                <a:ea typeface="Calibri (MS)"/>
                <a:cs typeface="Calibri (MS)"/>
                <a:sym typeface="Calibri (MS)"/>
              </a:rPr>
              <a:t>loyaltyscoresbut</a:t>
            </a:r>
            <a:r>
              <a:rPr lang="en-US" sz="2254" spc="11">
                <a:solidFill>
                  <a:srgbClr val="FFFFFF"/>
                </a:solidFill>
                <a:latin typeface="Calibri (MS)"/>
                <a:ea typeface="Calibri (MS)"/>
                <a:cs typeface="Calibri (MS)"/>
                <a:sym typeface="Calibri (MS)"/>
              </a:rPr>
              <a:t> </a:t>
            </a:r>
            <a:r>
              <a:rPr lang="en-US" sz="2254" spc="11">
                <a:solidFill>
                  <a:srgbClr val="1E293B"/>
                </a:solidFill>
                <a:latin typeface="Calibri (MS)"/>
                <a:ea typeface="Calibri (MS)"/>
                <a:cs typeface="Calibri (MS)"/>
                <a:sym typeface="Calibri (MS)"/>
              </a:rPr>
              <a:t>generate</a:t>
            </a:r>
          </a:p>
        </p:txBody>
      </p:sp>
      <p:sp>
        <p:nvSpPr>
          <p:cNvPr name="TextBox 28" id="28"/>
          <p:cNvSpPr txBox="true"/>
          <p:nvPr/>
        </p:nvSpPr>
        <p:spPr>
          <a:xfrm rot="0">
            <a:off x="4257031" y="6489725"/>
            <a:ext cx="1206341" cy="443738"/>
          </a:xfrm>
          <a:prstGeom prst="rect">
            <a:avLst/>
          </a:prstGeom>
        </p:spPr>
        <p:txBody>
          <a:bodyPr anchor="t" rtlCol="false" tIns="0" lIns="0" bIns="0" rIns="0">
            <a:spAutoFit/>
          </a:bodyPr>
          <a:lstStyle/>
          <a:p>
            <a:pPr algn="l">
              <a:lnSpc>
                <a:spcPts val="3366"/>
              </a:lnSpc>
            </a:pPr>
            <a:r>
              <a:rPr lang="en-US" b="true" sz="2404" spc="377">
                <a:solidFill>
                  <a:srgbClr val="64748B"/>
                </a:solidFill>
                <a:latin typeface="Calibri (MS) Bold"/>
                <a:ea typeface="Calibri (MS) Bold"/>
                <a:cs typeface="Calibri (MS) Bold"/>
                <a:sym typeface="Calibri (MS) Bold"/>
              </a:rPr>
              <a:t>≈ Same</a:t>
            </a:r>
          </a:p>
        </p:txBody>
      </p:sp>
      <p:sp>
        <p:nvSpPr>
          <p:cNvPr name="TextBox 29" id="29"/>
          <p:cNvSpPr txBox="true"/>
          <p:nvPr/>
        </p:nvSpPr>
        <p:spPr>
          <a:xfrm rot="0">
            <a:off x="4257031" y="8230381"/>
            <a:ext cx="2261473" cy="443738"/>
          </a:xfrm>
          <a:prstGeom prst="rect">
            <a:avLst/>
          </a:prstGeom>
        </p:spPr>
        <p:txBody>
          <a:bodyPr anchor="t" rtlCol="false" tIns="0" lIns="0" bIns="0" rIns="0">
            <a:spAutoFit/>
          </a:bodyPr>
          <a:lstStyle/>
          <a:p>
            <a:pPr algn="l">
              <a:lnSpc>
                <a:spcPts val="3366"/>
              </a:lnSpc>
            </a:pPr>
            <a:r>
              <a:rPr lang="en-US" b="true" sz="2404" spc="377">
                <a:solidFill>
                  <a:srgbClr val="64748B"/>
                </a:solidFill>
                <a:latin typeface="Calibri (MS) Bold"/>
                <a:ea typeface="Calibri (MS) Bold"/>
                <a:cs typeface="Calibri (MS) Bold"/>
                <a:sym typeface="Calibri (MS) Bold"/>
              </a:rPr>
              <a:t>Minimal diff.</a:t>
            </a:r>
          </a:p>
        </p:txBody>
      </p:sp>
      <p:grpSp>
        <p:nvGrpSpPr>
          <p:cNvPr name="Group 30" id="30"/>
          <p:cNvGrpSpPr/>
          <p:nvPr/>
        </p:nvGrpSpPr>
        <p:grpSpPr>
          <a:xfrm rot="0">
            <a:off x="9563599" y="4774571"/>
            <a:ext cx="8208353" cy="4099882"/>
            <a:chOff x="0" y="0"/>
            <a:chExt cx="2161871" cy="1079804"/>
          </a:xfrm>
        </p:grpSpPr>
        <p:sp>
          <p:nvSpPr>
            <p:cNvPr name="Freeform 31" id="31"/>
            <p:cNvSpPr/>
            <p:nvPr/>
          </p:nvSpPr>
          <p:spPr>
            <a:xfrm flipH="false" flipV="false" rot="0">
              <a:off x="0" y="0"/>
              <a:ext cx="2161871" cy="1079804"/>
            </a:xfrm>
            <a:custGeom>
              <a:avLst/>
              <a:gdLst/>
              <a:ahLst/>
              <a:cxnLst/>
              <a:rect r="r" b="b" t="t" l="l"/>
              <a:pathLst>
                <a:path h="1079804" w="2161871">
                  <a:moveTo>
                    <a:pt x="0" y="0"/>
                  </a:moveTo>
                  <a:lnTo>
                    <a:pt x="2161871" y="0"/>
                  </a:lnTo>
                  <a:lnTo>
                    <a:pt x="2161871" y="1079804"/>
                  </a:lnTo>
                  <a:lnTo>
                    <a:pt x="0" y="1079804"/>
                  </a:lnTo>
                  <a:close/>
                </a:path>
              </a:pathLst>
            </a:custGeom>
            <a:solidFill>
              <a:srgbClr val="0D9488"/>
            </a:solidFill>
          </p:spPr>
        </p:sp>
        <p:sp>
          <p:nvSpPr>
            <p:cNvPr name="TextBox 32" id="32"/>
            <p:cNvSpPr txBox="true"/>
            <p:nvPr/>
          </p:nvSpPr>
          <p:spPr>
            <a:xfrm>
              <a:off x="0" y="-95250"/>
              <a:ext cx="2161871" cy="1175054"/>
            </a:xfrm>
            <a:prstGeom prst="rect">
              <a:avLst/>
            </a:prstGeom>
          </p:spPr>
          <p:txBody>
            <a:bodyPr anchor="ctr" rtlCol="false" tIns="50800" lIns="50800" bIns="50800" rIns="50800"/>
            <a:lstStyle/>
            <a:p>
              <a:pPr algn="ctr">
                <a:lnSpc>
                  <a:spcPts val="3156"/>
                </a:lnSpc>
              </a:pPr>
            </a:p>
          </p:txBody>
        </p:sp>
      </p:grpSp>
      <p:sp>
        <p:nvSpPr>
          <p:cNvPr name="TextBox 33" id="33"/>
          <p:cNvSpPr txBox="true"/>
          <p:nvPr/>
        </p:nvSpPr>
        <p:spPr>
          <a:xfrm rot="0">
            <a:off x="9977114" y="6649193"/>
            <a:ext cx="6307588" cy="704374"/>
          </a:xfrm>
          <a:prstGeom prst="rect">
            <a:avLst/>
          </a:prstGeom>
        </p:spPr>
        <p:txBody>
          <a:bodyPr anchor="t" rtlCol="false" tIns="0" lIns="0" bIns="0" rIns="0">
            <a:spAutoFit/>
          </a:bodyPr>
          <a:lstStyle/>
          <a:p>
            <a:pPr algn="l">
              <a:lnSpc>
                <a:spcPts val="2553"/>
              </a:lnSpc>
            </a:pPr>
            <a:r>
              <a:rPr lang="en-US" sz="2250">
                <a:solidFill>
                  <a:srgbClr val="1E293B"/>
                </a:solidFill>
                <a:latin typeface="Calibri (MS)"/>
                <a:ea typeface="Calibri (MS)"/>
                <a:cs typeface="Calibri (MS)"/>
                <a:sym typeface="Calibri (MS)"/>
              </a:rPr>
              <a:t>Introduce exclusive early access to new collections for subscribe</a:t>
            </a:r>
          </a:p>
        </p:txBody>
      </p:sp>
      <p:sp>
        <p:nvSpPr>
          <p:cNvPr name="TextBox 34" id="34"/>
          <p:cNvSpPr txBox="true"/>
          <p:nvPr/>
        </p:nvSpPr>
        <p:spPr>
          <a:xfrm rot="0">
            <a:off x="11471415" y="4767008"/>
            <a:ext cx="3318986" cy="629158"/>
          </a:xfrm>
          <a:prstGeom prst="rect">
            <a:avLst/>
          </a:prstGeom>
        </p:spPr>
        <p:txBody>
          <a:bodyPr anchor="t" rtlCol="false" tIns="0" lIns="0" bIns="0" rIns="0">
            <a:spAutoFit/>
          </a:bodyPr>
          <a:lstStyle/>
          <a:p>
            <a:pPr algn="l">
              <a:lnSpc>
                <a:spcPts val="4696"/>
              </a:lnSpc>
            </a:pPr>
            <a:r>
              <a:rPr lang="en-US" b="true" sz="3354" spc="30">
                <a:solidFill>
                  <a:srgbClr val="FFFFFF"/>
                </a:solidFill>
                <a:latin typeface="Calibri (MS) Bold"/>
                <a:ea typeface="Calibri (MS) Bold"/>
                <a:cs typeface="Calibri (MS) Bold"/>
                <a:sym typeface="Calibri (MS) Bold"/>
              </a:rPr>
              <a:t>Recommended Fix</a:t>
            </a:r>
          </a:p>
        </p:txBody>
      </p:sp>
      <p:sp>
        <p:nvSpPr>
          <p:cNvPr name="TextBox 35" id="35"/>
          <p:cNvSpPr txBox="true"/>
          <p:nvPr/>
        </p:nvSpPr>
        <p:spPr>
          <a:xfrm rot="0">
            <a:off x="9935032" y="7783210"/>
            <a:ext cx="7198957" cy="704988"/>
          </a:xfrm>
          <a:prstGeom prst="rect">
            <a:avLst/>
          </a:prstGeom>
        </p:spPr>
        <p:txBody>
          <a:bodyPr anchor="t" rtlCol="false" tIns="0" lIns="0" bIns="0" rIns="0">
            <a:spAutoFit/>
          </a:bodyPr>
          <a:lstStyle/>
          <a:p>
            <a:pPr algn="l">
              <a:lnSpc>
                <a:spcPts val="2554"/>
              </a:lnSpc>
            </a:pPr>
            <a:r>
              <a:rPr lang="en-US" sz="2254">
                <a:solidFill>
                  <a:srgbClr val="1E293B"/>
                </a:solidFill>
                <a:latin typeface="Calibri (MS)"/>
                <a:ea typeface="Calibri (MS)"/>
                <a:cs typeface="Calibri (MS)"/>
                <a:sym typeface="Calibri (MS)"/>
              </a:rPr>
              <a:t>Track &amp; surface subscriber-specific savings in-app to reinforce value</a:t>
            </a:r>
          </a:p>
        </p:txBody>
      </p:sp>
      <p:sp>
        <p:nvSpPr>
          <p:cNvPr name="TextBox 36" id="36"/>
          <p:cNvSpPr txBox="true"/>
          <p:nvPr/>
        </p:nvSpPr>
        <p:spPr>
          <a:xfrm rot="0">
            <a:off x="9935032" y="5577085"/>
            <a:ext cx="7283120" cy="704988"/>
          </a:xfrm>
          <a:prstGeom prst="rect">
            <a:avLst/>
          </a:prstGeom>
        </p:spPr>
        <p:txBody>
          <a:bodyPr anchor="t" rtlCol="false" tIns="0" lIns="0" bIns="0" rIns="0">
            <a:spAutoFit/>
          </a:bodyPr>
          <a:lstStyle/>
          <a:p>
            <a:pPr algn="l">
              <a:lnSpc>
                <a:spcPts val="2554"/>
              </a:lnSpc>
            </a:pPr>
            <a:r>
              <a:rPr lang="en-US" sz="2254">
                <a:solidFill>
                  <a:srgbClr val="1E293B"/>
                </a:solidFill>
                <a:latin typeface="Calibri (MS)"/>
                <a:ea typeface="Calibri (MS)"/>
                <a:cs typeface="Calibri (MS)"/>
                <a:sym typeface="Calibri (MS)"/>
              </a:rPr>
              <a:t>Add spend-based milestones (e.g. spend $300 - free shipping next month)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31" y="1889131"/>
            <a:ext cx="8337556" cy="8128006"/>
          </a:xfrm>
          <a:custGeom>
            <a:avLst/>
            <a:gdLst/>
            <a:ahLst/>
            <a:cxnLst/>
            <a:rect r="r" b="b" t="t" l="l"/>
            <a:pathLst>
              <a:path h="8128006" w="8337556">
                <a:moveTo>
                  <a:pt x="0" y="0"/>
                </a:moveTo>
                <a:lnTo>
                  <a:pt x="8337557" y="0"/>
                </a:lnTo>
                <a:lnTo>
                  <a:pt x="8337557" y="8128007"/>
                </a:lnTo>
                <a:lnTo>
                  <a:pt x="0" y="81280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38150" y="1847717"/>
            <a:ext cx="17307058" cy="8315458"/>
            <a:chOff x="0" y="0"/>
            <a:chExt cx="11538039" cy="5543639"/>
          </a:xfrm>
        </p:grpSpPr>
        <p:sp>
          <p:nvSpPr>
            <p:cNvPr name="Freeform 5" id="5"/>
            <p:cNvSpPr/>
            <p:nvPr/>
          </p:nvSpPr>
          <p:spPr>
            <a:xfrm flipH="false" flipV="false" rot="0">
              <a:off x="0" y="0"/>
              <a:ext cx="11538077" cy="5543677"/>
            </a:xfrm>
            <a:custGeom>
              <a:avLst/>
              <a:gdLst/>
              <a:ahLst/>
              <a:cxnLst/>
              <a:rect r="r" b="b" t="t" l="l"/>
              <a:pathLst>
                <a:path h="5543677" w="11538077">
                  <a:moveTo>
                    <a:pt x="0" y="0"/>
                  </a:moveTo>
                  <a:lnTo>
                    <a:pt x="11538077" y="0"/>
                  </a:lnTo>
                  <a:lnTo>
                    <a:pt x="11538077" y="5543677"/>
                  </a:lnTo>
                  <a:lnTo>
                    <a:pt x="0" y="5543677"/>
                  </a:lnTo>
                  <a:lnTo>
                    <a:pt x="0" y="0"/>
                  </a:lnTo>
                  <a:close/>
                </a:path>
              </a:pathLst>
            </a:custGeom>
            <a:blipFill>
              <a:blip r:embed="rId6"/>
              <a:stretch>
                <a:fillRect l="0" t="0" r="0" b="0"/>
              </a:stretch>
            </a:blipFill>
          </p:spPr>
        </p:sp>
      </p:grpSp>
      <p:sp>
        <p:nvSpPr>
          <p:cNvPr name="Freeform 6" id="6"/>
          <p:cNvSpPr/>
          <p:nvPr/>
        </p:nvSpPr>
        <p:spPr>
          <a:xfrm flipH="false" flipV="false" rot="0">
            <a:off x="9375896" y="1889131"/>
            <a:ext cx="8337556" cy="8128006"/>
          </a:xfrm>
          <a:custGeom>
            <a:avLst/>
            <a:gdLst/>
            <a:ahLst/>
            <a:cxnLst/>
            <a:rect r="r" b="b" t="t" l="l"/>
            <a:pathLst>
              <a:path h="8128006" w="8337556">
                <a:moveTo>
                  <a:pt x="0" y="0"/>
                </a:moveTo>
                <a:lnTo>
                  <a:pt x="8337556" y="0"/>
                </a:lnTo>
                <a:lnTo>
                  <a:pt x="8337556" y="8128007"/>
                </a:lnTo>
                <a:lnTo>
                  <a:pt x="0" y="812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732149" y="289636"/>
            <a:ext cx="10414235" cy="848297"/>
          </a:xfrm>
          <a:prstGeom prst="rect">
            <a:avLst/>
          </a:prstGeom>
        </p:spPr>
        <p:txBody>
          <a:bodyPr anchor="t" rtlCol="false" tIns="0" lIns="0" bIns="0" rIns="0">
            <a:spAutoFit/>
          </a:bodyPr>
          <a:lstStyle/>
          <a:p>
            <a:pPr algn="l">
              <a:lnSpc>
                <a:spcPts val="6103"/>
              </a:lnSpc>
            </a:pPr>
            <a:r>
              <a:rPr lang="en-US" b="true" sz="4359" spc="13">
                <a:solidFill>
                  <a:srgbClr val="FFFFFF"/>
                </a:solidFill>
                <a:latin typeface="Calibri (MS) Bold"/>
                <a:ea typeface="Calibri (MS) Bold"/>
                <a:cs typeface="Calibri (MS) Bold"/>
                <a:sym typeface="Calibri (MS) Bold"/>
              </a:rPr>
              <a:t>Finding 05 · Hidden Revenue Opportunities</a:t>
            </a:r>
          </a:p>
        </p:txBody>
      </p:sp>
      <p:sp>
        <p:nvSpPr>
          <p:cNvPr name="TextBox 8" id="8"/>
          <p:cNvSpPr txBox="true"/>
          <p:nvPr/>
        </p:nvSpPr>
        <p:spPr>
          <a:xfrm rot="0">
            <a:off x="1007116" y="2226278"/>
            <a:ext cx="5115401" cy="468503"/>
          </a:xfrm>
          <a:prstGeom prst="rect">
            <a:avLst/>
          </a:prstGeom>
        </p:spPr>
        <p:txBody>
          <a:bodyPr anchor="t" rtlCol="false" tIns="0" lIns="0" bIns="0" rIns="0">
            <a:spAutoFit/>
          </a:bodyPr>
          <a:lstStyle/>
          <a:p>
            <a:pPr algn="l">
              <a:lnSpc>
                <a:spcPts val="3576"/>
              </a:lnSpc>
            </a:pPr>
            <a:r>
              <a:rPr lang="en-US" b="true" sz="2554">
                <a:solidFill>
                  <a:srgbClr val="FFFFFF"/>
                </a:solidFill>
                <a:latin typeface="Calibri (MS) Bold"/>
                <a:ea typeface="Calibri (MS) Bold"/>
                <a:cs typeface="Calibri (MS) Bold"/>
                <a:sym typeface="Calibri (MS) Bold"/>
              </a:rPr>
              <a:t>Opportunity A : Male Gifting Behavior</a:t>
            </a:r>
          </a:p>
        </p:txBody>
      </p:sp>
      <p:sp>
        <p:nvSpPr>
          <p:cNvPr name="TextBox 9" id="9"/>
          <p:cNvSpPr txBox="true"/>
          <p:nvPr/>
        </p:nvSpPr>
        <p:spPr>
          <a:xfrm rot="0">
            <a:off x="9794234" y="2226278"/>
            <a:ext cx="5059204" cy="468503"/>
          </a:xfrm>
          <a:prstGeom prst="rect">
            <a:avLst/>
          </a:prstGeom>
        </p:spPr>
        <p:txBody>
          <a:bodyPr anchor="t" rtlCol="false" tIns="0" lIns="0" bIns="0" rIns="0">
            <a:spAutoFit/>
          </a:bodyPr>
          <a:lstStyle/>
          <a:p>
            <a:pPr algn="l">
              <a:lnSpc>
                <a:spcPts val="3576"/>
              </a:lnSpc>
            </a:pPr>
            <a:r>
              <a:rPr lang="en-US" b="true" sz="2554">
                <a:solidFill>
                  <a:srgbClr val="FFFFFF"/>
                </a:solidFill>
                <a:latin typeface="Calibri (MS) Bold"/>
                <a:ea typeface="Calibri (MS) Bold"/>
                <a:cs typeface="Calibri (MS) Bold"/>
                <a:sym typeface="Calibri (MS) Bold"/>
              </a:rPr>
              <a:t>Opportunity B : Shirt Satisfaction Risk</a:t>
            </a:r>
          </a:p>
        </p:txBody>
      </p:sp>
      <p:sp>
        <p:nvSpPr>
          <p:cNvPr name="TextBox 10" id="10"/>
          <p:cNvSpPr txBox="true"/>
          <p:nvPr/>
        </p:nvSpPr>
        <p:spPr>
          <a:xfrm rot="0">
            <a:off x="1007116" y="3382823"/>
            <a:ext cx="7639679" cy="1585616"/>
          </a:xfrm>
          <a:prstGeom prst="rect">
            <a:avLst/>
          </a:prstGeom>
        </p:spPr>
        <p:txBody>
          <a:bodyPr anchor="t" rtlCol="false" tIns="0" lIns="0" bIns="0" rIns="0">
            <a:spAutoFit/>
          </a:bodyPr>
          <a:lstStyle/>
          <a:p>
            <a:pPr algn="l">
              <a:lnSpc>
                <a:spcPts val="3566"/>
              </a:lnSpc>
            </a:pPr>
            <a:r>
              <a:rPr lang="en-US" b="true" sz="3004">
                <a:solidFill>
                  <a:srgbClr val="0D1B3E"/>
                </a:solidFill>
                <a:latin typeface="Calibri (MS) Bold"/>
                <a:ea typeface="Calibri (MS) Bold"/>
                <a:cs typeface="Calibri (MS) Bold"/>
                <a:sym typeface="Calibri (MS) Bold"/>
              </a:rPr>
              <a:t>Men are buying Dresses</a:t>
            </a:r>
          </a:p>
          <a:p>
            <a:pPr algn="l">
              <a:lnSpc>
                <a:spcPts val="2854"/>
              </a:lnSpc>
            </a:pPr>
            <a:r>
              <a:rPr lang="en-US" sz="2404">
                <a:solidFill>
                  <a:srgbClr val="1E293B"/>
                </a:solidFill>
                <a:latin typeface="Calibri (MS)"/>
                <a:ea typeface="Calibri (MS)"/>
                <a:cs typeface="Calibri (MS)"/>
                <a:sym typeface="Calibri (MS)"/>
              </a:rPr>
              <a:t>"Dress" ranks #3 in revenue for male customers , a category they would not typically buy for themselves. This is a clear signal of gifting behavior.</a:t>
            </a:r>
          </a:p>
        </p:txBody>
      </p:sp>
      <p:sp>
        <p:nvSpPr>
          <p:cNvPr name="TextBox 11" id="11"/>
          <p:cNvSpPr txBox="true"/>
          <p:nvPr/>
        </p:nvSpPr>
        <p:spPr>
          <a:xfrm rot="0">
            <a:off x="9794234" y="3382823"/>
            <a:ext cx="7658671" cy="2099500"/>
          </a:xfrm>
          <a:prstGeom prst="rect">
            <a:avLst/>
          </a:prstGeom>
        </p:spPr>
        <p:txBody>
          <a:bodyPr anchor="t" rtlCol="false" tIns="0" lIns="0" bIns="0" rIns="0">
            <a:spAutoFit/>
          </a:bodyPr>
          <a:lstStyle/>
          <a:p>
            <a:pPr algn="l">
              <a:lnSpc>
                <a:spcPts val="3566"/>
              </a:lnSpc>
            </a:pPr>
            <a:r>
              <a:rPr lang="en-US" b="true" sz="3004">
                <a:solidFill>
                  <a:srgbClr val="0D1B3E"/>
                </a:solidFill>
                <a:latin typeface="Calibri (MS) Bold"/>
                <a:ea typeface="Calibri (MS) Bold"/>
                <a:cs typeface="Calibri (MS) Bold"/>
                <a:sym typeface="Calibri (MS) Bold"/>
              </a:rPr>
              <a:t>High revenue, lowest satisfaction</a:t>
            </a:r>
          </a:p>
          <a:p>
            <a:pPr algn="l">
              <a:lnSpc>
                <a:spcPts val="2854"/>
              </a:lnSpc>
            </a:pPr>
            <a:r>
              <a:rPr lang="en-US" sz="2404">
                <a:solidFill>
                  <a:srgbClr val="1E293B"/>
                </a:solidFill>
                <a:latin typeface="Calibri (MS)"/>
                <a:ea typeface="Calibri (MS)"/>
                <a:cs typeface="Calibri (MS)"/>
                <a:sym typeface="Calibri (MS)"/>
              </a:rPr>
              <a:t>"Shirt" is the 2nd highest revenue item for women but holds the lowest satisfaction score across all items at 3.48 / 5.0. This is a retention time bomb.</a:t>
            </a:r>
          </a:p>
        </p:txBody>
      </p:sp>
      <p:sp>
        <p:nvSpPr>
          <p:cNvPr name="TextBox 12" id="12"/>
          <p:cNvSpPr txBox="true"/>
          <p:nvPr/>
        </p:nvSpPr>
        <p:spPr>
          <a:xfrm rot="0">
            <a:off x="1007116" y="6219844"/>
            <a:ext cx="7455960" cy="1804109"/>
          </a:xfrm>
          <a:prstGeom prst="rect">
            <a:avLst/>
          </a:prstGeom>
        </p:spPr>
        <p:txBody>
          <a:bodyPr anchor="t" rtlCol="false" tIns="0" lIns="0" bIns="0" rIns="0">
            <a:spAutoFit/>
          </a:bodyPr>
          <a:lstStyle/>
          <a:p>
            <a:pPr algn="l">
              <a:lnSpc>
                <a:spcPts val="2972"/>
              </a:lnSpc>
            </a:pPr>
            <a:r>
              <a:rPr lang="en-US" b="true" sz="2404">
                <a:solidFill>
                  <a:srgbClr val="F59E0B"/>
                </a:solidFill>
                <a:latin typeface="Calibri (MS) Bold"/>
                <a:ea typeface="Calibri (MS) Bold"/>
                <a:cs typeface="Calibri (MS) Bold"/>
                <a:sym typeface="Calibri (MS) Bold"/>
              </a:rPr>
              <a:t>Recommendation:</a:t>
            </a:r>
          </a:p>
          <a:p>
            <a:pPr algn="l">
              <a:lnSpc>
                <a:spcPts val="2781"/>
              </a:lnSpc>
            </a:pPr>
            <a:r>
              <a:rPr lang="en-US" sz="2250" spc="18">
                <a:solidFill>
                  <a:srgbClr val="1E293B"/>
                </a:solidFill>
                <a:latin typeface="Calibri (MS)"/>
                <a:ea typeface="Calibri (MS)"/>
                <a:cs typeface="Calibri (MS)"/>
                <a:sym typeface="Calibri (MS)"/>
              </a:rPr>
              <a:t>Launch a "Gift for Her" section specifically surfaced to male users. Add gift wrapping, personalized notes, and size guides. Men spend more on jewellery than female customers ,this </a:t>
            </a:r>
          </a:p>
          <a:p>
            <a:pPr algn="l">
              <a:lnSpc>
                <a:spcPts val="3152"/>
              </a:lnSpc>
            </a:pPr>
            <a:r>
              <a:rPr lang="en-US" sz="2250" spc="20">
                <a:solidFill>
                  <a:srgbClr val="1E293B"/>
                </a:solidFill>
                <a:latin typeface="Calibri (MS)"/>
                <a:ea typeface="Calibri (MS)"/>
                <a:cs typeface="Calibri (MS)"/>
                <a:sym typeface="Calibri (MS)"/>
              </a:rPr>
              <a:t>gifting intent is already proven.</a:t>
            </a:r>
          </a:p>
        </p:txBody>
      </p:sp>
      <p:sp>
        <p:nvSpPr>
          <p:cNvPr name="TextBox 13" id="13"/>
          <p:cNvSpPr txBox="true"/>
          <p:nvPr/>
        </p:nvSpPr>
        <p:spPr>
          <a:xfrm rot="0">
            <a:off x="9794234" y="7410983"/>
            <a:ext cx="7624686" cy="2116981"/>
          </a:xfrm>
          <a:prstGeom prst="rect">
            <a:avLst/>
          </a:prstGeom>
        </p:spPr>
        <p:txBody>
          <a:bodyPr anchor="t" rtlCol="false" tIns="0" lIns="0" bIns="0" rIns="0">
            <a:spAutoFit/>
          </a:bodyPr>
          <a:lstStyle/>
          <a:p>
            <a:pPr algn="l">
              <a:lnSpc>
                <a:spcPts val="2943"/>
              </a:lnSpc>
            </a:pPr>
            <a:r>
              <a:rPr lang="en-US" b="true" sz="2404">
                <a:solidFill>
                  <a:srgbClr val="EF4444"/>
                </a:solidFill>
                <a:latin typeface="Calibri (MS) Bold"/>
                <a:ea typeface="Calibri (MS) Bold"/>
                <a:cs typeface="Calibri (MS) Bold"/>
                <a:sym typeface="Calibri (MS) Bold"/>
              </a:rPr>
              <a:t>Recommendation:</a:t>
            </a:r>
          </a:p>
          <a:p>
            <a:pPr algn="l">
              <a:lnSpc>
                <a:spcPts val="2754"/>
              </a:lnSpc>
            </a:pPr>
            <a:r>
              <a:rPr lang="en-US" sz="2250" spc="18">
                <a:solidFill>
                  <a:srgbClr val="1E293B"/>
                </a:solidFill>
                <a:latin typeface="Calibri (MS)"/>
                <a:ea typeface="Calibri (MS)"/>
                <a:cs typeface="Calibri (MS)"/>
                <a:sym typeface="Calibri (MS)"/>
              </a:rPr>
              <a:t>Conduct a targeted customer feedback campaign on Shirt quality before next season. Investigate sizing accuracy, fabric quality, and return rates. Sunglasses have the highest satisfaction for women(3.92). Study what that product does right and apply it to Shirts.</a:t>
            </a:r>
          </a:p>
        </p:txBody>
      </p:sp>
      <p:sp>
        <p:nvSpPr>
          <p:cNvPr name="TextBox 14" id="14"/>
          <p:cNvSpPr txBox="true"/>
          <p:nvPr/>
        </p:nvSpPr>
        <p:spPr>
          <a:xfrm rot="0">
            <a:off x="9794234" y="6598730"/>
            <a:ext cx="3529298" cy="440398"/>
          </a:xfrm>
          <a:prstGeom prst="rect">
            <a:avLst/>
          </a:prstGeom>
        </p:spPr>
        <p:txBody>
          <a:bodyPr anchor="t" rtlCol="false" tIns="0" lIns="0" bIns="0" rIns="0">
            <a:spAutoFit/>
          </a:bodyPr>
          <a:lstStyle/>
          <a:p>
            <a:pPr algn="l">
              <a:lnSpc>
                <a:spcPts val="3156"/>
              </a:lnSpc>
            </a:pPr>
            <a:r>
              <a:rPr lang="en-US" b="true" sz="2254">
                <a:solidFill>
                  <a:srgbClr val="EF4444"/>
                </a:solidFill>
                <a:latin typeface="Calibri (MS) Bold"/>
                <a:ea typeface="Calibri (MS) Bold"/>
                <a:cs typeface="Calibri (MS) Bold"/>
                <a:sym typeface="Calibri (MS) Bold"/>
              </a:rPr>
              <a:t>3.48 / 5.0 (Lowest in dataset)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96894" y="2463794"/>
            <a:ext cx="8494395" cy="4292594"/>
          </a:xfrm>
          <a:custGeom>
            <a:avLst/>
            <a:gdLst/>
            <a:ahLst/>
            <a:cxnLst/>
            <a:rect r="r" b="b" t="t" l="l"/>
            <a:pathLst>
              <a:path h="4292594" w="8494395">
                <a:moveTo>
                  <a:pt x="0" y="0"/>
                </a:moveTo>
                <a:lnTo>
                  <a:pt x="8494395" y="0"/>
                </a:lnTo>
                <a:lnTo>
                  <a:pt x="8494395" y="4292593"/>
                </a:lnTo>
                <a:lnTo>
                  <a:pt x="0" y="4292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204446" y="2460746"/>
            <a:ext cx="8547106" cy="4127506"/>
          </a:xfrm>
          <a:custGeom>
            <a:avLst/>
            <a:gdLst/>
            <a:ahLst/>
            <a:cxnLst/>
            <a:rect r="r" b="b" t="t" l="l"/>
            <a:pathLst>
              <a:path h="4127506" w="8547106">
                <a:moveTo>
                  <a:pt x="0" y="0"/>
                </a:moveTo>
                <a:lnTo>
                  <a:pt x="8547106" y="0"/>
                </a:lnTo>
                <a:lnTo>
                  <a:pt x="8547106" y="4127506"/>
                </a:lnTo>
                <a:lnTo>
                  <a:pt x="0" y="41275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93731" y="6784981"/>
            <a:ext cx="5689606" cy="3117856"/>
          </a:xfrm>
          <a:custGeom>
            <a:avLst/>
            <a:gdLst/>
            <a:ahLst/>
            <a:cxnLst/>
            <a:rect r="r" b="b" t="t" l="l"/>
            <a:pathLst>
              <a:path h="3117856" w="5689606">
                <a:moveTo>
                  <a:pt x="0" y="0"/>
                </a:moveTo>
                <a:lnTo>
                  <a:pt x="5689607" y="0"/>
                </a:lnTo>
                <a:lnTo>
                  <a:pt x="5689607" y="3117857"/>
                </a:lnTo>
                <a:lnTo>
                  <a:pt x="0" y="31178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365996" y="6784981"/>
            <a:ext cx="5670556" cy="3117856"/>
          </a:xfrm>
          <a:custGeom>
            <a:avLst/>
            <a:gdLst/>
            <a:ahLst/>
            <a:cxnLst/>
            <a:rect r="r" b="b" t="t" l="l"/>
            <a:pathLst>
              <a:path h="3117856" w="5670556">
                <a:moveTo>
                  <a:pt x="0" y="0"/>
                </a:moveTo>
                <a:lnTo>
                  <a:pt x="5670556" y="0"/>
                </a:lnTo>
                <a:lnTo>
                  <a:pt x="5670556" y="3117857"/>
                </a:lnTo>
                <a:lnTo>
                  <a:pt x="0" y="31178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438150" y="6743567"/>
            <a:ext cx="17383258" cy="3305308"/>
            <a:chOff x="0" y="0"/>
            <a:chExt cx="11588839" cy="2203539"/>
          </a:xfrm>
        </p:grpSpPr>
        <p:sp>
          <p:nvSpPr>
            <p:cNvPr name="Freeform 8" id="8"/>
            <p:cNvSpPr/>
            <p:nvPr/>
          </p:nvSpPr>
          <p:spPr>
            <a:xfrm flipH="false" flipV="false" rot="0">
              <a:off x="0" y="0"/>
              <a:ext cx="11588877" cy="2203577"/>
            </a:xfrm>
            <a:custGeom>
              <a:avLst/>
              <a:gdLst/>
              <a:ahLst/>
              <a:cxnLst/>
              <a:rect r="r" b="b" t="t" l="l"/>
              <a:pathLst>
                <a:path h="2203577" w="11588877">
                  <a:moveTo>
                    <a:pt x="0" y="0"/>
                  </a:moveTo>
                  <a:lnTo>
                    <a:pt x="11588877" y="0"/>
                  </a:lnTo>
                  <a:lnTo>
                    <a:pt x="11588877" y="2203577"/>
                  </a:lnTo>
                  <a:lnTo>
                    <a:pt x="0" y="2203577"/>
                  </a:lnTo>
                  <a:lnTo>
                    <a:pt x="0" y="0"/>
                  </a:lnTo>
                  <a:close/>
                </a:path>
              </a:pathLst>
            </a:custGeom>
            <a:blipFill>
              <a:blip r:embed="rId12"/>
              <a:stretch>
                <a:fillRect l="0" t="0" r="0" b="1"/>
              </a:stretch>
            </a:blipFill>
          </p:spPr>
        </p:sp>
      </p:grpSp>
      <p:sp>
        <p:nvSpPr>
          <p:cNvPr name="Freeform 9" id="9"/>
          <p:cNvSpPr/>
          <p:nvPr/>
        </p:nvSpPr>
        <p:spPr>
          <a:xfrm flipH="false" flipV="false" rot="0">
            <a:off x="12119096" y="6784981"/>
            <a:ext cx="5670556" cy="3117856"/>
          </a:xfrm>
          <a:custGeom>
            <a:avLst/>
            <a:gdLst/>
            <a:ahLst/>
            <a:cxnLst/>
            <a:rect r="r" b="b" t="t" l="l"/>
            <a:pathLst>
              <a:path h="3117856" w="5670556">
                <a:moveTo>
                  <a:pt x="0" y="0"/>
                </a:moveTo>
                <a:lnTo>
                  <a:pt x="5670556" y="0"/>
                </a:lnTo>
                <a:lnTo>
                  <a:pt x="5670556" y="3117857"/>
                </a:lnTo>
                <a:lnTo>
                  <a:pt x="0" y="31178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2369820" y="7077913"/>
            <a:ext cx="2114550" cy="832231"/>
          </a:xfrm>
          <a:prstGeom prst="rect">
            <a:avLst/>
          </a:prstGeom>
        </p:spPr>
        <p:txBody>
          <a:bodyPr anchor="t" rtlCol="false" tIns="0" lIns="0" bIns="0" rIns="0">
            <a:spAutoFit/>
          </a:bodyPr>
          <a:lstStyle/>
          <a:p>
            <a:pPr algn="l">
              <a:lnSpc>
                <a:spcPts val="6103"/>
              </a:lnSpc>
            </a:pPr>
            <a:r>
              <a:rPr lang="en-US" b="true" sz="4359">
                <a:solidFill>
                  <a:srgbClr val="FFFFFF"/>
                </a:solidFill>
                <a:latin typeface="Calibri (MS) Bold"/>
                <a:ea typeface="Calibri (MS) Bold"/>
                <a:cs typeface="Calibri (MS) Bold"/>
                <a:sym typeface="Calibri (MS) Bold"/>
              </a:rPr>
              <a:t>Montana</a:t>
            </a:r>
          </a:p>
        </p:txBody>
      </p:sp>
      <p:sp>
        <p:nvSpPr>
          <p:cNvPr name="TextBox 11" id="11"/>
          <p:cNvSpPr txBox="true"/>
          <p:nvPr/>
        </p:nvSpPr>
        <p:spPr>
          <a:xfrm rot="0">
            <a:off x="3014243" y="8023117"/>
            <a:ext cx="70409" cy="453828"/>
          </a:xfrm>
          <a:prstGeom prst="rect">
            <a:avLst/>
          </a:prstGeom>
        </p:spPr>
        <p:txBody>
          <a:bodyPr anchor="t" rtlCol="false" tIns="0" lIns="0" bIns="0" rIns="0">
            <a:spAutoFit/>
          </a:bodyPr>
          <a:lstStyle/>
          <a:p>
            <a:pPr algn="l">
              <a:lnSpc>
                <a:spcPts val="3366"/>
              </a:lnSpc>
            </a:pPr>
            <a:r>
              <a:rPr lang="en-US" sz="2404">
                <a:solidFill>
                  <a:srgbClr val="FFFFFF"/>
                </a:solidFill>
                <a:latin typeface="Calibri (MS)"/>
                <a:ea typeface="Calibri (MS)"/>
                <a:cs typeface="Calibri (MS)"/>
                <a:sym typeface="Calibri (MS)"/>
              </a:rPr>
              <a:t> </a:t>
            </a:r>
          </a:p>
        </p:txBody>
      </p:sp>
      <p:sp>
        <p:nvSpPr>
          <p:cNvPr name="TextBox 12" id="12"/>
          <p:cNvSpPr txBox="true"/>
          <p:nvPr/>
        </p:nvSpPr>
        <p:spPr>
          <a:xfrm rot="0">
            <a:off x="8439664" y="7077913"/>
            <a:ext cx="1544707" cy="848297"/>
          </a:xfrm>
          <a:prstGeom prst="rect">
            <a:avLst/>
          </a:prstGeom>
        </p:spPr>
        <p:txBody>
          <a:bodyPr anchor="t" rtlCol="false" tIns="0" lIns="0" bIns="0" rIns="0">
            <a:spAutoFit/>
          </a:bodyPr>
          <a:lstStyle/>
          <a:p>
            <a:pPr algn="l">
              <a:lnSpc>
                <a:spcPts val="6103"/>
              </a:lnSpc>
            </a:pPr>
            <a:r>
              <a:rPr lang="en-US" b="true" sz="4359" spc="4">
                <a:solidFill>
                  <a:srgbClr val="FFFFFF"/>
                </a:solidFill>
                <a:latin typeface="Calibri (MS) Bold"/>
                <a:ea typeface="Calibri (MS) Bold"/>
                <a:cs typeface="Calibri (MS) Bold"/>
                <a:sym typeface="Calibri (MS) Bold"/>
              </a:rPr>
              <a:t>Illinois</a:t>
            </a:r>
          </a:p>
        </p:txBody>
      </p:sp>
      <p:sp>
        <p:nvSpPr>
          <p:cNvPr name="TextBox 13" id="13"/>
          <p:cNvSpPr txBox="true"/>
          <p:nvPr/>
        </p:nvSpPr>
        <p:spPr>
          <a:xfrm rot="0">
            <a:off x="9192882" y="8023117"/>
            <a:ext cx="70409" cy="453828"/>
          </a:xfrm>
          <a:prstGeom prst="rect">
            <a:avLst/>
          </a:prstGeom>
        </p:spPr>
        <p:txBody>
          <a:bodyPr anchor="t" rtlCol="false" tIns="0" lIns="0" bIns="0" rIns="0">
            <a:spAutoFit/>
          </a:bodyPr>
          <a:lstStyle/>
          <a:p>
            <a:pPr algn="l">
              <a:lnSpc>
                <a:spcPts val="3366"/>
              </a:lnSpc>
            </a:pPr>
            <a:r>
              <a:rPr lang="en-US" sz="2404">
                <a:solidFill>
                  <a:srgbClr val="FFFFFF"/>
                </a:solidFill>
                <a:latin typeface="Calibri (MS)"/>
                <a:ea typeface="Calibri (MS)"/>
                <a:cs typeface="Calibri (MS)"/>
                <a:sym typeface="Calibri (MS)"/>
              </a:rPr>
              <a:t> </a:t>
            </a:r>
          </a:p>
        </p:txBody>
      </p:sp>
      <p:sp>
        <p:nvSpPr>
          <p:cNvPr name="TextBox 14" id="14"/>
          <p:cNvSpPr txBox="true"/>
          <p:nvPr/>
        </p:nvSpPr>
        <p:spPr>
          <a:xfrm rot="0">
            <a:off x="732149" y="289636"/>
            <a:ext cx="10491064" cy="848297"/>
          </a:xfrm>
          <a:prstGeom prst="rect">
            <a:avLst/>
          </a:prstGeom>
        </p:spPr>
        <p:txBody>
          <a:bodyPr anchor="t" rtlCol="false" tIns="0" lIns="0" bIns="0" rIns="0">
            <a:spAutoFit/>
          </a:bodyPr>
          <a:lstStyle/>
          <a:p>
            <a:pPr algn="l">
              <a:lnSpc>
                <a:spcPts val="6103"/>
              </a:lnSpc>
            </a:pPr>
            <a:r>
              <a:rPr lang="en-US" b="true" sz="4359" spc="8">
                <a:solidFill>
                  <a:srgbClr val="FFFFFF"/>
                </a:solidFill>
                <a:latin typeface="Calibri (MS) Bold"/>
                <a:ea typeface="Calibri (MS) Bold"/>
                <a:cs typeface="Calibri (MS) Bold"/>
                <a:sym typeface="Calibri (MS) Bold"/>
              </a:rPr>
              <a:t>Finding 06 · Seasonal &amp; Geographic Insights</a:t>
            </a:r>
          </a:p>
        </p:txBody>
      </p:sp>
      <p:sp>
        <p:nvSpPr>
          <p:cNvPr name="TextBox 15" id="15"/>
          <p:cNvSpPr txBox="true"/>
          <p:nvPr/>
        </p:nvSpPr>
        <p:spPr>
          <a:xfrm rot="0">
            <a:off x="13936218" y="7077913"/>
            <a:ext cx="2103291" cy="848297"/>
          </a:xfrm>
          <a:prstGeom prst="rect">
            <a:avLst/>
          </a:prstGeom>
        </p:spPr>
        <p:txBody>
          <a:bodyPr anchor="t" rtlCol="false" tIns="0" lIns="0" bIns="0" rIns="0">
            <a:spAutoFit/>
          </a:bodyPr>
          <a:lstStyle/>
          <a:p>
            <a:pPr algn="l">
              <a:lnSpc>
                <a:spcPts val="6103"/>
              </a:lnSpc>
            </a:pPr>
            <a:r>
              <a:rPr lang="en-US" b="true" sz="4359" spc="30">
                <a:solidFill>
                  <a:srgbClr val="FFFFFF"/>
                </a:solidFill>
                <a:latin typeface="Calibri (MS) Bold"/>
                <a:ea typeface="Calibri (MS) Bold"/>
                <a:cs typeface="Calibri (MS) Bold"/>
                <a:sym typeface="Calibri (MS) Bold"/>
              </a:rPr>
              <a:t>Alabama</a:t>
            </a:r>
          </a:p>
        </p:txBody>
      </p:sp>
      <p:sp>
        <p:nvSpPr>
          <p:cNvPr name="TextBox 16" id="16"/>
          <p:cNvSpPr txBox="true"/>
          <p:nvPr/>
        </p:nvSpPr>
        <p:spPr>
          <a:xfrm rot="0">
            <a:off x="14509090" y="8023117"/>
            <a:ext cx="70409" cy="453828"/>
          </a:xfrm>
          <a:prstGeom prst="rect">
            <a:avLst/>
          </a:prstGeom>
        </p:spPr>
        <p:txBody>
          <a:bodyPr anchor="t" rtlCol="false" tIns="0" lIns="0" bIns="0" rIns="0">
            <a:spAutoFit/>
          </a:bodyPr>
          <a:lstStyle/>
          <a:p>
            <a:pPr algn="l">
              <a:lnSpc>
                <a:spcPts val="3366"/>
              </a:lnSpc>
            </a:pPr>
            <a:r>
              <a:rPr lang="en-US" sz="2404">
                <a:solidFill>
                  <a:srgbClr val="FFFFFF"/>
                </a:solidFill>
                <a:latin typeface="Calibri (MS)"/>
                <a:ea typeface="Calibri (MS)"/>
                <a:cs typeface="Calibri (MS)"/>
                <a:sym typeface="Calibri (MS)"/>
              </a:rPr>
              <a:t> </a:t>
            </a:r>
          </a:p>
        </p:txBody>
      </p:sp>
      <p:sp>
        <p:nvSpPr>
          <p:cNvPr name="TextBox 17" id="17"/>
          <p:cNvSpPr txBox="true"/>
          <p:nvPr/>
        </p:nvSpPr>
        <p:spPr>
          <a:xfrm rot="0">
            <a:off x="732149" y="1971008"/>
            <a:ext cx="2682888" cy="486308"/>
          </a:xfrm>
          <a:prstGeom prst="rect">
            <a:avLst/>
          </a:prstGeom>
        </p:spPr>
        <p:txBody>
          <a:bodyPr anchor="t" rtlCol="false" tIns="0" lIns="0" bIns="0" rIns="0">
            <a:spAutoFit/>
          </a:bodyPr>
          <a:lstStyle/>
          <a:p>
            <a:pPr algn="l">
              <a:lnSpc>
                <a:spcPts val="3576"/>
              </a:lnSpc>
            </a:pPr>
            <a:r>
              <a:rPr lang="en-US" b="true" sz="2554" spc="12">
                <a:solidFill>
                  <a:srgbClr val="1E293B"/>
                </a:solidFill>
                <a:latin typeface="Calibri (MS) Bold"/>
                <a:ea typeface="Calibri (MS) Bold"/>
                <a:cs typeface="Calibri (MS) Bold"/>
                <a:sym typeface="Calibri (MS) Bold"/>
              </a:rPr>
              <a:t>Revenue by Season</a:t>
            </a:r>
          </a:p>
        </p:txBody>
      </p:sp>
      <p:sp>
        <p:nvSpPr>
          <p:cNvPr name="TextBox 18" id="18"/>
          <p:cNvSpPr txBox="true"/>
          <p:nvPr/>
        </p:nvSpPr>
        <p:spPr>
          <a:xfrm rot="0">
            <a:off x="9336538" y="1971008"/>
            <a:ext cx="4421600" cy="486308"/>
          </a:xfrm>
          <a:prstGeom prst="rect">
            <a:avLst/>
          </a:prstGeom>
        </p:spPr>
        <p:txBody>
          <a:bodyPr anchor="t" rtlCol="false" tIns="0" lIns="0" bIns="0" rIns="0">
            <a:spAutoFit/>
          </a:bodyPr>
          <a:lstStyle/>
          <a:p>
            <a:pPr algn="l">
              <a:lnSpc>
                <a:spcPts val="3576"/>
              </a:lnSpc>
            </a:pPr>
            <a:r>
              <a:rPr lang="en-US" b="true" sz="2554" spc="12">
                <a:solidFill>
                  <a:srgbClr val="1E293B"/>
                </a:solidFill>
                <a:latin typeface="Calibri (MS) Bold"/>
                <a:ea typeface="Calibri (MS) Bold"/>
                <a:cs typeface="Calibri (MS) Bold"/>
                <a:sym typeface="Calibri (MS) Bold"/>
              </a:rPr>
              <a:t>Season ×Category Performance</a:t>
            </a:r>
          </a:p>
        </p:txBody>
      </p:sp>
      <p:sp>
        <p:nvSpPr>
          <p:cNvPr name="TextBox 19" id="19"/>
          <p:cNvSpPr txBox="true"/>
          <p:nvPr/>
        </p:nvSpPr>
        <p:spPr>
          <a:xfrm rot="0">
            <a:off x="2494274" y="2839784"/>
            <a:ext cx="712451"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60,000</a:t>
            </a:r>
          </a:p>
        </p:txBody>
      </p:sp>
      <p:sp>
        <p:nvSpPr>
          <p:cNvPr name="TextBox 20" id="20"/>
          <p:cNvSpPr txBox="true"/>
          <p:nvPr/>
        </p:nvSpPr>
        <p:spPr>
          <a:xfrm rot="0">
            <a:off x="4164330" y="3410274"/>
            <a:ext cx="714318"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58,500</a:t>
            </a:r>
          </a:p>
        </p:txBody>
      </p:sp>
      <p:sp>
        <p:nvSpPr>
          <p:cNvPr name="TextBox 21" id="21"/>
          <p:cNvSpPr txBox="true"/>
          <p:nvPr/>
        </p:nvSpPr>
        <p:spPr>
          <a:xfrm rot="0">
            <a:off x="5834882" y="4436936"/>
            <a:ext cx="712451"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55,800</a:t>
            </a:r>
          </a:p>
        </p:txBody>
      </p:sp>
      <p:sp>
        <p:nvSpPr>
          <p:cNvPr name="TextBox 22" id="22"/>
          <p:cNvSpPr txBox="true"/>
          <p:nvPr/>
        </p:nvSpPr>
        <p:spPr>
          <a:xfrm rot="0">
            <a:off x="7505700" y="3144069"/>
            <a:ext cx="712451" cy="327489"/>
          </a:xfrm>
          <a:prstGeom prst="rect">
            <a:avLst/>
          </a:prstGeom>
        </p:spPr>
        <p:txBody>
          <a:bodyPr anchor="t" rtlCol="false" tIns="0" lIns="0" bIns="0" rIns="0">
            <a:spAutoFit/>
          </a:bodyPr>
          <a:lstStyle/>
          <a:p>
            <a:pPr algn="l">
              <a:lnSpc>
                <a:spcPts val="2526"/>
              </a:lnSpc>
            </a:pPr>
            <a:r>
              <a:rPr lang="en-US" sz="1804">
                <a:solidFill>
                  <a:srgbClr val="1E293B"/>
                </a:solidFill>
                <a:latin typeface="Arial"/>
                <a:ea typeface="Arial"/>
                <a:cs typeface="Arial"/>
                <a:sym typeface="Arial"/>
              </a:rPr>
              <a:t>59,200</a:t>
            </a:r>
          </a:p>
        </p:txBody>
      </p:sp>
      <p:sp>
        <p:nvSpPr>
          <p:cNvPr name="TextBox 23" id="23"/>
          <p:cNvSpPr txBox="true"/>
          <p:nvPr/>
        </p:nvSpPr>
        <p:spPr>
          <a:xfrm rot="0">
            <a:off x="897255" y="2681421"/>
            <a:ext cx="875328" cy="3421399"/>
          </a:xfrm>
          <a:prstGeom prst="rect">
            <a:avLst/>
          </a:prstGeom>
        </p:spPr>
        <p:txBody>
          <a:bodyPr anchor="t" rtlCol="false" tIns="0" lIns="0" bIns="0" rIns="0">
            <a:spAutoFit/>
          </a:bodyPr>
          <a:lstStyle/>
          <a:p>
            <a:pPr algn="just">
              <a:lnSpc>
                <a:spcPts val="2996"/>
              </a:lnSpc>
            </a:pPr>
            <a:r>
              <a:rPr lang="en-US" sz="2404" spc="16">
                <a:solidFill>
                  <a:srgbClr val="64748B"/>
                </a:solidFill>
                <a:latin typeface="Arial"/>
                <a:ea typeface="Arial"/>
                <a:cs typeface="Arial"/>
                <a:sym typeface="Arial"/>
              </a:rPr>
              <a:t>61000 60000 59000 58000 57000 56000 55000 54000 53000</a:t>
            </a:r>
          </a:p>
        </p:txBody>
      </p:sp>
      <p:sp>
        <p:nvSpPr>
          <p:cNvPr name="TextBox 24" id="24"/>
          <p:cNvSpPr txBox="true"/>
          <p:nvPr/>
        </p:nvSpPr>
        <p:spPr>
          <a:xfrm rot="0">
            <a:off x="2598420" y="6049461"/>
            <a:ext cx="495986" cy="417347"/>
          </a:xfrm>
          <a:prstGeom prst="rect">
            <a:avLst/>
          </a:prstGeom>
        </p:spPr>
        <p:txBody>
          <a:bodyPr anchor="t" rtlCol="false" tIns="0" lIns="0" bIns="0" rIns="0">
            <a:spAutoFit/>
          </a:bodyPr>
          <a:lstStyle/>
          <a:p>
            <a:pPr algn="l">
              <a:lnSpc>
                <a:spcPts val="3366"/>
              </a:lnSpc>
            </a:pPr>
            <a:r>
              <a:rPr lang="en-US" sz="2404">
                <a:solidFill>
                  <a:srgbClr val="64748B"/>
                </a:solidFill>
                <a:latin typeface="Arial"/>
                <a:ea typeface="Arial"/>
                <a:cs typeface="Arial"/>
                <a:sym typeface="Arial"/>
              </a:rPr>
              <a:t>Fall</a:t>
            </a:r>
          </a:p>
        </p:txBody>
      </p:sp>
      <p:sp>
        <p:nvSpPr>
          <p:cNvPr name="TextBox 25" id="25"/>
          <p:cNvSpPr txBox="true"/>
          <p:nvPr/>
        </p:nvSpPr>
        <p:spPr>
          <a:xfrm rot="0">
            <a:off x="4073652" y="6049461"/>
            <a:ext cx="891007" cy="417347"/>
          </a:xfrm>
          <a:prstGeom prst="rect">
            <a:avLst/>
          </a:prstGeom>
        </p:spPr>
        <p:txBody>
          <a:bodyPr anchor="t" rtlCol="false" tIns="0" lIns="0" bIns="0" rIns="0">
            <a:spAutoFit/>
          </a:bodyPr>
          <a:lstStyle/>
          <a:p>
            <a:pPr algn="l">
              <a:lnSpc>
                <a:spcPts val="3366"/>
              </a:lnSpc>
            </a:pPr>
            <a:r>
              <a:rPr lang="en-US" sz="2404">
                <a:solidFill>
                  <a:srgbClr val="64748B"/>
                </a:solidFill>
                <a:latin typeface="Arial"/>
                <a:ea typeface="Arial"/>
                <a:cs typeface="Arial"/>
                <a:sym typeface="Arial"/>
              </a:rPr>
              <a:t>Spring</a:t>
            </a:r>
          </a:p>
        </p:txBody>
      </p:sp>
      <p:sp>
        <p:nvSpPr>
          <p:cNvPr name="TextBox 26" id="26"/>
          <p:cNvSpPr txBox="true"/>
          <p:nvPr/>
        </p:nvSpPr>
        <p:spPr>
          <a:xfrm rot="0">
            <a:off x="5608320" y="6049461"/>
            <a:ext cx="1174528" cy="417347"/>
          </a:xfrm>
          <a:prstGeom prst="rect">
            <a:avLst/>
          </a:prstGeom>
        </p:spPr>
        <p:txBody>
          <a:bodyPr anchor="t" rtlCol="false" tIns="0" lIns="0" bIns="0" rIns="0">
            <a:spAutoFit/>
          </a:bodyPr>
          <a:lstStyle/>
          <a:p>
            <a:pPr algn="l">
              <a:lnSpc>
                <a:spcPts val="3366"/>
              </a:lnSpc>
            </a:pPr>
            <a:r>
              <a:rPr lang="en-US" sz="2404">
                <a:solidFill>
                  <a:srgbClr val="64748B"/>
                </a:solidFill>
                <a:latin typeface="Arial"/>
                <a:ea typeface="Arial"/>
                <a:cs typeface="Arial"/>
                <a:sym typeface="Arial"/>
              </a:rPr>
              <a:t>Summer</a:t>
            </a:r>
          </a:p>
        </p:txBody>
      </p:sp>
      <p:sp>
        <p:nvSpPr>
          <p:cNvPr name="TextBox 27" id="27"/>
          <p:cNvSpPr txBox="true"/>
          <p:nvPr/>
        </p:nvSpPr>
        <p:spPr>
          <a:xfrm rot="0">
            <a:off x="7414774" y="6049461"/>
            <a:ext cx="899122" cy="417347"/>
          </a:xfrm>
          <a:prstGeom prst="rect">
            <a:avLst/>
          </a:prstGeom>
        </p:spPr>
        <p:txBody>
          <a:bodyPr anchor="t" rtlCol="false" tIns="0" lIns="0" bIns="0" rIns="0">
            <a:spAutoFit/>
          </a:bodyPr>
          <a:lstStyle/>
          <a:p>
            <a:pPr algn="l">
              <a:lnSpc>
                <a:spcPts val="3366"/>
              </a:lnSpc>
            </a:pPr>
            <a:r>
              <a:rPr lang="en-US" sz="2404">
                <a:solidFill>
                  <a:srgbClr val="64748B"/>
                </a:solidFill>
                <a:latin typeface="Arial"/>
                <a:ea typeface="Arial"/>
                <a:cs typeface="Arial"/>
                <a:sym typeface="Arial"/>
              </a:rPr>
              <a:t>Wi</a:t>
            </a:r>
            <a:r>
              <a:rPr lang="en-US" sz="2404">
                <a:solidFill>
                  <a:srgbClr val="FFFFFF"/>
                </a:solidFill>
                <a:latin typeface="Arial"/>
                <a:ea typeface="Arial"/>
                <a:cs typeface="Arial"/>
                <a:sym typeface="Arial"/>
              </a:rPr>
              <a:t> </a:t>
            </a:r>
            <a:r>
              <a:rPr lang="en-US" sz="2404">
                <a:solidFill>
                  <a:srgbClr val="64748B"/>
                </a:solidFill>
                <a:latin typeface="Arial"/>
                <a:ea typeface="Arial"/>
                <a:cs typeface="Arial"/>
                <a:sym typeface="Arial"/>
              </a:rPr>
              <a:t>nter</a:t>
            </a:r>
          </a:p>
        </p:txBody>
      </p:sp>
      <p:sp>
        <p:nvSpPr>
          <p:cNvPr name="TextBox 28" id="28"/>
          <p:cNvSpPr txBox="true"/>
          <p:nvPr/>
        </p:nvSpPr>
        <p:spPr>
          <a:xfrm rot="0">
            <a:off x="9728206" y="3500380"/>
            <a:ext cx="797871" cy="407918"/>
          </a:xfrm>
          <a:prstGeom prst="rect">
            <a:avLst/>
          </a:prstGeom>
        </p:spPr>
        <p:txBody>
          <a:bodyPr anchor="t" rtlCol="false" tIns="0" lIns="0" bIns="0" rIns="0">
            <a:spAutoFit/>
          </a:bodyPr>
          <a:lstStyle/>
          <a:p>
            <a:pPr algn="l">
              <a:lnSpc>
                <a:spcPts val="2946"/>
              </a:lnSpc>
            </a:pPr>
            <a:r>
              <a:rPr lang="en-US" b="true" sz="2104" spc="12">
                <a:solidFill>
                  <a:srgbClr val="FFFFFF"/>
                </a:solidFill>
                <a:latin typeface="Calibri (MS) Bold"/>
                <a:ea typeface="Calibri (MS) Bold"/>
                <a:cs typeface="Calibri (MS) Bold"/>
                <a:sym typeface="Calibri (MS) Bold"/>
              </a:rPr>
              <a:t>Winter</a:t>
            </a:r>
          </a:p>
        </p:txBody>
      </p:sp>
      <p:sp>
        <p:nvSpPr>
          <p:cNvPr name="TextBox 29" id="29"/>
          <p:cNvSpPr txBox="true"/>
          <p:nvPr/>
        </p:nvSpPr>
        <p:spPr>
          <a:xfrm rot="0">
            <a:off x="9763258" y="4270000"/>
            <a:ext cx="714432" cy="407918"/>
          </a:xfrm>
          <a:prstGeom prst="rect">
            <a:avLst/>
          </a:prstGeom>
        </p:spPr>
        <p:txBody>
          <a:bodyPr anchor="t" rtlCol="false" tIns="0" lIns="0" bIns="0" rIns="0">
            <a:spAutoFit/>
          </a:bodyPr>
          <a:lstStyle/>
          <a:p>
            <a:pPr algn="l">
              <a:lnSpc>
                <a:spcPts val="2946"/>
              </a:lnSpc>
            </a:pPr>
            <a:r>
              <a:rPr lang="en-US" b="true" sz="2104">
                <a:solidFill>
                  <a:srgbClr val="FFFFFF"/>
                </a:solidFill>
                <a:latin typeface="Calibri (MS) Bold"/>
                <a:ea typeface="Calibri (MS) Bold"/>
                <a:cs typeface="Calibri (MS) Bold"/>
                <a:sym typeface="Calibri (MS) Bold"/>
              </a:rPr>
              <a:t>Spring</a:t>
            </a:r>
          </a:p>
        </p:txBody>
      </p:sp>
      <p:sp>
        <p:nvSpPr>
          <p:cNvPr name="TextBox 30" id="30"/>
          <p:cNvSpPr txBox="true"/>
          <p:nvPr/>
        </p:nvSpPr>
        <p:spPr>
          <a:xfrm rot="0">
            <a:off x="9648958" y="5039620"/>
            <a:ext cx="952481" cy="407918"/>
          </a:xfrm>
          <a:prstGeom prst="rect">
            <a:avLst/>
          </a:prstGeom>
        </p:spPr>
        <p:txBody>
          <a:bodyPr anchor="t" rtlCol="false" tIns="0" lIns="0" bIns="0" rIns="0">
            <a:spAutoFit/>
          </a:bodyPr>
          <a:lstStyle/>
          <a:p>
            <a:pPr algn="l">
              <a:lnSpc>
                <a:spcPts val="2946"/>
              </a:lnSpc>
            </a:pPr>
            <a:r>
              <a:rPr lang="en-US" b="true" sz="2104">
                <a:solidFill>
                  <a:srgbClr val="FFFFFF"/>
                </a:solidFill>
                <a:latin typeface="Calibri (MS) Bold"/>
                <a:ea typeface="Calibri (MS) Bold"/>
                <a:cs typeface="Calibri (MS) Bold"/>
                <a:sym typeface="Calibri (MS) Bold"/>
              </a:rPr>
              <a:t>Summer</a:t>
            </a:r>
          </a:p>
        </p:txBody>
      </p:sp>
      <p:sp>
        <p:nvSpPr>
          <p:cNvPr name="TextBox 31" id="31"/>
          <p:cNvSpPr txBox="true"/>
          <p:nvPr/>
        </p:nvSpPr>
        <p:spPr>
          <a:xfrm rot="0">
            <a:off x="9920478" y="5809488"/>
            <a:ext cx="397021" cy="407918"/>
          </a:xfrm>
          <a:prstGeom prst="rect">
            <a:avLst/>
          </a:prstGeom>
        </p:spPr>
        <p:txBody>
          <a:bodyPr anchor="t" rtlCol="false" tIns="0" lIns="0" bIns="0" rIns="0">
            <a:spAutoFit/>
          </a:bodyPr>
          <a:lstStyle/>
          <a:p>
            <a:pPr algn="l">
              <a:lnSpc>
                <a:spcPts val="2946"/>
              </a:lnSpc>
            </a:pPr>
            <a:r>
              <a:rPr lang="en-US" b="true" sz="2104" spc="8">
                <a:solidFill>
                  <a:srgbClr val="FFFFFF"/>
                </a:solidFill>
                <a:latin typeface="Calibri (MS) Bold"/>
                <a:ea typeface="Calibri (MS) Bold"/>
                <a:cs typeface="Calibri (MS) Bold"/>
                <a:sym typeface="Calibri (MS) Bold"/>
              </a:rPr>
              <a:t>Fall</a:t>
            </a:r>
          </a:p>
        </p:txBody>
      </p:sp>
      <p:sp>
        <p:nvSpPr>
          <p:cNvPr name="TextBox 32" id="32"/>
          <p:cNvSpPr txBox="true"/>
          <p:nvPr/>
        </p:nvSpPr>
        <p:spPr>
          <a:xfrm rot="0">
            <a:off x="11255502" y="2730760"/>
            <a:ext cx="946480" cy="407918"/>
          </a:xfrm>
          <a:prstGeom prst="rect">
            <a:avLst/>
          </a:prstGeom>
        </p:spPr>
        <p:txBody>
          <a:bodyPr anchor="t" rtlCol="false" tIns="0" lIns="0" bIns="0" rIns="0">
            <a:spAutoFit/>
          </a:bodyPr>
          <a:lstStyle/>
          <a:p>
            <a:pPr algn="l">
              <a:lnSpc>
                <a:spcPts val="2946"/>
              </a:lnSpc>
            </a:pPr>
            <a:r>
              <a:rPr lang="en-US" b="true" sz="2104" spc="4">
                <a:solidFill>
                  <a:srgbClr val="FFFFFF"/>
                </a:solidFill>
                <a:latin typeface="Calibri (MS) Bold"/>
                <a:ea typeface="Calibri (MS) Bold"/>
                <a:cs typeface="Calibri (MS) Bold"/>
                <a:sym typeface="Calibri (MS) Bold"/>
              </a:rPr>
              <a:t>Clothing</a:t>
            </a:r>
          </a:p>
        </p:txBody>
      </p:sp>
      <p:sp>
        <p:nvSpPr>
          <p:cNvPr name="TextBox 33" id="33"/>
          <p:cNvSpPr txBox="true"/>
          <p:nvPr/>
        </p:nvSpPr>
        <p:spPr>
          <a:xfrm rot="0">
            <a:off x="11494008" y="3500380"/>
            <a:ext cx="515093" cy="407918"/>
          </a:xfrm>
          <a:prstGeom prst="rect">
            <a:avLst/>
          </a:prstGeom>
        </p:spPr>
        <p:txBody>
          <a:bodyPr anchor="t" rtlCol="false" tIns="0" lIns="0" bIns="0" rIns="0">
            <a:spAutoFit/>
          </a:bodyPr>
          <a:lstStyle/>
          <a:p>
            <a:pPr algn="l">
              <a:lnSpc>
                <a:spcPts val="2946"/>
              </a:lnSpc>
            </a:pPr>
            <a:r>
              <a:rPr lang="en-US" b="true" sz="2104">
                <a:solidFill>
                  <a:srgbClr val="0D9488"/>
                </a:solidFill>
                <a:latin typeface="Calibri (MS) Bold"/>
                <a:ea typeface="Calibri (MS) Bold"/>
                <a:cs typeface="Calibri (MS) Bold"/>
                <a:sym typeface="Calibri (MS) Bold"/>
              </a:rPr>
              <a:t>High</a:t>
            </a:r>
          </a:p>
        </p:txBody>
      </p:sp>
      <p:sp>
        <p:nvSpPr>
          <p:cNvPr name="TextBox 34" id="34"/>
          <p:cNvSpPr txBox="true"/>
          <p:nvPr/>
        </p:nvSpPr>
        <p:spPr>
          <a:xfrm rot="0">
            <a:off x="11469872" y="4270000"/>
            <a:ext cx="511816" cy="407918"/>
          </a:xfrm>
          <a:prstGeom prst="rect">
            <a:avLst/>
          </a:prstGeom>
        </p:spPr>
        <p:txBody>
          <a:bodyPr anchor="t" rtlCol="false" tIns="0" lIns="0" bIns="0" rIns="0">
            <a:spAutoFit/>
          </a:bodyPr>
          <a:lstStyle/>
          <a:p>
            <a:pPr algn="l">
              <a:lnSpc>
                <a:spcPts val="2946"/>
              </a:lnSpc>
            </a:pPr>
            <a:r>
              <a:rPr lang="en-US" sz="2104" spc="18">
                <a:solidFill>
                  <a:srgbClr val="1E293B"/>
                </a:solidFill>
                <a:latin typeface="Calibri (MS)"/>
                <a:ea typeface="Calibri (MS)"/>
                <a:cs typeface="Calibri (MS)"/>
                <a:sym typeface="Calibri (MS)"/>
              </a:rPr>
              <a:t>High</a:t>
            </a:r>
          </a:p>
        </p:txBody>
      </p:sp>
      <p:sp>
        <p:nvSpPr>
          <p:cNvPr name="TextBox 35" id="35"/>
          <p:cNvSpPr txBox="true"/>
          <p:nvPr/>
        </p:nvSpPr>
        <p:spPr>
          <a:xfrm rot="0">
            <a:off x="11258550" y="5039620"/>
            <a:ext cx="938841" cy="407918"/>
          </a:xfrm>
          <a:prstGeom prst="rect">
            <a:avLst/>
          </a:prstGeom>
        </p:spPr>
        <p:txBody>
          <a:bodyPr anchor="t" rtlCol="false" tIns="0" lIns="0" bIns="0" rIns="0">
            <a:spAutoFit/>
          </a:bodyPr>
          <a:lstStyle/>
          <a:p>
            <a:pPr algn="l">
              <a:lnSpc>
                <a:spcPts val="2946"/>
              </a:lnSpc>
            </a:pPr>
            <a:r>
              <a:rPr lang="en-US" sz="2104" spc="4">
                <a:solidFill>
                  <a:srgbClr val="1E293B"/>
                </a:solidFill>
                <a:latin typeface="Calibri (MS)"/>
                <a:ea typeface="Calibri (MS)"/>
                <a:cs typeface="Calibri (MS)"/>
                <a:sym typeface="Calibri (MS)"/>
              </a:rPr>
              <a:t>Medium</a:t>
            </a:r>
          </a:p>
        </p:txBody>
      </p:sp>
      <p:sp>
        <p:nvSpPr>
          <p:cNvPr name="TextBox 36" id="36"/>
          <p:cNvSpPr txBox="true"/>
          <p:nvPr/>
        </p:nvSpPr>
        <p:spPr>
          <a:xfrm rot="0">
            <a:off x="11469872" y="5809488"/>
            <a:ext cx="511816" cy="407918"/>
          </a:xfrm>
          <a:prstGeom prst="rect">
            <a:avLst/>
          </a:prstGeom>
        </p:spPr>
        <p:txBody>
          <a:bodyPr anchor="t" rtlCol="false" tIns="0" lIns="0" bIns="0" rIns="0">
            <a:spAutoFit/>
          </a:bodyPr>
          <a:lstStyle/>
          <a:p>
            <a:pPr algn="l">
              <a:lnSpc>
                <a:spcPts val="2946"/>
              </a:lnSpc>
            </a:pPr>
            <a:r>
              <a:rPr lang="en-US" sz="2104" spc="18">
                <a:solidFill>
                  <a:srgbClr val="1E293B"/>
                </a:solidFill>
                <a:latin typeface="Calibri (MS)"/>
                <a:ea typeface="Calibri (MS)"/>
                <a:cs typeface="Calibri (MS)"/>
                <a:sym typeface="Calibri (MS)"/>
              </a:rPr>
              <a:t>High</a:t>
            </a:r>
          </a:p>
        </p:txBody>
      </p:sp>
      <p:sp>
        <p:nvSpPr>
          <p:cNvPr name="TextBox 37" id="37"/>
          <p:cNvSpPr txBox="true"/>
          <p:nvPr/>
        </p:nvSpPr>
        <p:spPr>
          <a:xfrm rot="0">
            <a:off x="12815068" y="2730760"/>
            <a:ext cx="1086917" cy="407918"/>
          </a:xfrm>
          <a:prstGeom prst="rect">
            <a:avLst/>
          </a:prstGeom>
        </p:spPr>
        <p:txBody>
          <a:bodyPr anchor="t" rtlCol="false" tIns="0" lIns="0" bIns="0" rIns="0">
            <a:spAutoFit/>
          </a:bodyPr>
          <a:lstStyle/>
          <a:p>
            <a:pPr algn="l">
              <a:lnSpc>
                <a:spcPts val="2946"/>
              </a:lnSpc>
            </a:pPr>
            <a:r>
              <a:rPr lang="en-US" b="true" sz="2104" spc="2">
                <a:solidFill>
                  <a:srgbClr val="FFFFFF"/>
                </a:solidFill>
                <a:latin typeface="Calibri (MS) Bold"/>
                <a:ea typeface="Calibri (MS) Bold"/>
                <a:cs typeface="Calibri (MS) Bold"/>
                <a:sym typeface="Calibri (MS) Bold"/>
              </a:rPr>
              <a:t>Footwear</a:t>
            </a:r>
          </a:p>
        </p:txBody>
      </p:sp>
      <p:sp>
        <p:nvSpPr>
          <p:cNvPr name="TextBox 38" id="38"/>
          <p:cNvSpPr txBox="true"/>
          <p:nvPr/>
        </p:nvSpPr>
        <p:spPr>
          <a:xfrm rot="0">
            <a:off x="13124688" y="3500380"/>
            <a:ext cx="447465"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Low</a:t>
            </a:r>
          </a:p>
        </p:txBody>
      </p:sp>
      <p:sp>
        <p:nvSpPr>
          <p:cNvPr name="TextBox 39" id="39"/>
          <p:cNvSpPr txBox="true"/>
          <p:nvPr/>
        </p:nvSpPr>
        <p:spPr>
          <a:xfrm rot="0">
            <a:off x="12887954" y="4270000"/>
            <a:ext cx="936936" cy="407918"/>
          </a:xfrm>
          <a:prstGeom prst="rect">
            <a:avLst/>
          </a:prstGeom>
        </p:spPr>
        <p:txBody>
          <a:bodyPr anchor="t" rtlCol="false" tIns="0" lIns="0" bIns="0" rIns="0">
            <a:spAutoFit/>
          </a:bodyPr>
          <a:lstStyle/>
          <a:p>
            <a:pPr algn="l">
              <a:lnSpc>
                <a:spcPts val="2946"/>
              </a:lnSpc>
            </a:pPr>
            <a:r>
              <a:rPr lang="en-US" sz="2104" spc="2">
                <a:solidFill>
                  <a:srgbClr val="1E293B"/>
                </a:solidFill>
                <a:latin typeface="Calibri (MS)"/>
                <a:ea typeface="Calibri (MS)"/>
                <a:cs typeface="Calibri (MS)"/>
                <a:sym typeface="Calibri (MS)"/>
              </a:rPr>
              <a:t>Medium</a:t>
            </a:r>
          </a:p>
        </p:txBody>
      </p:sp>
      <p:sp>
        <p:nvSpPr>
          <p:cNvPr name="TextBox 40" id="40"/>
          <p:cNvSpPr txBox="true"/>
          <p:nvPr/>
        </p:nvSpPr>
        <p:spPr>
          <a:xfrm rot="0">
            <a:off x="13093198" y="5039620"/>
            <a:ext cx="515093" cy="407918"/>
          </a:xfrm>
          <a:prstGeom prst="rect">
            <a:avLst/>
          </a:prstGeom>
        </p:spPr>
        <p:txBody>
          <a:bodyPr anchor="t" rtlCol="false" tIns="0" lIns="0" bIns="0" rIns="0">
            <a:spAutoFit/>
          </a:bodyPr>
          <a:lstStyle/>
          <a:p>
            <a:pPr algn="l">
              <a:lnSpc>
                <a:spcPts val="2946"/>
              </a:lnSpc>
            </a:pPr>
            <a:r>
              <a:rPr lang="en-US" b="true" sz="2104">
                <a:solidFill>
                  <a:srgbClr val="0D9488"/>
                </a:solidFill>
                <a:latin typeface="Calibri (MS) Bold"/>
                <a:ea typeface="Calibri (MS) Bold"/>
                <a:cs typeface="Calibri (MS) Bold"/>
                <a:sym typeface="Calibri (MS) Bold"/>
              </a:rPr>
              <a:t>High</a:t>
            </a:r>
          </a:p>
        </p:txBody>
      </p:sp>
      <p:sp>
        <p:nvSpPr>
          <p:cNvPr name="TextBox 41" id="41"/>
          <p:cNvSpPr txBox="true"/>
          <p:nvPr/>
        </p:nvSpPr>
        <p:spPr>
          <a:xfrm rot="0">
            <a:off x="12887954" y="5809488"/>
            <a:ext cx="936936" cy="407918"/>
          </a:xfrm>
          <a:prstGeom prst="rect">
            <a:avLst/>
          </a:prstGeom>
        </p:spPr>
        <p:txBody>
          <a:bodyPr anchor="t" rtlCol="false" tIns="0" lIns="0" bIns="0" rIns="0">
            <a:spAutoFit/>
          </a:bodyPr>
          <a:lstStyle/>
          <a:p>
            <a:pPr algn="l">
              <a:lnSpc>
                <a:spcPts val="2946"/>
              </a:lnSpc>
            </a:pPr>
            <a:r>
              <a:rPr lang="en-US" sz="2104" spc="2">
                <a:solidFill>
                  <a:srgbClr val="1E293B"/>
                </a:solidFill>
                <a:latin typeface="Calibri (MS)"/>
                <a:ea typeface="Calibri (MS)"/>
                <a:cs typeface="Calibri (MS)"/>
                <a:sym typeface="Calibri (MS)"/>
              </a:rPr>
              <a:t>Medium</a:t>
            </a:r>
          </a:p>
        </p:txBody>
      </p:sp>
      <p:sp>
        <p:nvSpPr>
          <p:cNvPr name="TextBox 42" id="42"/>
          <p:cNvSpPr txBox="true"/>
          <p:nvPr/>
        </p:nvSpPr>
        <p:spPr>
          <a:xfrm rot="0">
            <a:off x="14425936" y="2730760"/>
            <a:ext cx="1318965" cy="407918"/>
          </a:xfrm>
          <a:prstGeom prst="rect">
            <a:avLst/>
          </a:prstGeom>
        </p:spPr>
        <p:txBody>
          <a:bodyPr anchor="t" rtlCol="false" tIns="0" lIns="0" bIns="0" rIns="0">
            <a:spAutoFit/>
          </a:bodyPr>
          <a:lstStyle/>
          <a:p>
            <a:pPr algn="l">
              <a:lnSpc>
                <a:spcPts val="2946"/>
              </a:lnSpc>
            </a:pPr>
            <a:r>
              <a:rPr lang="en-US" b="true" sz="2104" spc="10">
                <a:solidFill>
                  <a:srgbClr val="FFFFFF"/>
                </a:solidFill>
                <a:latin typeface="Calibri (MS) Bold"/>
                <a:ea typeface="Calibri (MS) Bold"/>
                <a:cs typeface="Calibri (MS) Bold"/>
                <a:sym typeface="Calibri (MS) Bold"/>
              </a:rPr>
              <a:t>Accessories</a:t>
            </a:r>
          </a:p>
        </p:txBody>
      </p:sp>
      <p:sp>
        <p:nvSpPr>
          <p:cNvPr name="TextBox 43" id="43"/>
          <p:cNvSpPr txBox="true"/>
          <p:nvPr/>
        </p:nvSpPr>
        <p:spPr>
          <a:xfrm rot="0">
            <a:off x="14729460" y="3500380"/>
            <a:ext cx="681704"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S</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ta</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ble</a:t>
            </a:r>
          </a:p>
        </p:txBody>
      </p:sp>
      <p:sp>
        <p:nvSpPr>
          <p:cNvPr name="TextBox 44" id="44"/>
          <p:cNvSpPr txBox="true"/>
          <p:nvPr/>
        </p:nvSpPr>
        <p:spPr>
          <a:xfrm rot="0">
            <a:off x="14729460" y="4270000"/>
            <a:ext cx="681704"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S</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ta</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ble</a:t>
            </a:r>
          </a:p>
        </p:txBody>
      </p:sp>
      <p:sp>
        <p:nvSpPr>
          <p:cNvPr name="TextBox 45" id="45"/>
          <p:cNvSpPr txBox="true"/>
          <p:nvPr/>
        </p:nvSpPr>
        <p:spPr>
          <a:xfrm rot="0">
            <a:off x="14729460" y="5039620"/>
            <a:ext cx="681704"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S</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ta</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ble</a:t>
            </a:r>
          </a:p>
        </p:txBody>
      </p:sp>
      <p:sp>
        <p:nvSpPr>
          <p:cNvPr name="TextBox 46" id="46"/>
          <p:cNvSpPr txBox="true"/>
          <p:nvPr/>
        </p:nvSpPr>
        <p:spPr>
          <a:xfrm rot="0">
            <a:off x="14729460" y="5809488"/>
            <a:ext cx="681704"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S</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ta</a:t>
            </a:r>
            <a:r>
              <a:rPr lang="en-US" sz="2104">
                <a:solidFill>
                  <a:srgbClr val="FFFFFF"/>
                </a:solidFill>
                <a:latin typeface="Calibri (MS)"/>
                <a:ea typeface="Calibri (MS)"/>
                <a:cs typeface="Calibri (MS)"/>
                <a:sym typeface="Calibri (MS)"/>
              </a:rPr>
              <a:t> </a:t>
            </a:r>
            <a:r>
              <a:rPr lang="en-US" sz="2104">
                <a:solidFill>
                  <a:srgbClr val="1E293B"/>
                </a:solidFill>
                <a:latin typeface="Calibri (MS)"/>
                <a:ea typeface="Calibri (MS)"/>
                <a:cs typeface="Calibri (MS)"/>
                <a:sym typeface="Calibri (MS)"/>
              </a:rPr>
              <a:t>ble</a:t>
            </a:r>
          </a:p>
        </p:txBody>
      </p:sp>
      <p:sp>
        <p:nvSpPr>
          <p:cNvPr name="TextBox 47" id="47"/>
          <p:cNvSpPr txBox="true"/>
          <p:nvPr/>
        </p:nvSpPr>
        <p:spPr>
          <a:xfrm rot="0">
            <a:off x="16203168" y="2730760"/>
            <a:ext cx="1224344" cy="407918"/>
          </a:xfrm>
          <a:prstGeom prst="rect">
            <a:avLst/>
          </a:prstGeom>
        </p:spPr>
        <p:txBody>
          <a:bodyPr anchor="t" rtlCol="false" tIns="0" lIns="0" bIns="0" rIns="0">
            <a:spAutoFit/>
          </a:bodyPr>
          <a:lstStyle/>
          <a:p>
            <a:pPr algn="l">
              <a:lnSpc>
                <a:spcPts val="2946"/>
              </a:lnSpc>
            </a:pPr>
            <a:r>
              <a:rPr lang="en-US" b="true" sz="2104">
                <a:solidFill>
                  <a:srgbClr val="FFFFFF"/>
                </a:solidFill>
                <a:latin typeface="Calibri (MS) Bold"/>
                <a:ea typeface="Calibri (MS) Bold"/>
                <a:cs typeface="Calibri (MS) Bold"/>
                <a:sym typeface="Calibri (MS) Bold"/>
              </a:rPr>
              <a:t>O ut erwear</a:t>
            </a:r>
          </a:p>
        </p:txBody>
      </p:sp>
      <p:sp>
        <p:nvSpPr>
          <p:cNvPr name="TextBox 48" id="48"/>
          <p:cNvSpPr txBox="true"/>
          <p:nvPr/>
        </p:nvSpPr>
        <p:spPr>
          <a:xfrm rot="0">
            <a:off x="16348196" y="3500380"/>
            <a:ext cx="936669" cy="407918"/>
          </a:xfrm>
          <a:prstGeom prst="rect">
            <a:avLst/>
          </a:prstGeom>
        </p:spPr>
        <p:txBody>
          <a:bodyPr anchor="t" rtlCol="false" tIns="0" lIns="0" bIns="0" rIns="0">
            <a:spAutoFit/>
          </a:bodyPr>
          <a:lstStyle/>
          <a:p>
            <a:pPr algn="l">
              <a:lnSpc>
                <a:spcPts val="2946"/>
              </a:lnSpc>
            </a:pPr>
            <a:r>
              <a:rPr lang="en-US" sz="2104" spc="2">
                <a:solidFill>
                  <a:srgbClr val="1E293B"/>
                </a:solidFill>
                <a:latin typeface="Calibri (MS)"/>
                <a:ea typeface="Calibri (MS)"/>
                <a:cs typeface="Calibri (MS)"/>
                <a:sym typeface="Calibri (MS)"/>
              </a:rPr>
              <a:t>Medium</a:t>
            </a:r>
          </a:p>
        </p:txBody>
      </p:sp>
      <p:sp>
        <p:nvSpPr>
          <p:cNvPr name="TextBox 49" id="49"/>
          <p:cNvSpPr txBox="true"/>
          <p:nvPr/>
        </p:nvSpPr>
        <p:spPr>
          <a:xfrm rot="0">
            <a:off x="16584930" y="4270000"/>
            <a:ext cx="447465"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Low</a:t>
            </a:r>
          </a:p>
        </p:txBody>
      </p:sp>
      <p:sp>
        <p:nvSpPr>
          <p:cNvPr name="TextBox 50" id="50"/>
          <p:cNvSpPr txBox="true"/>
          <p:nvPr/>
        </p:nvSpPr>
        <p:spPr>
          <a:xfrm rot="0">
            <a:off x="16584930" y="5039620"/>
            <a:ext cx="447465" cy="407918"/>
          </a:xfrm>
          <a:prstGeom prst="rect">
            <a:avLst/>
          </a:prstGeom>
        </p:spPr>
        <p:txBody>
          <a:bodyPr anchor="t" rtlCol="false" tIns="0" lIns="0" bIns="0" rIns="0">
            <a:spAutoFit/>
          </a:bodyPr>
          <a:lstStyle/>
          <a:p>
            <a:pPr algn="l">
              <a:lnSpc>
                <a:spcPts val="2946"/>
              </a:lnSpc>
            </a:pPr>
            <a:r>
              <a:rPr lang="en-US" sz="2104">
                <a:solidFill>
                  <a:srgbClr val="1E293B"/>
                </a:solidFill>
                <a:latin typeface="Calibri (MS)"/>
                <a:ea typeface="Calibri (MS)"/>
                <a:cs typeface="Calibri (MS)"/>
                <a:sym typeface="Calibri (MS)"/>
              </a:rPr>
              <a:t>Low</a:t>
            </a:r>
          </a:p>
        </p:txBody>
      </p:sp>
      <p:sp>
        <p:nvSpPr>
          <p:cNvPr name="TextBox 51" id="51"/>
          <p:cNvSpPr txBox="true"/>
          <p:nvPr/>
        </p:nvSpPr>
        <p:spPr>
          <a:xfrm rot="0">
            <a:off x="16348196" y="5809488"/>
            <a:ext cx="936669" cy="407918"/>
          </a:xfrm>
          <a:prstGeom prst="rect">
            <a:avLst/>
          </a:prstGeom>
        </p:spPr>
        <p:txBody>
          <a:bodyPr anchor="t" rtlCol="false" tIns="0" lIns="0" bIns="0" rIns="0">
            <a:spAutoFit/>
          </a:bodyPr>
          <a:lstStyle/>
          <a:p>
            <a:pPr algn="l">
              <a:lnSpc>
                <a:spcPts val="2946"/>
              </a:lnSpc>
            </a:pPr>
            <a:r>
              <a:rPr lang="en-US" sz="2104" spc="2">
                <a:solidFill>
                  <a:srgbClr val="1E293B"/>
                </a:solidFill>
                <a:latin typeface="Calibri (MS)"/>
                <a:ea typeface="Calibri (MS)"/>
                <a:cs typeface="Calibri (MS)"/>
                <a:sym typeface="Calibri (MS)"/>
              </a:rPr>
              <a:t>Medium</a:t>
            </a:r>
          </a:p>
        </p:txBody>
      </p:sp>
      <p:sp>
        <p:nvSpPr>
          <p:cNvPr name="TextBox 52" id="52"/>
          <p:cNvSpPr txBox="true"/>
          <p:nvPr/>
        </p:nvSpPr>
        <p:spPr>
          <a:xfrm rot="0">
            <a:off x="2360468" y="7929194"/>
            <a:ext cx="2062428" cy="1193642"/>
          </a:xfrm>
          <a:prstGeom prst="rect">
            <a:avLst/>
          </a:prstGeom>
        </p:spPr>
        <p:txBody>
          <a:bodyPr anchor="t" rtlCol="false" tIns="0" lIns="0" bIns="0" rIns="0">
            <a:spAutoFit/>
          </a:bodyPr>
          <a:lstStyle/>
          <a:p>
            <a:pPr algn="ctr">
              <a:lnSpc>
                <a:spcPts val="4705"/>
              </a:lnSpc>
            </a:pPr>
            <a:r>
              <a:rPr lang="en-US" sz="3361">
                <a:solidFill>
                  <a:srgbClr val="FFFFFF"/>
                </a:solidFill>
                <a:latin typeface="Calibri (MS)"/>
                <a:ea typeface="Calibri (MS)"/>
                <a:cs typeface="Calibri (MS)"/>
                <a:sym typeface="Calibri (MS)"/>
              </a:rPr>
              <a:t>1 Revenue</a:t>
            </a:r>
          </a:p>
          <a:p>
            <a:pPr algn="ctr">
              <a:lnSpc>
                <a:spcPts val="4411"/>
              </a:lnSpc>
            </a:pPr>
            <a:r>
              <a:rPr lang="en-US" sz="3151">
                <a:solidFill>
                  <a:srgbClr val="FFFFFF"/>
                </a:solidFill>
                <a:latin typeface="Calibri (MS)"/>
                <a:ea typeface="Calibri (MS)"/>
                <a:cs typeface="Calibri (MS)"/>
                <a:sym typeface="Calibri (MS)"/>
              </a:rPr>
              <a:t>Top State</a:t>
            </a:r>
          </a:p>
        </p:txBody>
      </p:sp>
      <p:sp>
        <p:nvSpPr>
          <p:cNvPr name="TextBox 53" id="53"/>
          <p:cNvSpPr txBox="true"/>
          <p:nvPr/>
        </p:nvSpPr>
        <p:spPr>
          <a:xfrm rot="0">
            <a:off x="8260080" y="8004067"/>
            <a:ext cx="2265997" cy="1006024"/>
          </a:xfrm>
          <a:prstGeom prst="rect">
            <a:avLst/>
          </a:prstGeom>
        </p:spPr>
        <p:txBody>
          <a:bodyPr anchor="t" rtlCol="false" tIns="0" lIns="0" bIns="0" rIns="0">
            <a:spAutoFit/>
          </a:bodyPr>
          <a:lstStyle/>
          <a:p>
            <a:pPr algn="ctr">
              <a:lnSpc>
                <a:spcPts val="3999"/>
              </a:lnSpc>
            </a:pPr>
            <a:r>
              <a:rPr lang="en-US" sz="2856">
                <a:solidFill>
                  <a:srgbClr val="FFFFFF"/>
                </a:solidFill>
                <a:latin typeface="Calibri (MS)"/>
                <a:ea typeface="Calibri (MS)"/>
                <a:cs typeface="Calibri (MS)"/>
                <a:sym typeface="Calibri (MS)"/>
              </a:rPr>
              <a:t>Highest Loyalty</a:t>
            </a:r>
          </a:p>
          <a:p>
            <a:pPr algn="ctr">
              <a:lnSpc>
                <a:spcPts val="3750"/>
              </a:lnSpc>
            </a:pPr>
            <a:r>
              <a:rPr lang="en-US" sz="2678">
                <a:solidFill>
                  <a:srgbClr val="FFFFFF"/>
                </a:solidFill>
                <a:latin typeface="Calibri (MS)"/>
                <a:ea typeface="Calibri (MS)"/>
                <a:cs typeface="Calibri (MS)"/>
                <a:sym typeface="Calibri (MS)"/>
              </a:rPr>
              <a:t>Best Retention</a:t>
            </a:r>
          </a:p>
        </p:txBody>
      </p:sp>
      <p:sp>
        <p:nvSpPr>
          <p:cNvPr name="TextBox 54" id="54"/>
          <p:cNvSpPr txBox="true"/>
          <p:nvPr/>
        </p:nvSpPr>
        <p:spPr>
          <a:xfrm rot="0">
            <a:off x="13576306" y="8023117"/>
            <a:ext cx="2820714" cy="453828"/>
          </a:xfrm>
          <a:prstGeom prst="rect">
            <a:avLst/>
          </a:prstGeom>
        </p:spPr>
        <p:txBody>
          <a:bodyPr anchor="t" rtlCol="false" tIns="0" lIns="0" bIns="0" rIns="0">
            <a:spAutoFit/>
          </a:bodyPr>
          <a:lstStyle/>
          <a:p>
            <a:pPr algn="l">
              <a:lnSpc>
                <a:spcPts val="3366"/>
              </a:lnSpc>
            </a:pPr>
            <a:r>
              <a:rPr lang="en-US" sz="2404">
                <a:solidFill>
                  <a:srgbClr val="FFFFFF"/>
                </a:solidFill>
                <a:latin typeface="Calibri (MS)"/>
                <a:ea typeface="Calibri (MS)"/>
                <a:cs typeface="Calibri (MS)"/>
                <a:sym typeface="Calibri (MS)"/>
              </a:rPr>
              <a:t>Highest Repeat Orders</a:t>
            </a:r>
          </a:p>
        </p:txBody>
      </p:sp>
      <p:sp>
        <p:nvSpPr>
          <p:cNvPr name="TextBox 55" id="55"/>
          <p:cNvSpPr txBox="true"/>
          <p:nvPr/>
        </p:nvSpPr>
        <p:spPr>
          <a:xfrm rot="0">
            <a:off x="13937494" y="8541201"/>
            <a:ext cx="2127409" cy="438023"/>
          </a:xfrm>
          <a:prstGeom prst="rect">
            <a:avLst/>
          </a:prstGeom>
        </p:spPr>
        <p:txBody>
          <a:bodyPr anchor="t" rtlCol="false" tIns="0" lIns="0" bIns="0" rIns="0">
            <a:spAutoFit/>
          </a:bodyPr>
          <a:lstStyle/>
          <a:p>
            <a:pPr algn="l">
              <a:lnSpc>
                <a:spcPts val="3156"/>
              </a:lnSpc>
            </a:pPr>
            <a:r>
              <a:rPr lang="en-US" sz="2254">
                <a:solidFill>
                  <a:srgbClr val="FFFFFF"/>
                </a:solidFill>
                <a:latin typeface="Calibri (MS)"/>
                <a:ea typeface="Calibri (MS)"/>
                <a:cs typeface="Calibri (MS)"/>
                <a:sym typeface="Calibri (MS)"/>
              </a:rPr>
              <a:t>Most Loyal Buyers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27006" y="-127006"/>
            <a:ext cx="18541994" cy="2048008"/>
          </a:xfrm>
          <a:custGeom>
            <a:avLst/>
            <a:gdLst/>
            <a:ahLst/>
            <a:cxnLst/>
            <a:rect r="r" b="b" t="t" l="l"/>
            <a:pathLst>
              <a:path h="2048008" w="18541994">
                <a:moveTo>
                  <a:pt x="0" y="0"/>
                </a:moveTo>
                <a:lnTo>
                  <a:pt x="18541993" y="0"/>
                </a:lnTo>
                <a:lnTo>
                  <a:pt x="18541993" y="2048008"/>
                </a:lnTo>
                <a:lnTo>
                  <a:pt x="0" y="2048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31" y="1889246"/>
            <a:ext cx="8794756" cy="2603506"/>
          </a:xfrm>
          <a:custGeom>
            <a:avLst/>
            <a:gdLst/>
            <a:ahLst/>
            <a:cxnLst/>
            <a:rect r="r" b="b" t="t" l="l"/>
            <a:pathLst>
              <a:path h="2603506" w="8794756">
                <a:moveTo>
                  <a:pt x="0" y="0"/>
                </a:moveTo>
                <a:lnTo>
                  <a:pt x="8794757" y="0"/>
                </a:lnTo>
                <a:lnTo>
                  <a:pt x="8794757" y="2603506"/>
                </a:lnTo>
                <a:lnTo>
                  <a:pt x="0" y="2603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3731" y="4480046"/>
            <a:ext cx="8794756" cy="2622556"/>
          </a:xfrm>
          <a:custGeom>
            <a:avLst/>
            <a:gdLst/>
            <a:ahLst/>
            <a:cxnLst/>
            <a:rect r="r" b="b" t="t" l="l"/>
            <a:pathLst>
              <a:path h="2622556" w="8794756">
                <a:moveTo>
                  <a:pt x="0" y="0"/>
                </a:moveTo>
                <a:lnTo>
                  <a:pt x="8794757" y="0"/>
                </a:lnTo>
                <a:lnTo>
                  <a:pt x="8794757" y="2622556"/>
                </a:lnTo>
                <a:lnTo>
                  <a:pt x="0" y="26225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93731" y="7070731"/>
            <a:ext cx="8794756" cy="2622556"/>
          </a:xfrm>
          <a:custGeom>
            <a:avLst/>
            <a:gdLst/>
            <a:ahLst/>
            <a:cxnLst/>
            <a:rect r="r" b="b" t="t" l="l"/>
            <a:pathLst>
              <a:path h="2622556" w="8794756">
                <a:moveTo>
                  <a:pt x="0" y="0"/>
                </a:moveTo>
                <a:lnTo>
                  <a:pt x="8794757" y="0"/>
                </a:lnTo>
                <a:lnTo>
                  <a:pt x="8794757" y="2622557"/>
                </a:lnTo>
                <a:lnTo>
                  <a:pt x="0" y="26225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737846" y="1889246"/>
            <a:ext cx="8677142" cy="2603506"/>
          </a:xfrm>
          <a:custGeom>
            <a:avLst/>
            <a:gdLst/>
            <a:ahLst/>
            <a:cxnLst/>
            <a:rect r="r" b="b" t="t" l="l"/>
            <a:pathLst>
              <a:path h="2603506" w="8677142">
                <a:moveTo>
                  <a:pt x="0" y="0"/>
                </a:moveTo>
                <a:lnTo>
                  <a:pt x="8677141" y="0"/>
                </a:lnTo>
                <a:lnTo>
                  <a:pt x="8677141" y="2603506"/>
                </a:lnTo>
                <a:lnTo>
                  <a:pt x="0" y="26035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438150" y="1847850"/>
            <a:ext cx="8982208" cy="2790692"/>
            <a:chOff x="0" y="0"/>
            <a:chExt cx="5988139" cy="1860461"/>
          </a:xfrm>
        </p:grpSpPr>
        <p:sp>
          <p:nvSpPr>
            <p:cNvPr name="Freeform 8" id="8"/>
            <p:cNvSpPr/>
            <p:nvPr/>
          </p:nvSpPr>
          <p:spPr>
            <a:xfrm flipH="false" flipV="false" rot="0">
              <a:off x="0" y="0"/>
              <a:ext cx="5988177" cy="1860423"/>
            </a:xfrm>
            <a:custGeom>
              <a:avLst/>
              <a:gdLst/>
              <a:ahLst/>
              <a:cxnLst/>
              <a:rect r="r" b="b" t="t" l="l"/>
              <a:pathLst>
                <a:path h="1860423" w="5988177">
                  <a:moveTo>
                    <a:pt x="5873877" y="120777"/>
                  </a:moveTo>
                  <a:lnTo>
                    <a:pt x="5873877" y="1670177"/>
                  </a:lnTo>
                  <a:lnTo>
                    <a:pt x="196850" y="1670177"/>
                  </a:lnTo>
                  <a:lnTo>
                    <a:pt x="196850" y="120777"/>
                  </a:lnTo>
                  <a:close/>
                  <a:moveTo>
                    <a:pt x="0" y="0"/>
                  </a:moveTo>
                  <a:lnTo>
                    <a:pt x="0" y="1860423"/>
                  </a:lnTo>
                  <a:lnTo>
                    <a:pt x="5988177" y="1860423"/>
                  </a:lnTo>
                  <a:lnTo>
                    <a:pt x="5988177" y="0"/>
                  </a:lnTo>
                  <a:close/>
                </a:path>
              </a:pathLst>
            </a:custGeom>
            <a:blipFill>
              <a:blip r:embed="rId12"/>
              <a:stretch>
                <a:fillRect l="0" t="0" r="0" b="-2"/>
              </a:stretch>
            </a:blipFill>
          </p:spPr>
        </p:sp>
      </p:grpSp>
      <p:grpSp>
        <p:nvGrpSpPr>
          <p:cNvPr name="Group 9" id="9"/>
          <p:cNvGrpSpPr/>
          <p:nvPr/>
        </p:nvGrpSpPr>
        <p:grpSpPr>
          <a:xfrm rot="0">
            <a:off x="438150" y="4438898"/>
            <a:ext cx="8982208" cy="2809742"/>
            <a:chOff x="0" y="0"/>
            <a:chExt cx="5988139" cy="1873161"/>
          </a:xfrm>
        </p:grpSpPr>
        <p:sp>
          <p:nvSpPr>
            <p:cNvPr name="Freeform 10" id="10"/>
            <p:cNvSpPr/>
            <p:nvPr/>
          </p:nvSpPr>
          <p:spPr>
            <a:xfrm flipH="false" flipV="false" rot="0">
              <a:off x="0" y="0"/>
              <a:ext cx="5988177" cy="1873123"/>
            </a:xfrm>
            <a:custGeom>
              <a:avLst/>
              <a:gdLst/>
              <a:ahLst/>
              <a:cxnLst/>
              <a:rect r="r" b="b" t="t" l="l"/>
              <a:pathLst>
                <a:path h="1873123" w="5988177">
                  <a:moveTo>
                    <a:pt x="5873877" y="120523"/>
                  </a:moveTo>
                  <a:lnTo>
                    <a:pt x="5873877" y="1682623"/>
                  </a:lnTo>
                  <a:lnTo>
                    <a:pt x="196850" y="1682623"/>
                  </a:lnTo>
                  <a:lnTo>
                    <a:pt x="196850" y="120523"/>
                  </a:lnTo>
                  <a:close/>
                  <a:moveTo>
                    <a:pt x="0" y="0"/>
                  </a:moveTo>
                  <a:lnTo>
                    <a:pt x="0" y="1873123"/>
                  </a:lnTo>
                  <a:lnTo>
                    <a:pt x="5988177" y="1873123"/>
                  </a:lnTo>
                  <a:lnTo>
                    <a:pt x="5988177" y="0"/>
                  </a:lnTo>
                  <a:close/>
                </a:path>
              </a:pathLst>
            </a:custGeom>
            <a:blipFill>
              <a:blip r:embed="rId13"/>
              <a:stretch>
                <a:fillRect l="0" t="0" r="0" b="-2"/>
              </a:stretch>
            </a:blipFill>
          </p:spPr>
        </p:sp>
      </p:grpSp>
      <p:grpSp>
        <p:nvGrpSpPr>
          <p:cNvPr name="Group 11" id="11"/>
          <p:cNvGrpSpPr/>
          <p:nvPr/>
        </p:nvGrpSpPr>
        <p:grpSpPr>
          <a:xfrm rot="0">
            <a:off x="438150" y="7029583"/>
            <a:ext cx="8982208" cy="2809742"/>
            <a:chOff x="0" y="0"/>
            <a:chExt cx="5988139" cy="1873161"/>
          </a:xfrm>
        </p:grpSpPr>
        <p:sp>
          <p:nvSpPr>
            <p:cNvPr name="Freeform 12" id="12"/>
            <p:cNvSpPr/>
            <p:nvPr/>
          </p:nvSpPr>
          <p:spPr>
            <a:xfrm flipH="false" flipV="false" rot="0">
              <a:off x="0" y="0"/>
              <a:ext cx="5988177" cy="1873123"/>
            </a:xfrm>
            <a:custGeom>
              <a:avLst/>
              <a:gdLst/>
              <a:ahLst/>
              <a:cxnLst/>
              <a:rect r="r" b="b" t="t" l="l"/>
              <a:pathLst>
                <a:path h="1873123" w="5988177">
                  <a:moveTo>
                    <a:pt x="5873877" y="120650"/>
                  </a:moveTo>
                  <a:lnTo>
                    <a:pt x="5873877" y="1682623"/>
                  </a:lnTo>
                  <a:lnTo>
                    <a:pt x="196850" y="1682623"/>
                  </a:lnTo>
                  <a:lnTo>
                    <a:pt x="196850" y="120650"/>
                  </a:lnTo>
                  <a:close/>
                  <a:moveTo>
                    <a:pt x="0" y="0"/>
                  </a:moveTo>
                  <a:lnTo>
                    <a:pt x="0" y="1873123"/>
                  </a:lnTo>
                  <a:lnTo>
                    <a:pt x="5988177" y="1873123"/>
                  </a:lnTo>
                  <a:lnTo>
                    <a:pt x="5988177" y="0"/>
                  </a:lnTo>
                  <a:close/>
                </a:path>
              </a:pathLst>
            </a:custGeom>
            <a:blipFill>
              <a:blip r:embed="rId13"/>
              <a:stretch>
                <a:fillRect l="0" t="0" r="0" b="-2"/>
              </a:stretch>
            </a:blipFill>
          </p:spPr>
        </p:sp>
      </p:grpSp>
      <p:grpSp>
        <p:nvGrpSpPr>
          <p:cNvPr name="Group 13" id="13"/>
          <p:cNvGrpSpPr/>
          <p:nvPr/>
        </p:nvGrpSpPr>
        <p:grpSpPr>
          <a:xfrm rot="0">
            <a:off x="9582150" y="1847850"/>
            <a:ext cx="8705850" cy="2790692"/>
            <a:chOff x="0" y="0"/>
            <a:chExt cx="5803900" cy="1860461"/>
          </a:xfrm>
        </p:grpSpPr>
        <p:sp>
          <p:nvSpPr>
            <p:cNvPr name="Freeform 14" id="14"/>
            <p:cNvSpPr/>
            <p:nvPr/>
          </p:nvSpPr>
          <p:spPr>
            <a:xfrm flipH="false" flipV="false" rot="0">
              <a:off x="0" y="0"/>
              <a:ext cx="5803900" cy="1860423"/>
            </a:xfrm>
            <a:custGeom>
              <a:avLst/>
              <a:gdLst/>
              <a:ahLst/>
              <a:cxnLst/>
              <a:rect r="r" b="b" t="t" l="l"/>
              <a:pathLst>
                <a:path h="1860423" w="5803900">
                  <a:moveTo>
                    <a:pt x="0" y="0"/>
                  </a:moveTo>
                  <a:lnTo>
                    <a:pt x="0" y="1860423"/>
                  </a:lnTo>
                  <a:lnTo>
                    <a:pt x="5803900" y="1860423"/>
                  </a:lnTo>
                  <a:lnTo>
                    <a:pt x="5803900" y="1670177"/>
                  </a:lnTo>
                  <a:lnTo>
                    <a:pt x="196977" y="1670177"/>
                  </a:lnTo>
                  <a:lnTo>
                    <a:pt x="196977" y="120777"/>
                  </a:lnTo>
                  <a:lnTo>
                    <a:pt x="5803900" y="120777"/>
                  </a:lnTo>
                  <a:lnTo>
                    <a:pt x="5803900" y="0"/>
                  </a:lnTo>
                  <a:close/>
                </a:path>
              </a:pathLst>
            </a:custGeom>
            <a:blipFill>
              <a:blip r:embed="rId14"/>
              <a:stretch>
                <a:fillRect l="0" t="0" r="-2299" b="-2"/>
              </a:stretch>
            </a:blipFill>
          </p:spPr>
        </p:sp>
      </p:grpSp>
      <p:grpSp>
        <p:nvGrpSpPr>
          <p:cNvPr name="Group 15" id="15"/>
          <p:cNvGrpSpPr/>
          <p:nvPr/>
        </p:nvGrpSpPr>
        <p:grpSpPr>
          <a:xfrm rot="0">
            <a:off x="9582150" y="4438898"/>
            <a:ext cx="8705850" cy="2809742"/>
            <a:chOff x="0" y="0"/>
            <a:chExt cx="5803900" cy="1873161"/>
          </a:xfrm>
        </p:grpSpPr>
        <p:sp>
          <p:nvSpPr>
            <p:cNvPr name="Freeform 16" id="16"/>
            <p:cNvSpPr/>
            <p:nvPr/>
          </p:nvSpPr>
          <p:spPr>
            <a:xfrm flipH="false" flipV="false" rot="0">
              <a:off x="0" y="0"/>
              <a:ext cx="5803900" cy="1873123"/>
            </a:xfrm>
            <a:custGeom>
              <a:avLst/>
              <a:gdLst/>
              <a:ahLst/>
              <a:cxnLst/>
              <a:rect r="r" b="b" t="t" l="l"/>
              <a:pathLst>
                <a:path h="1873123" w="5803900">
                  <a:moveTo>
                    <a:pt x="0" y="0"/>
                  </a:moveTo>
                  <a:lnTo>
                    <a:pt x="0" y="1873123"/>
                  </a:lnTo>
                  <a:lnTo>
                    <a:pt x="5803900" y="1873123"/>
                  </a:lnTo>
                  <a:lnTo>
                    <a:pt x="5803900" y="1682623"/>
                  </a:lnTo>
                  <a:lnTo>
                    <a:pt x="196977" y="1682623"/>
                  </a:lnTo>
                  <a:lnTo>
                    <a:pt x="196977" y="120523"/>
                  </a:lnTo>
                  <a:lnTo>
                    <a:pt x="5803900" y="120523"/>
                  </a:lnTo>
                  <a:lnTo>
                    <a:pt x="5803900" y="0"/>
                  </a:lnTo>
                  <a:close/>
                </a:path>
              </a:pathLst>
            </a:custGeom>
            <a:blipFill>
              <a:blip r:embed="rId15"/>
              <a:stretch>
                <a:fillRect l="0" t="0" r="-2299" b="-2"/>
              </a:stretch>
            </a:blipFill>
          </p:spPr>
        </p:sp>
      </p:grpSp>
      <p:sp>
        <p:nvSpPr>
          <p:cNvPr name="Freeform 17" id="17"/>
          <p:cNvSpPr/>
          <p:nvPr/>
        </p:nvSpPr>
        <p:spPr>
          <a:xfrm flipH="false" flipV="false" rot="0">
            <a:off x="9737846" y="4480046"/>
            <a:ext cx="8677142" cy="2622556"/>
          </a:xfrm>
          <a:custGeom>
            <a:avLst/>
            <a:gdLst/>
            <a:ahLst/>
            <a:cxnLst/>
            <a:rect r="r" b="b" t="t" l="l"/>
            <a:pathLst>
              <a:path h="2622556" w="8677142">
                <a:moveTo>
                  <a:pt x="0" y="0"/>
                </a:moveTo>
                <a:lnTo>
                  <a:pt x="8677141" y="0"/>
                </a:lnTo>
                <a:lnTo>
                  <a:pt x="8677141" y="2622556"/>
                </a:lnTo>
                <a:lnTo>
                  <a:pt x="0" y="26225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8" id="18"/>
          <p:cNvSpPr txBox="true"/>
          <p:nvPr/>
        </p:nvSpPr>
        <p:spPr>
          <a:xfrm rot="0">
            <a:off x="732149" y="261518"/>
            <a:ext cx="7214730" cy="917181"/>
          </a:xfrm>
          <a:prstGeom prst="rect">
            <a:avLst/>
          </a:prstGeom>
        </p:spPr>
        <p:txBody>
          <a:bodyPr anchor="t" rtlCol="false" tIns="0" lIns="0" bIns="0" rIns="0">
            <a:spAutoFit/>
          </a:bodyPr>
          <a:lstStyle/>
          <a:p>
            <a:pPr algn="l">
              <a:lnSpc>
                <a:spcPts val="6733"/>
              </a:lnSpc>
            </a:pPr>
            <a:r>
              <a:rPr lang="en-US" b="true" sz="4809">
                <a:solidFill>
                  <a:srgbClr val="FFFFFF"/>
                </a:solidFill>
                <a:latin typeface="Calibri (MS) Bold"/>
                <a:ea typeface="Calibri (MS) Bold"/>
                <a:cs typeface="Calibri (MS) Bold"/>
                <a:sym typeface="Calibri (MS) Bold"/>
              </a:rPr>
              <a:t>Strategic Recommendations</a:t>
            </a:r>
          </a:p>
        </p:txBody>
      </p:sp>
      <p:sp>
        <p:nvSpPr>
          <p:cNvPr name="TextBox 19" id="19"/>
          <p:cNvSpPr txBox="true"/>
          <p:nvPr/>
        </p:nvSpPr>
        <p:spPr>
          <a:xfrm rot="0">
            <a:off x="1042035" y="2830239"/>
            <a:ext cx="391668" cy="583768"/>
          </a:xfrm>
          <a:prstGeom prst="rect">
            <a:avLst/>
          </a:prstGeom>
        </p:spPr>
        <p:txBody>
          <a:bodyPr anchor="t" rtlCol="false" tIns="0" lIns="0" bIns="0" rIns="0">
            <a:spAutoFit/>
          </a:bodyPr>
          <a:lstStyle/>
          <a:p>
            <a:pPr algn="l">
              <a:lnSpc>
                <a:spcPts val="4206"/>
              </a:lnSpc>
            </a:pPr>
            <a:r>
              <a:rPr lang="en-US" b="true" sz="3004">
                <a:solidFill>
                  <a:srgbClr val="FFFFFF"/>
                </a:solidFill>
                <a:latin typeface="Calibri (MS) Bold"/>
                <a:ea typeface="Calibri (MS) Bold"/>
                <a:cs typeface="Calibri (MS) Bold"/>
                <a:sym typeface="Calibri (MS) Bold"/>
              </a:rPr>
              <a:t>01</a:t>
            </a:r>
          </a:p>
        </p:txBody>
      </p:sp>
      <p:sp>
        <p:nvSpPr>
          <p:cNvPr name="TextBox 20" id="20"/>
          <p:cNvSpPr txBox="true"/>
          <p:nvPr/>
        </p:nvSpPr>
        <p:spPr>
          <a:xfrm rot="0">
            <a:off x="1042035" y="5431955"/>
            <a:ext cx="391668" cy="583768"/>
          </a:xfrm>
          <a:prstGeom prst="rect">
            <a:avLst/>
          </a:prstGeom>
        </p:spPr>
        <p:txBody>
          <a:bodyPr anchor="t" rtlCol="false" tIns="0" lIns="0" bIns="0" rIns="0">
            <a:spAutoFit/>
          </a:bodyPr>
          <a:lstStyle/>
          <a:p>
            <a:pPr algn="l">
              <a:lnSpc>
                <a:spcPts val="4206"/>
              </a:lnSpc>
            </a:pPr>
            <a:r>
              <a:rPr lang="en-US" b="true" sz="3004">
                <a:solidFill>
                  <a:srgbClr val="FFFFFF"/>
                </a:solidFill>
                <a:latin typeface="Calibri (MS) Bold"/>
                <a:ea typeface="Calibri (MS) Bold"/>
                <a:cs typeface="Calibri (MS) Bold"/>
                <a:sym typeface="Calibri (MS) Bold"/>
              </a:rPr>
              <a:t>02</a:t>
            </a:r>
          </a:p>
        </p:txBody>
      </p:sp>
      <p:sp>
        <p:nvSpPr>
          <p:cNvPr name="TextBox 21" id="21"/>
          <p:cNvSpPr txBox="true"/>
          <p:nvPr/>
        </p:nvSpPr>
        <p:spPr>
          <a:xfrm rot="0">
            <a:off x="1042035" y="8033556"/>
            <a:ext cx="391668" cy="583768"/>
          </a:xfrm>
          <a:prstGeom prst="rect">
            <a:avLst/>
          </a:prstGeom>
        </p:spPr>
        <p:txBody>
          <a:bodyPr anchor="t" rtlCol="false" tIns="0" lIns="0" bIns="0" rIns="0">
            <a:spAutoFit/>
          </a:bodyPr>
          <a:lstStyle/>
          <a:p>
            <a:pPr algn="l">
              <a:lnSpc>
                <a:spcPts val="4206"/>
              </a:lnSpc>
            </a:pPr>
            <a:r>
              <a:rPr lang="en-US" b="true" sz="3004">
                <a:solidFill>
                  <a:srgbClr val="FFFFFF"/>
                </a:solidFill>
                <a:latin typeface="Calibri (MS) Bold"/>
                <a:ea typeface="Calibri (MS) Bold"/>
                <a:cs typeface="Calibri (MS) Bold"/>
                <a:sym typeface="Calibri (MS) Bold"/>
              </a:rPr>
              <a:t>03</a:t>
            </a:r>
          </a:p>
        </p:txBody>
      </p:sp>
      <p:sp>
        <p:nvSpPr>
          <p:cNvPr name="TextBox 22" id="22"/>
          <p:cNvSpPr txBox="true"/>
          <p:nvPr/>
        </p:nvSpPr>
        <p:spPr>
          <a:xfrm rot="0">
            <a:off x="10195560" y="2830239"/>
            <a:ext cx="391668" cy="583768"/>
          </a:xfrm>
          <a:prstGeom prst="rect">
            <a:avLst/>
          </a:prstGeom>
        </p:spPr>
        <p:txBody>
          <a:bodyPr anchor="t" rtlCol="false" tIns="0" lIns="0" bIns="0" rIns="0">
            <a:spAutoFit/>
          </a:bodyPr>
          <a:lstStyle/>
          <a:p>
            <a:pPr algn="l">
              <a:lnSpc>
                <a:spcPts val="4206"/>
              </a:lnSpc>
            </a:pPr>
            <a:r>
              <a:rPr lang="en-US" b="true" sz="3004">
                <a:solidFill>
                  <a:srgbClr val="FFFFFF"/>
                </a:solidFill>
                <a:latin typeface="Calibri (MS) Bold"/>
                <a:ea typeface="Calibri (MS) Bold"/>
                <a:cs typeface="Calibri (MS) Bold"/>
                <a:sym typeface="Calibri (MS) Bold"/>
              </a:rPr>
              <a:t>04</a:t>
            </a:r>
          </a:p>
        </p:txBody>
      </p:sp>
      <p:sp>
        <p:nvSpPr>
          <p:cNvPr name="TextBox 23" id="23"/>
          <p:cNvSpPr txBox="true"/>
          <p:nvPr/>
        </p:nvSpPr>
        <p:spPr>
          <a:xfrm rot="0">
            <a:off x="10195560" y="5431955"/>
            <a:ext cx="391668" cy="583768"/>
          </a:xfrm>
          <a:prstGeom prst="rect">
            <a:avLst/>
          </a:prstGeom>
        </p:spPr>
        <p:txBody>
          <a:bodyPr anchor="t" rtlCol="false" tIns="0" lIns="0" bIns="0" rIns="0">
            <a:spAutoFit/>
          </a:bodyPr>
          <a:lstStyle/>
          <a:p>
            <a:pPr algn="l">
              <a:lnSpc>
                <a:spcPts val="4206"/>
              </a:lnSpc>
            </a:pPr>
            <a:r>
              <a:rPr lang="en-US" b="true" sz="3004">
                <a:solidFill>
                  <a:srgbClr val="FFFFFF"/>
                </a:solidFill>
                <a:latin typeface="Calibri (MS) Bold"/>
                <a:ea typeface="Calibri (MS) Bold"/>
                <a:cs typeface="Calibri (MS) Bold"/>
                <a:sym typeface="Calibri (MS) Bold"/>
              </a:rPr>
              <a:t>05</a:t>
            </a:r>
          </a:p>
        </p:txBody>
      </p:sp>
      <p:sp>
        <p:nvSpPr>
          <p:cNvPr name="TextBox 24" id="24"/>
          <p:cNvSpPr txBox="true"/>
          <p:nvPr/>
        </p:nvSpPr>
        <p:spPr>
          <a:xfrm rot="0">
            <a:off x="1859356" y="2578970"/>
            <a:ext cx="7150265" cy="1404670"/>
          </a:xfrm>
          <a:prstGeom prst="rect">
            <a:avLst/>
          </a:prstGeom>
        </p:spPr>
        <p:txBody>
          <a:bodyPr anchor="t" rtlCol="false" tIns="0" lIns="0" bIns="0" rIns="0">
            <a:spAutoFit/>
          </a:bodyPr>
          <a:lstStyle/>
          <a:p>
            <a:pPr algn="l">
              <a:lnSpc>
                <a:spcPts val="3109"/>
              </a:lnSpc>
            </a:pPr>
            <a:r>
              <a:rPr lang="en-US" b="true" sz="2554">
                <a:solidFill>
                  <a:srgbClr val="0D9488"/>
                </a:solidFill>
                <a:latin typeface="Calibri (MS) Bold"/>
                <a:ea typeface="Calibri (MS) Bold"/>
                <a:cs typeface="Calibri (MS) Bold"/>
                <a:sym typeface="Calibri (MS) Bold"/>
              </a:rPr>
              <a:t>Target the 50+ Male Segment</a:t>
            </a:r>
          </a:p>
          <a:p>
            <a:pPr algn="l">
              <a:lnSpc>
                <a:spcPts val="2561"/>
              </a:lnSpc>
            </a:pPr>
            <a:r>
              <a:rPr lang="en-US" sz="2104">
                <a:solidFill>
                  <a:srgbClr val="1E293B"/>
                </a:solidFill>
                <a:latin typeface="Calibri (MS)"/>
                <a:ea typeface="Calibri (MS)"/>
                <a:cs typeface="Calibri (MS)"/>
                <a:sym typeface="Calibri (MS)"/>
              </a:rPr>
              <a:t>This demographic has the highest loyalty, frequency, and spend. Concentrat eat least 30%of paid acquisition budge there.Build look-alike audiences based on this profile.</a:t>
            </a:r>
          </a:p>
        </p:txBody>
      </p:sp>
      <p:sp>
        <p:nvSpPr>
          <p:cNvPr name="TextBox 25" id="25"/>
          <p:cNvSpPr txBox="true"/>
          <p:nvPr/>
        </p:nvSpPr>
        <p:spPr>
          <a:xfrm rot="0">
            <a:off x="1859356" y="5174971"/>
            <a:ext cx="7087476" cy="1770717"/>
          </a:xfrm>
          <a:prstGeom prst="rect">
            <a:avLst/>
          </a:prstGeom>
        </p:spPr>
        <p:txBody>
          <a:bodyPr anchor="t" rtlCol="false" tIns="0" lIns="0" bIns="0" rIns="0">
            <a:spAutoFit/>
          </a:bodyPr>
          <a:lstStyle/>
          <a:p>
            <a:pPr algn="l">
              <a:lnSpc>
                <a:spcPts val="3101"/>
              </a:lnSpc>
            </a:pPr>
            <a:r>
              <a:rPr lang="en-US" b="true" sz="2554">
                <a:solidFill>
                  <a:srgbClr val="0D1B3E"/>
                </a:solidFill>
                <a:latin typeface="Calibri (MS) Bold"/>
                <a:ea typeface="Calibri (MS) Bold"/>
                <a:cs typeface="Calibri (MS) Bold"/>
                <a:sym typeface="Calibri (MS) Bold"/>
              </a:rPr>
              <a:t>Launch a Footwear Loyalty Program</a:t>
            </a:r>
          </a:p>
          <a:p>
            <a:pPr algn="l">
              <a:lnSpc>
                <a:spcPts val="2555"/>
              </a:lnSpc>
            </a:pPr>
            <a:r>
              <a:rPr lang="en-US" sz="2104">
                <a:solidFill>
                  <a:srgbClr val="1E293B"/>
                </a:solidFill>
                <a:latin typeface="Calibri (MS)"/>
                <a:ea typeface="Calibri (MS)"/>
                <a:cs typeface="Calibri (MS)"/>
                <a:sym typeface="Calibri (MS)"/>
              </a:rPr>
              <a:t>Footwear customers are individually more valuable than Clothing customers. A category-specific program (double points on footwear) will retain high-LTV customers at lower cost.</a:t>
            </a:r>
          </a:p>
        </p:txBody>
      </p:sp>
      <p:sp>
        <p:nvSpPr>
          <p:cNvPr name="TextBox 26" id="26"/>
          <p:cNvSpPr txBox="true"/>
          <p:nvPr/>
        </p:nvSpPr>
        <p:spPr>
          <a:xfrm rot="0">
            <a:off x="1839239" y="7702067"/>
            <a:ext cx="7107593" cy="1724321"/>
          </a:xfrm>
          <a:prstGeom prst="rect">
            <a:avLst/>
          </a:prstGeom>
        </p:spPr>
        <p:txBody>
          <a:bodyPr anchor="t" rtlCol="false" tIns="0" lIns="0" bIns="0" rIns="0">
            <a:spAutoFit/>
          </a:bodyPr>
          <a:lstStyle/>
          <a:p>
            <a:pPr algn="l">
              <a:lnSpc>
                <a:spcPts val="3063"/>
              </a:lnSpc>
            </a:pPr>
            <a:r>
              <a:rPr lang="en-US" b="true" sz="2554">
                <a:solidFill>
                  <a:srgbClr val="EF4444"/>
                </a:solidFill>
                <a:latin typeface="Calibri (MS) Bold"/>
                <a:ea typeface="Calibri (MS) Bold"/>
                <a:cs typeface="Calibri (MS) Bold"/>
                <a:sym typeface="Calibri (MS) Bold"/>
              </a:rPr>
              <a:t>Replace Flat Discounts with Points </a:t>
            </a:r>
          </a:p>
          <a:p>
            <a:pPr algn="l">
              <a:lnSpc>
                <a:spcPts val="3063"/>
              </a:lnSpc>
            </a:pPr>
            <a:r>
              <a:rPr lang="en-US" b="true" sz="2554">
                <a:solidFill>
                  <a:srgbClr val="EF4444"/>
                </a:solidFill>
                <a:latin typeface="Calibri (MS) Bold"/>
                <a:ea typeface="Calibri (MS) Bold"/>
                <a:cs typeface="Calibri (MS) Bold"/>
                <a:sym typeface="Calibri (MS) Bold"/>
              </a:rPr>
              <a:t>System</a:t>
            </a:r>
          </a:p>
          <a:p>
            <a:pPr algn="l">
              <a:lnSpc>
                <a:spcPts val="2523"/>
              </a:lnSpc>
            </a:pPr>
            <a:r>
              <a:rPr lang="en-US" sz="2104">
                <a:solidFill>
                  <a:srgbClr val="1E293B"/>
                </a:solidFill>
                <a:latin typeface="Calibri (MS)"/>
                <a:ea typeface="Calibri (MS)"/>
                <a:cs typeface="Calibri (MS)"/>
                <a:sym typeface="Calibri (MS)"/>
              </a:rPr>
              <a:t>Discount users show 14.7% lower loyalty scores. A points-based system rewards repeat behavior rather than one-time bargain seeking ,better ROI on promotional spend.</a:t>
            </a:r>
          </a:p>
        </p:txBody>
      </p:sp>
      <p:sp>
        <p:nvSpPr>
          <p:cNvPr name="TextBox 27" id="27"/>
          <p:cNvSpPr txBox="true"/>
          <p:nvPr/>
        </p:nvSpPr>
        <p:spPr>
          <a:xfrm rot="0">
            <a:off x="11006328" y="4824336"/>
            <a:ext cx="7051300" cy="1724321"/>
          </a:xfrm>
          <a:prstGeom prst="rect">
            <a:avLst/>
          </a:prstGeom>
        </p:spPr>
        <p:txBody>
          <a:bodyPr anchor="t" rtlCol="false" tIns="0" lIns="0" bIns="0" rIns="0">
            <a:spAutoFit/>
          </a:bodyPr>
          <a:lstStyle/>
          <a:p>
            <a:pPr algn="l">
              <a:lnSpc>
                <a:spcPts val="3063"/>
              </a:lnSpc>
            </a:pPr>
            <a:r>
              <a:rPr lang="en-US" b="true" sz="2554">
                <a:solidFill>
                  <a:srgbClr val="14B8A6"/>
                </a:solidFill>
                <a:latin typeface="Calibri (MS) Bold"/>
                <a:ea typeface="Calibri (MS) Bold"/>
                <a:cs typeface="Calibri (MS) Bold"/>
                <a:sym typeface="Calibri (MS) Bold"/>
              </a:rPr>
              <a:t>Investigate Shirt Product Quality </a:t>
            </a:r>
          </a:p>
          <a:p>
            <a:pPr algn="l">
              <a:lnSpc>
                <a:spcPts val="3063"/>
              </a:lnSpc>
            </a:pPr>
            <a:r>
              <a:rPr lang="en-US" b="true" sz="2554">
                <a:solidFill>
                  <a:srgbClr val="14B8A6"/>
                </a:solidFill>
                <a:latin typeface="Calibri (MS) Bold"/>
                <a:ea typeface="Calibri (MS) Bold"/>
                <a:cs typeface="Calibri (MS) Bold"/>
                <a:sym typeface="Calibri (MS) Bold"/>
              </a:rPr>
              <a:t>Immediately</a:t>
            </a:r>
          </a:p>
          <a:p>
            <a:pPr algn="l">
              <a:lnSpc>
                <a:spcPts val="2523"/>
              </a:lnSpc>
            </a:pPr>
            <a:r>
              <a:rPr lang="en-US" sz="2104">
                <a:solidFill>
                  <a:srgbClr val="1E293B"/>
                </a:solidFill>
                <a:latin typeface="Calibri (MS)"/>
                <a:ea typeface="Calibri (MS)"/>
                <a:cs typeface="Calibri (MS)"/>
                <a:sym typeface="Calibri (MS)"/>
              </a:rPr>
              <a:t>Second highest revenue item for women with the lowest satisfaction score (3.48) is a retention risk. Audit sizing, returns, and fabric quality before the next season launch.</a:t>
            </a:r>
          </a:p>
        </p:txBody>
      </p:sp>
      <p:sp>
        <p:nvSpPr>
          <p:cNvPr name="TextBox 28" id="28"/>
          <p:cNvSpPr txBox="true"/>
          <p:nvPr/>
        </p:nvSpPr>
        <p:spPr>
          <a:xfrm rot="0">
            <a:off x="11006328" y="2435790"/>
            <a:ext cx="6992988" cy="1723433"/>
          </a:xfrm>
          <a:prstGeom prst="rect">
            <a:avLst/>
          </a:prstGeom>
        </p:spPr>
        <p:txBody>
          <a:bodyPr anchor="t" rtlCol="false" tIns="0" lIns="0" bIns="0" rIns="0">
            <a:spAutoFit/>
          </a:bodyPr>
          <a:lstStyle/>
          <a:p>
            <a:pPr algn="l">
              <a:lnSpc>
                <a:spcPts val="3071"/>
              </a:lnSpc>
            </a:pPr>
            <a:r>
              <a:rPr lang="en-US" b="true" sz="2554">
                <a:solidFill>
                  <a:srgbClr val="F59E0B"/>
                </a:solidFill>
                <a:latin typeface="Calibri (MS) Bold"/>
                <a:ea typeface="Calibri (MS) Bold"/>
                <a:cs typeface="Calibri (MS) Bold"/>
                <a:sym typeface="Calibri (MS) Bold"/>
              </a:rPr>
              <a:t>Redesign Subscription with Spend </a:t>
            </a:r>
          </a:p>
          <a:p>
            <a:pPr algn="l">
              <a:lnSpc>
                <a:spcPts val="3071"/>
              </a:lnSpc>
            </a:pPr>
            <a:r>
              <a:rPr lang="en-US" b="true" sz="2554">
                <a:solidFill>
                  <a:srgbClr val="F59E0B"/>
                </a:solidFill>
                <a:latin typeface="Calibri (MS) Bold"/>
                <a:ea typeface="Calibri (MS) Bold"/>
                <a:cs typeface="Calibri (MS) Bold"/>
                <a:sym typeface="Calibri (MS) Bold"/>
              </a:rPr>
              <a:t>Milestones</a:t>
            </a:r>
          </a:p>
          <a:p>
            <a:pPr algn="l">
              <a:lnSpc>
                <a:spcPts val="2530"/>
              </a:lnSpc>
            </a:pPr>
            <a:r>
              <a:rPr lang="en-US" sz="2104">
                <a:solidFill>
                  <a:srgbClr val="1E293B"/>
                </a:solidFill>
                <a:latin typeface="Calibri (MS)"/>
                <a:ea typeface="Calibri (MS)"/>
                <a:cs typeface="Calibri (MS)"/>
                <a:sym typeface="Calibri (MS)"/>
              </a:rPr>
              <a:t>Add spend-triggered rewards (e.g. spend $300 - free shipping nextquarter). Convertthe25%loyaltyadvantagesubscribers already have into actual incremental revenue.</a:t>
            </a:r>
          </a:p>
        </p:txBody>
      </p:sp>
      <p:sp>
        <p:nvSpPr>
          <p:cNvPr name="TextBox 29" id="29"/>
          <p:cNvSpPr txBox="true"/>
          <p:nvPr/>
        </p:nvSpPr>
        <p:spPr>
          <a:xfrm rot="0">
            <a:off x="7281424" y="2194293"/>
            <a:ext cx="1168622" cy="352463"/>
          </a:xfrm>
          <a:prstGeom prst="rect">
            <a:avLst/>
          </a:prstGeom>
        </p:spPr>
        <p:txBody>
          <a:bodyPr anchor="t" rtlCol="false" tIns="0" lIns="0" bIns="0" rIns="0">
            <a:spAutoFit/>
          </a:bodyPr>
          <a:lstStyle/>
          <a:p>
            <a:pPr algn="l">
              <a:lnSpc>
                <a:spcPts val="2526"/>
              </a:lnSpc>
            </a:pPr>
            <a:r>
              <a:rPr lang="en-US" b="true" sz="1804" spc="1">
                <a:solidFill>
                  <a:srgbClr val="0D9488"/>
                </a:solidFill>
                <a:latin typeface="Calibri (MS) Bold"/>
                <a:ea typeface="Calibri (MS) Bold"/>
                <a:cs typeface="Calibri (MS) Bold"/>
                <a:sym typeface="Calibri (MS) Bold"/>
              </a:rPr>
              <a:t>High Impact</a:t>
            </a:r>
          </a:p>
        </p:txBody>
      </p:sp>
      <p:sp>
        <p:nvSpPr>
          <p:cNvPr name="TextBox 30" id="30"/>
          <p:cNvSpPr txBox="true"/>
          <p:nvPr/>
        </p:nvSpPr>
        <p:spPr>
          <a:xfrm rot="0">
            <a:off x="7281424" y="4795761"/>
            <a:ext cx="1168622" cy="352463"/>
          </a:xfrm>
          <a:prstGeom prst="rect">
            <a:avLst/>
          </a:prstGeom>
        </p:spPr>
        <p:txBody>
          <a:bodyPr anchor="t" rtlCol="false" tIns="0" lIns="0" bIns="0" rIns="0">
            <a:spAutoFit/>
          </a:bodyPr>
          <a:lstStyle/>
          <a:p>
            <a:pPr algn="l">
              <a:lnSpc>
                <a:spcPts val="2526"/>
              </a:lnSpc>
            </a:pPr>
            <a:r>
              <a:rPr lang="en-US" b="true" sz="1804" spc="1">
                <a:solidFill>
                  <a:srgbClr val="0D1B3E"/>
                </a:solidFill>
                <a:latin typeface="Calibri (MS) Bold"/>
                <a:ea typeface="Calibri (MS) Bold"/>
                <a:cs typeface="Calibri (MS) Bold"/>
                <a:sym typeface="Calibri (MS) Bold"/>
              </a:rPr>
              <a:t>High Impact</a:t>
            </a:r>
          </a:p>
        </p:txBody>
      </p:sp>
      <p:sp>
        <p:nvSpPr>
          <p:cNvPr name="TextBox 31" id="31"/>
          <p:cNvSpPr txBox="true"/>
          <p:nvPr/>
        </p:nvSpPr>
        <p:spPr>
          <a:xfrm rot="0">
            <a:off x="7281424" y="7397229"/>
            <a:ext cx="1168622" cy="352463"/>
          </a:xfrm>
          <a:prstGeom prst="rect">
            <a:avLst/>
          </a:prstGeom>
        </p:spPr>
        <p:txBody>
          <a:bodyPr anchor="t" rtlCol="false" tIns="0" lIns="0" bIns="0" rIns="0">
            <a:spAutoFit/>
          </a:bodyPr>
          <a:lstStyle/>
          <a:p>
            <a:pPr algn="l">
              <a:lnSpc>
                <a:spcPts val="2526"/>
              </a:lnSpc>
            </a:pPr>
            <a:r>
              <a:rPr lang="en-US" b="true" sz="1804" spc="1">
                <a:solidFill>
                  <a:srgbClr val="EF4444"/>
                </a:solidFill>
                <a:latin typeface="Calibri (MS) Bold"/>
                <a:ea typeface="Calibri (MS) Bold"/>
                <a:cs typeface="Calibri (MS) Bold"/>
                <a:sym typeface="Calibri (MS) Bold"/>
              </a:rPr>
              <a:t>High Impact</a:t>
            </a:r>
          </a:p>
        </p:txBody>
      </p:sp>
      <p:sp>
        <p:nvSpPr>
          <p:cNvPr name="TextBox 32" id="32"/>
          <p:cNvSpPr txBox="true"/>
          <p:nvPr/>
        </p:nvSpPr>
        <p:spPr>
          <a:xfrm rot="0">
            <a:off x="16678408" y="4795761"/>
            <a:ext cx="663816" cy="352463"/>
          </a:xfrm>
          <a:prstGeom prst="rect">
            <a:avLst/>
          </a:prstGeom>
        </p:spPr>
        <p:txBody>
          <a:bodyPr anchor="t" rtlCol="false" tIns="0" lIns="0" bIns="0" rIns="0">
            <a:spAutoFit/>
          </a:bodyPr>
          <a:lstStyle/>
          <a:p>
            <a:pPr algn="l">
              <a:lnSpc>
                <a:spcPts val="2526"/>
              </a:lnSpc>
            </a:pPr>
            <a:r>
              <a:rPr lang="en-US" b="true" sz="1804">
                <a:solidFill>
                  <a:srgbClr val="14B8A6"/>
                </a:solidFill>
                <a:latin typeface="Calibri (MS) Bold"/>
                <a:ea typeface="Calibri (MS) Bold"/>
                <a:cs typeface="Calibri (MS) Bold"/>
                <a:sym typeface="Calibri (MS) Bold"/>
              </a:rPr>
              <a:t>Urgent</a:t>
            </a:r>
          </a:p>
        </p:txBody>
      </p:sp>
      <p:sp>
        <p:nvSpPr>
          <p:cNvPr name="TextBox 33" id="33"/>
          <p:cNvSpPr txBox="true"/>
          <p:nvPr/>
        </p:nvSpPr>
        <p:spPr>
          <a:xfrm rot="0">
            <a:off x="16247612" y="2194293"/>
            <a:ext cx="1557014" cy="352463"/>
          </a:xfrm>
          <a:prstGeom prst="rect">
            <a:avLst/>
          </a:prstGeom>
        </p:spPr>
        <p:txBody>
          <a:bodyPr anchor="t" rtlCol="false" tIns="0" lIns="0" bIns="0" rIns="0">
            <a:spAutoFit/>
          </a:bodyPr>
          <a:lstStyle/>
          <a:p>
            <a:pPr algn="l">
              <a:lnSpc>
                <a:spcPts val="2526"/>
              </a:lnSpc>
            </a:pPr>
            <a:r>
              <a:rPr lang="en-US" b="true" sz="1804" spc="7">
                <a:solidFill>
                  <a:srgbClr val="F59E0B"/>
                </a:solidFill>
                <a:latin typeface="Calibri (MS) Bold"/>
                <a:ea typeface="Calibri (MS) Bold"/>
                <a:cs typeface="Calibri (MS) Bold"/>
                <a:sym typeface="Calibri (MS) Bold"/>
              </a:rPr>
              <a:t>Medium Impact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sp>
        <p:nvSpPr>
          <p:cNvPr name="Freeform 2" id="2"/>
          <p:cNvSpPr/>
          <p:nvPr/>
        </p:nvSpPr>
        <p:spPr>
          <a:xfrm flipH="false" flipV="false" rot="0">
            <a:off x="10233858" y="-602532"/>
            <a:ext cx="9432176" cy="14165655"/>
          </a:xfrm>
          <a:custGeom>
            <a:avLst/>
            <a:gdLst/>
            <a:ahLst/>
            <a:cxnLst/>
            <a:rect r="r" b="b" t="t" l="l"/>
            <a:pathLst>
              <a:path h="14165655" w="9432176">
                <a:moveTo>
                  <a:pt x="0" y="0"/>
                </a:moveTo>
                <a:lnTo>
                  <a:pt x="9432177" y="0"/>
                </a:lnTo>
                <a:lnTo>
                  <a:pt x="9432177" y="14165655"/>
                </a:lnTo>
                <a:lnTo>
                  <a:pt x="0" y="14165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88743" y="2429745"/>
            <a:ext cx="12406379" cy="4050551"/>
          </a:xfrm>
          <a:prstGeom prst="rect">
            <a:avLst/>
          </a:prstGeom>
        </p:spPr>
        <p:txBody>
          <a:bodyPr anchor="t" rtlCol="false" tIns="0" lIns="0" bIns="0" rIns="0">
            <a:spAutoFit/>
          </a:bodyPr>
          <a:lstStyle/>
          <a:p>
            <a:pPr algn="ctr">
              <a:lnSpc>
                <a:spcPts val="29650"/>
              </a:lnSpc>
              <a:spcBef>
                <a:spcPct val="0"/>
              </a:spcBef>
            </a:pPr>
            <a:r>
              <a:rPr lang="en-US" sz="21178">
                <a:solidFill>
                  <a:srgbClr val="FFFFFF"/>
                </a:solidFill>
                <a:latin typeface="Calibri (MS)"/>
                <a:ea typeface="Calibri (MS)"/>
                <a:cs typeface="Calibri (MS)"/>
                <a:sym typeface="Calibri (MS)"/>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DAHJdYs7wOk</dc:identifier>
  <dcterms:modified xsi:type="dcterms:W3CDTF">2011-08-01T06:04:30Z</dcterms:modified>
  <cp:revision>1</cp:revision>
  <dc:title>Purchase Freq. Segment</dc:title>
</cp:coreProperties>
</file>